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60" r:id="rId4"/>
    <p:sldId id="261" r:id="rId5"/>
    <p:sldId id="266" r:id="rId6"/>
    <p:sldId id="262" r:id="rId7"/>
    <p:sldId id="259" r:id="rId8"/>
    <p:sldId id="267" r:id="rId9"/>
    <p:sldId id="268" r:id="rId10"/>
    <p:sldId id="269" r:id="rId11"/>
    <p:sldId id="271" r:id="rId12"/>
    <p:sldId id="272" r:id="rId13"/>
    <p:sldId id="284" r:id="rId14"/>
    <p:sldId id="273" r:id="rId15"/>
    <p:sldId id="278" r:id="rId16"/>
    <p:sldId id="280" r:id="rId17"/>
    <p:sldId id="281" r:id="rId18"/>
    <p:sldId id="286" r:id="rId19"/>
    <p:sldId id="287" r:id="rId20"/>
    <p:sldId id="290" r:id="rId21"/>
    <p:sldId id="282" r:id="rId22"/>
    <p:sldId id="265" r:id="rId23"/>
    <p:sldId id="285" r:id="rId24"/>
    <p:sldId id="289"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2495" autoAdjust="0"/>
  </p:normalViewPr>
  <p:slideViewPr>
    <p:cSldViewPr snapToGrid="0">
      <p:cViewPr varScale="1">
        <p:scale>
          <a:sx n="93" d="100"/>
          <a:sy n="93" d="100"/>
        </p:scale>
        <p:origin x="15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on Lanfrank" userId="356c707c-e1fc-46da-b4d0-ae196178e303" providerId="ADAL" clId="{790A6897-3B02-4AAA-9E7E-AD218C180E9F}"/>
    <pc:docChg chg="delSld modSld">
      <pc:chgData name="Harrison Lanfrank" userId="356c707c-e1fc-46da-b4d0-ae196178e303" providerId="ADAL" clId="{790A6897-3B02-4AAA-9E7E-AD218C180E9F}" dt="2026-04-10T01:02:21.329" v="5" actId="47"/>
      <pc:docMkLst>
        <pc:docMk/>
      </pc:docMkLst>
      <pc:sldChg chg="modSp mod">
        <pc:chgData name="Harrison Lanfrank" userId="356c707c-e1fc-46da-b4d0-ae196178e303" providerId="ADAL" clId="{790A6897-3B02-4AAA-9E7E-AD218C180E9F}" dt="2026-04-10T01:02:09.192" v="3" actId="20577"/>
        <pc:sldMkLst>
          <pc:docMk/>
          <pc:sldMk cId="2702185746" sldId="256"/>
        </pc:sldMkLst>
        <pc:spChg chg="mod">
          <ac:chgData name="Harrison Lanfrank" userId="356c707c-e1fc-46da-b4d0-ae196178e303" providerId="ADAL" clId="{790A6897-3B02-4AAA-9E7E-AD218C180E9F}" dt="2026-04-10T01:02:09.192" v="3" actId="20577"/>
          <ac:spMkLst>
            <pc:docMk/>
            <pc:sldMk cId="2702185746" sldId="256"/>
            <ac:spMk id="4" creationId="{0D04862F-2C51-003C-DAAA-497F2CEC56E2}"/>
          </ac:spMkLst>
        </pc:spChg>
      </pc:sldChg>
      <pc:sldChg chg="del">
        <pc:chgData name="Harrison Lanfrank" userId="356c707c-e1fc-46da-b4d0-ae196178e303" providerId="ADAL" clId="{790A6897-3B02-4AAA-9E7E-AD218C180E9F}" dt="2026-04-10T01:02:15.189" v="4" actId="47"/>
        <pc:sldMkLst>
          <pc:docMk/>
          <pc:sldMk cId="2049588947" sldId="288"/>
        </pc:sldMkLst>
      </pc:sldChg>
      <pc:sldChg chg="del">
        <pc:chgData name="Harrison Lanfrank" userId="356c707c-e1fc-46da-b4d0-ae196178e303" providerId="ADAL" clId="{790A6897-3B02-4AAA-9E7E-AD218C180E9F}" dt="2026-04-10T01:02:21.329" v="5" actId="47"/>
        <pc:sldMkLst>
          <pc:docMk/>
          <pc:sldMk cId="1416673299" sldId="29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800" b="1" i="0" u="none" strike="noStrike" kern="1200" baseline="0">
                <a:solidFill>
                  <a:schemeClr val="dk1"/>
                </a:solidFill>
                <a:latin typeface="+mn-lt"/>
                <a:ea typeface="+mn-ea"/>
                <a:cs typeface="+mn-cs"/>
              </a:defRPr>
            </a:pPr>
            <a:r>
              <a:rPr lang="en-US" sz="1800"/>
              <a:t>Positional Accuracy Gearbox V1</a:t>
            </a:r>
          </a:p>
        </c:rich>
      </c:tx>
      <c:layout>
        <c:manualLayout>
          <c:xMode val="edge"/>
          <c:yMode val="edge"/>
          <c:x val="0.1929694541812719"/>
          <c:y val="1.3373470124159157E-2"/>
        </c:manualLayout>
      </c:layout>
      <c:overlay val="0"/>
      <c:spPr>
        <a:noFill/>
        <a:ln>
          <a:noFill/>
        </a:ln>
        <a:effectLst/>
      </c:spPr>
      <c:txPr>
        <a:bodyPr rot="0" spcFirstLastPara="1" vertOverflow="ellipsis" vert="horz" wrap="square" anchor="ctr" anchorCtr="1"/>
        <a:lstStyle/>
        <a:p>
          <a:pPr algn="ctr">
            <a:defRPr sz="1800" b="1" i="0" u="none" strike="noStrike" kern="1200" baseline="0">
              <a:solidFill>
                <a:schemeClr val="dk1"/>
              </a:solidFill>
              <a:latin typeface="+mn-lt"/>
              <a:ea typeface="+mn-ea"/>
              <a:cs typeface="+mn-cs"/>
            </a:defRPr>
          </a:pPr>
          <a:endParaRPr lang="en-US"/>
        </a:p>
      </c:txPr>
    </c:title>
    <c:autoTitleDeleted val="0"/>
    <c:plotArea>
      <c:layout/>
      <c:scatterChart>
        <c:scatterStyle val="lineMarker"/>
        <c:varyColors val="0"/>
        <c:ser>
          <c:idx val="0"/>
          <c:order val="0"/>
          <c:tx>
            <c:v>Incremental</c:v>
          </c:tx>
          <c:spPr>
            <a:ln w="25400" cap="rnd">
              <a:noFill/>
              <a:round/>
            </a:ln>
            <a:effectLst/>
          </c:spPr>
          <c:marker>
            <c:symbol val="circle"/>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c:spPr>
          </c:marker>
          <c:xVal>
            <c:numRef>
              <c:f>Sheet1!$AD$5:$AD$18</c:f>
              <c:numCache>
                <c:formatCode>General</c:formatCode>
                <c:ptCount val="14"/>
                <c:pt idx="0">
                  <c:v>-1</c:v>
                </c:pt>
                <c:pt idx="1">
                  <c:v>-2</c:v>
                </c:pt>
                <c:pt idx="2">
                  <c:v>-3</c:v>
                </c:pt>
                <c:pt idx="3">
                  <c:v>-4</c:v>
                </c:pt>
                <c:pt idx="4">
                  <c:v>-5</c:v>
                </c:pt>
                <c:pt idx="5">
                  <c:v>-6</c:v>
                </c:pt>
                <c:pt idx="6">
                  <c:v>-7</c:v>
                </c:pt>
                <c:pt idx="7">
                  <c:v>1</c:v>
                </c:pt>
                <c:pt idx="8">
                  <c:v>2</c:v>
                </c:pt>
                <c:pt idx="9">
                  <c:v>3</c:v>
                </c:pt>
                <c:pt idx="10">
                  <c:v>4</c:v>
                </c:pt>
                <c:pt idx="11">
                  <c:v>5</c:v>
                </c:pt>
                <c:pt idx="12">
                  <c:v>6</c:v>
                </c:pt>
                <c:pt idx="13">
                  <c:v>7</c:v>
                </c:pt>
              </c:numCache>
            </c:numRef>
          </c:xVal>
          <c:yVal>
            <c:numRef>
              <c:f>Sheet1!$AG$5:$AG$18</c:f>
              <c:numCache>
                <c:formatCode>General</c:formatCode>
                <c:ptCount val="14"/>
                <c:pt idx="0">
                  <c:v>-60</c:v>
                </c:pt>
                <c:pt idx="1">
                  <c:v>-80</c:v>
                </c:pt>
                <c:pt idx="2">
                  <c:v>-140</c:v>
                </c:pt>
                <c:pt idx="3">
                  <c:v>-170</c:v>
                </c:pt>
                <c:pt idx="4">
                  <c:v>-180</c:v>
                </c:pt>
                <c:pt idx="5">
                  <c:v>-210</c:v>
                </c:pt>
                <c:pt idx="6">
                  <c:v>-250</c:v>
                </c:pt>
                <c:pt idx="7">
                  <c:v>-10</c:v>
                </c:pt>
                <c:pt idx="8">
                  <c:v>-20</c:v>
                </c:pt>
                <c:pt idx="9">
                  <c:v>-40</c:v>
                </c:pt>
                <c:pt idx="10">
                  <c:v>-80</c:v>
                </c:pt>
                <c:pt idx="11">
                  <c:v>-100</c:v>
                </c:pt>
                <c:pt idx="12">
                  <c:v>-100</c:v>
                </c:pt>
                <c:pt idx="13">
                  <c:v>-140</c:v>
                </c:pt>
              </c:numCache>
            </c:numRef>
          </c:yVal>
          <c:smooth val="0"/>
          <c:extLst>
            <c:ext xmlns:c16="http://schemas.microsoft.com/office/drawing/2014/chart" uri="{C3380CC4-5D6E-409C-BE32-E72D297353CC}">
              <c16:uniqueId val="{00000000-17D7-4668-BB54-3935496840E1}"/>
            </c:ext>
          </c:extLst>
        </c:ser>
        <c:ser>
          <c:idx val="1"/>
          <c:order val="1"/>
          <c:tx>
            <c:v>Absolute</c:v>
          </c:tx>
          <c:spPr>
            <a:ln w="25400" cap="rnd">
              <a:noFill/>
              <a:round/>
            </a:ln>
            <a:effectLst/>
          </c:spPr>
          <c:marker>
            <c:symbol val="circl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c:spPr>
          </c:marker>
          <c:xVal>
            <c:numRef>
              <c:f>Sheet1!$AI$5:$AI$18</c:f>
              <c:numCache>
                <c:formatCode>General</c:formatCode>
                <c:ptCount val="14"/>
                <c:pt idx="0">
                  <c:v>-7</c:v>
                </c:pt>
                <c:pt idx="1">
                  <c:v>-6</c:v>
                </c:pt>
                <c:pt idx="2">
                  <c:v>-5</c:v>
                </c:pt>
                <c:pt idx="3">
                  <c:v>-4</c:v>
                </c:pt>
                <c:pt idx="4">
                  <c:v>-3</c:v>
                </c:pt>
                <c:pt idx="5">
                  <c:v>-2</c:v>
                </c:pt>
                <c:pt idx="6">
                  <c:v>-1</c:v>
                </c:pt>
                <c:pt idx="7">
                  <c:v>1</c:v>
                </c:pt>
                <c:pt idx="8">
                  <c:v>2</c:v>
                </c:pt>
                <c:pt idx="9">
                  <c:v>3</c:v>
                </c:pt>
                <c:pt idx="10">
                  <c:v>4</c:v>
                </c:pt>
                <c:pt idx="11">
                  <c:v>5</c:v>
                </c:pt>
                <c:pt idx="12">
                  <c:v>6</c:v>
                </c:pt>
                <c:pt idx="13">
                  <c:v>7</c:v>
                </c:pt>
              </c:numCache>
            </c:numRef>
          </c:xVal>
          <c:yVal>
            <c:numRef>
              <c:f>Sheet1!$AL$5:$AL$18</c:f>
              <c:numCache>
                <c:formatCode>General</c:formatCode>
                <c:ptCount val="14"/>
                <c:pt idx="0">
                  <c:v>-240</c:v>
                </c:pt>
                <c:pt idx="1">
                  <c:v>-220</c:v>
                </c:pt>
                <c:pt idx="2">
                  <c:v>-170</c:v>
                </c:pt>
                <c:pt idx="3">
                  <c:v>-160</c:v>
                </c:pt>
                <c:pt idx="4">
                  <c:v>-100</c:v>
                </c:pt>
                <c:pt idx="5">
                  <c:v>-70</c:v>
                </c:pt>
                <c:pt idx="6">
                  <c:v>-20</c:v>
                </c:pt>
                <c:pt idx="7">
                  <c:v>-50</c:v>
                </c:pt>
                <c:pt idx="8">
                  <c:v>-70</c:v>
                </c:pt>
                <c:pt idx="9">
                  <c:v>-80</c:v>
                </c:pt>
                <c:pt idx="10">
                  <c:v>-100</c:v>
                </c:pt>
                <c:pt idx="11">
                  <c:v>-120</c:v>
                </c:pt>
                <c:pt idx="12">
                  <c:v>-150</c:v>
                </c:pt>
                <c:pt idx="13">
                  <c:v>-150</c:v>
                </c:pt>
              </c:numCache>
            </c:numRef>
          </c:yVal>
          <c:smooth val="0"/>
          <c:extLst>
            <c:ext xmlns:c16="http://schemas.microsoft.com/office/drawing/2014/chart" uri="{C3380CC4-5D6E-409C-BE32-E72D297353CC}">
              <c16:uniqueId val="{00000001-17D7-4668-BB54-3935496840E1}"/>
            </c:ext>
          </c:extLst>
        </c:ser>
        <c:dLbls>
          <c:showLegendKey val="0"/>
          <c:showVal val="0"/>
          <c:showCatName val="0"/>
          <c:showSerName val="0"/>
          <c:showPercent val="0"/>
          <c:showBubbleSize val="0"/>
        </c:dLbls>
        <c:axId val="1887632"/>
        <c:axId val="1884272"/>
      </c:scatterChart>
      <c:valAx>
        <c:axId val="1887632"/>
        <c:scaling>
          <c:orientation val="minMax"/>
        </c:scaling>
        <c:delete val="0"/>
        <c:axPos val="t"/>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dk1"/>
                    </a:solidFill>
                    <a:latin typeface="+mn-lt"/>
                    <a:ea typeface="+mn-ea"/>
                    <a:cs typeface="+mn-cs"/>
                  </a:defRPr>
                </a:pPr>
                <a:r>
                  <a:rPr lang="en-US" dirty="0"/>
                  <a:t>Target Angle (deg)</a:t>
                </a:r>
              </a:p>
            </c:rich>
          </c:tx>
          <c:layout>
            <c:manualLayout>
              <c:xMode val="edge"/>
              <c:yMode val="edge"/>
              <c:x val="0.47071197272098625"/>
              <c:y val="0.19157513503343718"/>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high"/>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884272"/>
        <c:crosses val="autoZero"/>
        <c:crossBetween val="midCat"/>
      </c:valAx>
      <c:valAx>
        <c:axId val="1884272"/>
        <c:scaling>
          <c:orientation val="maxMin"/>
        </c:scaling>
        <c:delete val="0"/>
        <c:axPos val="l"/>
        <c:majorGridlines>
          <c:spPr>
            <a:ln w="9525" cap="flat" cmpd="sng" algn="ctr">
              <a:solidFill>
                <a:schemeClr val="tx1"/>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solidFill>
                    <a:latin typeface="+mn-lt"/>
                    <a:ea typeface="+mn-ea"/>
                    <a:cs typeface="+mn-cs"/>
                  </a:defRPr>
                </a:pPr>
                <a:r>
                  <a:rPr lang="en-US" dirty="0"/>
                  <a:t>Offset (mm)</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low"/>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88763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legend>
    <c:plotVisOnly val="1"/>
    <c:dispBlanksAs val="gap"/>
    <c:showDLblsOverMax val="0"/>
  </c:chart>
  <c:spPr>
    <a:solidFill>
      <a:schemeClr val="lt1"/>
    </a:solidFill>
    <a:ln w="1905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r>
              <a:rPr lang="en-US" sz="1800"/>
              <a:t>Positional Accuracy - Direct to Stepper</a:t>
            </a:r>
          </a:p>
        </c:rich>
      </c:tx>
      <c:layout>
        <c:manualLayout>
          <c:xMode val="edge"/>
          <c:yMode val="edge"/>
          <c:x val="0.14086768247609507"/>
          <c:y val="3.1330755330237263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endParaRPr lang="en-US"/>
        </a:p>
      </c:txPr>
    </c:title>
    <c:autoTitleDeleted val="0"/>
    <c:plotArea>
      <c:layout/>
      <c:scatterChart>
        <c:scatterStyle val="lineMarker"/>
        <c:varyColors val="0"/>
        <c:ser>
          <c:idx val="0"/>
          <c:order val="0"/>
          <c:tx>
            <c:v>Incremental</c:v>
          </c:tx>
          <c:spPr>
            <a:ln w="25400" cap="rnd">
              <a:noFill/>
              <a:round/>
            </a:ln>
            <a:effectLst/>
          </c:spPr>
          <c:marker>
            <c:symbol val="circle"/>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c:spPr>
          </c:marker>
          <c:xVal>
            <c:numRef>
              <c:f>Sheet1!$AE$40:$AE$53</c:f>
              <c:numCache>
                <c:formatCode>General</c:formatCode>
                <c:ptCount val="14"/>
                <c:pt idx="0">
                  <c:v>-1</c:v>
                </c:pt>
                <c:pt idx="1">
                  <c:v>-2</c:v>
                </c:pt>
                <c:pt idx="2">
                  <c:v>-3</c:v>
                </c:pt>
                <c:pt idx="3">
                  <c:v>-4</c:v>
                </c:pt>
                <c:pt idx="4">
                  <c:v>-5</c:v>
                </c:pt>
                <c:pt idx="5">
                  <c:v>-6</c:v>
                </c:pt>
                <c:pt idx="6">
                  <c:v>-7</c:v>
                </c:pt>
                <c:pt idx="7">
                  <c:v>1</c:v>
                </c:pt>
                <c:pt idx="8">
                  <c:v>2</c:v>
                </c:pt>
                <c:pt idx="9">
                  <c:v>3</c:v>
                </c:pt>
                <c:pt idx="10">
                  <c:v>4</c:v>
                </c:pt>
                <c:pt idx="11">
                  <c:v>5</c:v>
                </c:pt>
                <c:pt idx="12">
                  <c:v>6</c:v>
                </c:pt>
                <c:pt idx="13">
                  <c:v>7</c:v>
                </c:pt>
              </c:numCache>
            </c:numRef>
          </c:xVal>
          <c:yVal>
            <c:numRef>
              <c:f>Sheet1!$AH$40:$AH$53</c:f>
              <c:numCache>
                <c:formatCode>General</c:formatCode>
                <c:ptCount val="14"/>
                <c:pt idx="0">
                  <c:v>-70</c:v>
                </c:pt>
                <c:pt idx="1">
                  <c:v>-120</c:v>
                </c:pt>
                <c:pt idx="2">
                  <c:v>-160</c:v>
                </c:pt>
                <c:pt idx="3">
                  <c:v>-230</c:v>
                </c:pt>
                <c:pt idx="4">
                  <c:v>-260</c:v>
                </c:pt>
                <c:pt idx="5">
                  <c:v>-320</c:v>
                </c:pt>
                <c:pt idx="6">
                  <c:v>-370</c:v>
                </c:pt>
                <c:pt idx="7">
                  <c:v>-70</c:v>
                </c:pt>
                <c:pt idx="8">
                  <c:v>-140</c:v>
                </c:pt>
                <c:pt idx="9">
                  <c:v>-190</c:v>
                </c:pt>
                <c:pt idx="10">
                  <c:v>-255</c:v>
                </c:pt>
                <c:pt idx="11">
                  <c:v>-310</c:v>
                </c:pt>
                <c:pt idx="12">
                  <c:v>-360</c:v>
                </c:pt>
                <c:pt idx="13">
                  <c:v>-370</c:v>
                </c:pt>
              </c:numCache>
            </c:numRef>
          </c:yVal>
          <c:smooth val="0"/>
          <c:extLst>
            <c:ext xmlns:c16="http://schemas.microsoft.com/office/drawing/2014/chart" uri="{C3380CC4-5D6E-409C-BE32-E72D297353CC}">
              <c16:uniqueId val="{00000000-4EF4-4300-8F98-6A4F7EFA89FF}"/>
            </c:ext>
          </c:extLst>
        </c:ser>
        <c:ser>
          <c:idx val="1"/>
          <c:order val="1"/>
          <c:tx>
            <c:v>Absolute</c:v>
          </c:tx>
          <c:spPr>
            <a:ln w="25400" cap="rnd">
              <a:noFill/>
              <a:round/>
            </a:ln>
            <a:effectLst/>
          </c:spPr>
          <c:marker>
            <c:symbol val="circl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c:spPr>
          </c:marker>
          <c:xVal>
            <c:numRef>
              <c:f>Sheet1!$AJ$40:$AJ$53</c:f>
              <c:numCache>
                <c:formatCode>General</c:formatCode>
                <c:ptCount val="14"/>
                <c:pt idx="0">
                  <c:v>-7</c:v>
                </c:pt>
                <c:pt idx="1">
                  <c:v>-6</c:v>
                </c:pt>
                <c:pt idx="2">
                  <c:v>-5</c:v>
                </c:pt>
                <c:pt idx="3">
                  <c:v>-4</c:v>
                </c:pt>
                <c:pt idx="4">
                  <c:v>-3</c:v>
                </c:pt>
                <c:pt idx="5">
                  <c:v>-2</c:v>
                </c:pt>
                <c:pt idx="6">
                  <c:v>-1</c:v>
                </c:pt>
                <c:pt idx="7">
                  <c:v>1</c:v>
                </c:pt>
                <c:pt idx="8">
                  <c:v>2</c:v>
                </c:pt>
                <c:pt idx="9">
                  <c:v>3</c:v>
                </c:pt>
                <c:pt idx="10">
                  <c:v>4</c:v>
                </c:pt>
                <c:pt idx="11">
                  <c:v>5</c:v>
                </c:pt>
                <c:pt idx="12">
                  <c:v>6</c:v>
                </c:pt>
                <c:pt idx="13">
                  <c:v>7</c:v>
                </c:pt>
              </c:numCache>
            </c:numRef>
          </c:xVal>
          <c:yVal>
            <c:numRef>
              <c:f>Sheet1!$AM$40:$AM$53</c:f>
              <c:numCache>
                <c:formatCode>General</c:formatCode>
                <c:ptCount val="14"/>
                <c:pt idx="0">
                  <c:v>-400</c:v>
                </c:pt>
                <c:pt idx="1">
                  <c:v>-360</c:v>
                </c:pt>
                <c:pt idx="2">
                  <c:v>-280</c:v>
                </c:pt>
                <c:pt idx="3">
                  <c:v>-240</c:v>
                </c:pt>
                <c:pt idx="4">
                  <c:v>-180</c:v>
                </c:pt>
                <c:pt idx="5">
                  <c:v>-140</c:v>
                </c:pt>
                <c:pt idx="6">
                  <c:v>-80</c:v>
                </c:pt>
                <c:pt idx="7">
                  <c:v>-70</c:v>
                </c:pt>
                <c:pt idx="8">
                  <c:v>-120</c:v>
                </c:pt>
                <c:pt idx="9">
                  <c:v>-180</c:v>
                </c:pt>
                <c:pt idx="10">
                  <c:v>-250</c:v>
                </c:pt>
                <c:pt idx="11">
                  <c:v>-310</c:v>
                </c:pt>
                <c:pt idx="12">
                  <c:v>-350</c:v>
                </c:pt>
                <c:pt idx="13">
                  <c:v>-410</c:v>
                </c:pt>
              </c:numCache>
            </c:numRef>
          </c:yVal>
          <c:smooth val="0"/>
          <c:extLst>
            <c:ext xmlns:c16="http://schemas.microsoft.com/office/drawing/2014/chart" uri="{C3380CC4-5D6E-409C-BE32-E72D297353CC}">
              <c16:uniqueId val="{00000001-4EF4-4300-8F98-6A4F7EFA89FF}"/>
            </c:ext>
          </c:extLst>
        </c:ser>
        <c:dLbls>
          <c:showLegendKey val="0"/>
          <c:showVal val="0"/>
          <c:showCatName val="0"/>
          <c:showSerName val="0"/>
          <c:showPercent val="0"/>
          <c:showBubbleSize val="0"/>
        </c:dLbls>
        <c:axId val="1810426815"/>
        <c:axId val="1810427775"/>
      </c:scatterChart>
      <c:valAx>
        <c:axId val="1810426815"/>
        <c:scaling>
          <c:orientation val="minMax"/>
        </c:scaling>
        <c:delete val="0"/>
        <c:axPos val="t"/>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dk1"/>
                    </a:solidFill>
                    <a:latin typeface="+mn-lt"/>
                    <a:ea typeface="+mn-ea"/>
                    <a:cs typeface="+mn-cs"/>
                  </a:defRPr>
                </a:pPr>
                <a:r>
                  <a:rPr lang="en-US" dirty="0"/>
                  <a:t>Target Angle (deg)</a:t>
                </a:r>
              </a:p>
            </c:rich>
          </c:tx>
          <c:layout>
            <c:manualLayout>
              <c:xMode val="edge"/>
              <c:yMode val="edge"/>
              <c:x val="0.46828929107947637"/>
              <c:y val="0.14961784921418944"/>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high"/>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810427775"/>
        <c:crosses val="autoZero"/>
        <c:crossBetween val="midCat"/>
      </c:valAx>
      <c:valAx>
        <c:axId val="1810427775"/>
        <c:scaling>
          <c:orientation val="maxMin"/>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solidFill>
                    <a:latin typeface="+mn-lt"/>
                    <a:ea typeface="+mn-ea"/>
                    <a:cs typeface="+mn-cs"/>
                  </a:defRPr>
                </a:pPr>
                <a:r>
                  <a:rPr lang="en-US" dirty="0"/>
                  <a:t> Offset (mm)</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low"/>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810426815"/>
        <c:crosses val="autoZero"/>
        <c:crossBetween val="midCat"/>
      </c:valAx>
      <c:spPr>
        <a:noFill/>
        <a:ln>
          <a:noFill/>
        </a:ln>
        <a:effectLst/>
      </c:spPr>
    </c:plotArea>
    <c:plotVisOnly val="1"/>
    <c:dispBlanksAs val="gap"/>
    <c:showDLblsOverMax val="0"/>
  </c:chart>
  <c:spPr>
    <a:solidFill>
      <a:schemeClr val="lt1"/>
    </a:solidFill>
    <a:ln w="1905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49110-C3CD-4FC0-ACDD-AD81C02F2A71}"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F2862-8AAA-473B-A998-3FA31B03CCBA}" type="slidenum">
              <a:rPr lang="en-US" smtClean="0"/>
              <a:t>‹#›</a:t>
            </a:fld>
            <a:endParaRPr lang="en-US"/>
          </a:p>
        </p:txBody>
      </p:sp>
    </p:spTree>
    <p:extLst>
      <p:ext uri="{BB962C8B-B14F-4D97-AF65-F5344CB8AC3E}">
        <p14:creationId xmlns:p14="http://schemas.microsoft.com/office/powerpoint/2010/main" val="1458604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I’ll be presenting a personal project that I’ve been on working on for the last few weeks. </a:t>
            </a:r>
          </a:p>
        </p:txBody>
      </p:sp>
      <p:sp>
        <p:nvSpPr>
          <p:cNvPr id="4" name="Slide Number Placeholder 3"/>
          <p:cNvSpPr>
            <a:spLocks noGrp="1"/>
          </p:cNvSpPr>
          <p:nvPr>
            <p:ph type="sldNum" sz="quarter" idx="5"/>
          </p:nvPr>
        </p:nvSpPr>
        <p:spPr/>
        <p:txBody>
          <a:bodyPr/>
          <a:lstStyle/>
          <a:p>
            <a:fld id="{456F2862-8AAA-473B-A998-3FA31B03CCBA}" type="slidenum">
              <a:rPr lang="en-US" smtClean="0"/>
              <a:t>1</a:t>
            </a:fld>
            <a:endParaRPr lang="en-US"/>
          </a:p>
        </p:txBody>
      </p:sp>
    </p:spTree>
    <p:extLst>
      <p:ext uri="{BB962C8B-B14F-4D97-AF65-F5344CB8AC3E}">
        <p14:creationId xmlns:p14="http://schemas.microsoft.com/office/powerpoint/2010/main" val="3154726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 want to discuss today is a personal project I’ve been working on for the past few weeks. The goal is to design a paintball turret system, that uses object tracking to fix on a target. To break it down I’ll have a camera to feed into a raspberry pi to run the object tracking model. From there the controller will output position commands to the yaw and pitch mechanism to aim at the target. The use case I am designing for is more of a Back yard defense system. This project is currently in progress and for the purpose of this presentation, I will be focusing on the Yaw mechanism.</a:t>
            </a:r>
          </a:p>
        </p:txBody>
      </p:sp>
      <p:sp>
        <p:nvSpPr>
          <p:cNvPr id="4" name="Slide Number Placeholder 3"/>
          <p:cNvSpPr>
            <a:spLocks noGrp="1"/>
          </p:cNvSpPr>
          <p:nvPr>
            <p:ph type="sldNum" sz="quarter" idx="5"/>
          </p:nvPr>
        </p:nvSpPr>
        <p:spPr/>
        <p:txBody>
          <a:bodyPr/>
          <a:lstStyle/>
          <a:p>
            <a:fld id="{456F2862-8AAA-473B-A998-3FA31B03CCBA}" type="slidenum">
              <a:rPr lang="en-US" smtClean="0"/>
              <a:t>2</a:t>
            </a:fld>
            <a:endParaRPr lang="en-US"/>
          </a:p>
        </p:txBody>
      </p:sp>
    </p:spTree>
    <p:extLst>
      <p:ext uri="{BB962C8B-B14F-4D97-AF65-F5344CB8AC3E}">
        <p14:creationId xmlns:p14="http://schemas.microsoft.com/office/powerpoint/2010/main" val="3676780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step was to specify some design targets. To determine accuracy, I looked at the average human torso size which is about 32cm wide, based on this I selected an angular accuracy of plus minus 1 degree. This equates to about 8.7cm accuracy @ 5m, which will be sufficient to hit a human torso at 5m.</a:t>
            </a:r>
          </a:p>
          <a:p>
            <a:r>
              <a:rPr lang="en-US" dirty="0"/>
              <a:t>To determine speed, I looked at the average jog speed of a person which is about 3m/s. This is equivalent to about 35 deg per sec at 5m. The pitch speed, I chose as 35 deg/s which will likely be too quick due to unlikeliness of the target moving in Z very quickly.</a:t>
            </a:r>
          </a:p>
          <a:p>
            <a:r>
              <a:rPr lang="en-US" dirty="0"/>
              <a:t> Some general constraints were to keep the yaw mechanism prototype cost to below $100, I wanted to keep the packaging relatively small as well but large enough to hold some mass. And fabrication I am limited to my 3D printer and off-the shelf parts from amazon. I wanted to make sure I could fail fast and improve quickly, so being able to 3D-print immediately and have hardware shipped next day, would help iterate quick</a:t>
            </a:r>
          </a:p>
        </p:txBody>
      </p:sp>
      <p:sp>
        <p:nvSpPr>
          <p:cNvPr id="4" name="Slide Number Placeholder 3"/>
          <p:cNvSpPr>
            <a:spLocks noGrp="1"/>
          </p:cNvSpPr>
          <p:nvPr>
            <p:ph type="sldNum" sz="quarter" idx="5"/>
          </p:nvPr>
        </p:nvSpPr>
        <p:spPr/>
        <p:txBody>
          <a:bodyPr/>
          <a:lstStyle/>
          <a:p>
            <a:fld id="{456F2862-8AAA-473B-A998-3FA31B03CCBA}" type="slidenum">
              <a:rPr lang="en-US" smtClean="0"/>
              <a:t>3</a:t>
            </a:fld>
            <a:endParaRPr lang="en-US"/>
          </a:p>
        </p:txBody>
      </p:sp>
    </p:spTree>
    <p:extLst>
      <p:ext uri="{BB962C8B-B14F-4D97-AF65-F5344CB8AC3E}">
        <p14:creationId xmlns:p14="http://schemas.microsoft.com/office/powerpoint/2010/main" val="166629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concept was to have a rotating platform with mounting features that I could easily swap out different pitch and firing mechanisms. This would help with quick prototyping and testing later down the line. Also this would let me use this design for future projects.</a:t>
            </a:r>
          </a:p>
        </p:txBody>
      </p:sp>
      <p:sp>
        <p:nvSpPr>
          <p:cNvPr id="4" name="Slide Number Placeholder 3"/>
          <p:cNvSpPr>
            <a:spLocks noGrp="1"/>
          </p:cNvSpPr>
          <p:nvPr>
            <p:ph type="sldNum" sz="quarter" idx="5"/>
          </p:nvPr>
        </p:nvSpPr>
        <p:spPr/>
        <p:txBody>
          <a:bodyPr/>
          <a:lstStyle/>
          <a:p>
            <a:fld id="{456F2862-8AAA-473B-A998-3FA31B03CCBA}" type="slidenum">
              <a:rPr lang="en-US" smtClean="0"/>
              <a:t>4</a:t>
            </a:fld>
            <a:endParaRPr lang="en-US"/>
          </a:p>
        </p:txBody>
      </p:sp>
    </p:spTree>
    <p:extLst>
      <p:ext uri="{BB962C8B-B14F-4D97-AF65-F5344CB8AC3E}">
        <p14:creationId xmlns:p14="http://schemas.microsoft.com/office/powerpoint/2010/main" val="186831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was calculating the required torque to rotate the turret. I roughly expect a mass of 4kg which includes some safety margin. However, I only realized when I was prototyping iteration 4 that I had calculated torque incorrectly. I’ll go through the correction in later slides. Secondly, I had a </a:t>
            </a:r>
            <a:r>
              <a:rPr lang="en-US" dirty="0" err="1"/>
              <a:t>nema</a:t>
            </a:r>
            <a:r>
              <a:rPr lang="en-US" dirty="0"/>
              <a:t> 23 stepper motor from a past project which I wanted to utilize. To do so, I knew I would need some sort of reduction to get the motor within it’s functional range. </a:t>
            </a:r>
          </a:p>
          <a:p>
            <a:endParaRPr lang="en-US" dirty="0"/>
          </a:p>
          <a:p>
            <a:r>
              <a:rPr lang="en-US" dirty="0"/>
              <a:t>The torque curve I had for the motor was for 24v @ 1600 </a:t>
            </a:r>
            <a:r>
              <a:rPr lang="en-US" dirty="0" err="1"/>
              <a:t>microsteps</a:t>
            </a:r>
            <a:r>
              <a:rPr lang="en-US" dirty="0"/>
              <a:t>. I only have a 12V power supply rated for 4A. Based on this I dropped the pull-out torque by roughly half  (Pull out torque, max torque a motor can produce at a given speed. Without stalling or losing sync) (holding torque – amount of external torque required to turn the shaft when it’s at rest but full power)</a:t>
            </a:r>
          </a:p>
          <a:p>
            <a:endParaRPr lang="en-US" dirty="0"/>
          </a:p>
          <a:p>
            <a:r>
              <a:rPr lang="en-US" dirty="0"/>
              <a:t>To use this motor I had and achieve 6 rpm, I needed to drop the input speed. I also wanted to keep the motor speed low to maximize available torque. So the motor satisfies the 0.2Nm torque with no issue, but to get 6 rpm, and be within the motor operating speed, I decided to go with a 15:1 reduction which lands me at 90 Rpm input speed. I could go higher to 20 or 30 and still be at a low input speed. But I was on the fence about going higher since that meant smaller teeth and other features, or even more parts in the assembly.</a:t>
            </a:r>
          </a:p>
        </p:txBody>
      </p:sp>
      <p:sp>
        <p:nvSpPr>
          <p:cNvPr id="4" name="Slide Number Placeholder 3"/>
          <p:cNvSpPr>
            <a:spLocks noGrp="1"/>
          </p:cNvSpPr>
          <p:nvPr>
            <p:ph type="sldNum" sz="quarter" idx="5"/>
          </p:nvPr>
        </p:nvSpPr>
        <p:spPr/>
        <p:txBody>
          <a:bodyPr/>
          <a:lstStyle/>
          <a:p>
            <a:fld id="{456F2862-8AAA-473B-A998-3FA31B03CCBA}" type="slidenum">
              <a:rPr lang="en-US" smtClean="0"/>
              <a:t>5</a:t>
            </a:fld>
            <a:endParaRPr lang="en-US"/>
          </a:p>
        </p:txBody>
      </p:sp>
    </p:spTree>
    <p:extLst>
      <p:ext uri="{BB962C8B-B14F-4D97-AF65-F5344CB8AC3E}">
        <p14:creationId xmlns:p14="http://schemas.microsoft.com/office/powerpoint/2010/main" val="388031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stop was to choose how I was going to provide the gear reduction. I had heard about cycloidal gears being used in humanoid robotics. I didn’t know what they were or how they worked but I assumed they had to be quite accurate and compact. As I did more research I found that the main advantage of using a cycloidal gearbox was the compact packaging, good load distribution due to number of lobes in contact at all times, and inherently has low back lash. Another big reason for choosing this type of gear was that I had never used it before and I thought it would be interesting to learn about.</a:t>
            </a:r>
          </a:p>
          <a:p>
            <a:endParaRPr lang="en-US" dirty="0"/>
          </a:p>
          <a:p>
            <a:r>
              <a:rPr lang="en-US" dirty="0"/>
              <a:t>Also from past experience I’ve had 3D-printed spur gears get chewed up or crack at the root (</a:t>
            </a:r>
            <a:r>
              <a:rPr lang="en-US" b="1" dirty="0"/>
              <a:t>due to concentration of load on a small amount of teeth and also due to plastic simply not being stiff enough</a:t>
            </a:r>
            <a:r>
              <a:rPr lang="en-US" dirty="0"/>
              <a:t>.) </a:t>
            </a:r>
          </a:p>
          <a:p>
            <a:endParaRPr lang="en-US" dirty="0"/>
          </a:p>
          <a:p>
            <a:r>
              <a:rPr lang="en-US" dirty="0"/>
              <a:t>To get this prototyped I found an equation online that would let me generate the curve in CAD.  Since my packaging dimension was 100mm </a:t>
            </a:r>
            <a:r>
              <a:rPr lang="en-US" dirty="0" err="1"/>
              <a:t>dia</a:t>
            </a:r>
            <a:r>
              <a:rPr lang="en-US" dirty="0"/>
              <a:t>, I chose the radius to be 45mm. The output lobe radius was 6.5mm and N was based on the desired reduction ratio and eccentricity was based on a rule of thumb that E&lt;R/N. </a:t>
            </a:r>
          </a:p>
        </p:txBody>
      </p:sp>
      <p:sp>
        <p:nvSpPr>
          <p:cNvPr id="4" name="Slide Number Placeholder 3"/>
          <p:cNvSpPr>
            <a:spLocks noGrp="1"/>
          </p:cNvSpPr>
          <p:nvPr>
            <p:ph type="sldNum" sz="quarter" idx="5"/>
          </p:nvPr>
        </p:nvSpPr>
        <p:spPr/>
        <p:txBody>
          <a:bodyPr/>
          <a:lstStyle/>
          <a:p>
            <a:fld id="{456F2862-8AAA-473B-A998-3FA31B03CCBA}" type="slidenum">
              <a:rPr lang="en-US" smtClean="0"/>
              <a:t>6</a:t>
            </a:fld>
            <a:endParaRPr lang="en-US"/>
          </a:p>
        </p:txBody>
      </p:sp>
    </p:spTree>
    <p:extLst>
      <p:ext uri="{BB962C8B-B14F-4D97-AF65-F5344CB8AC3E}">
        <p14:creationId xmlns:p14="http://schemas.microsoft.com/office/powerpoint/2010/main" val="52057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I’ll go through the prototyping process and what I tuned. These next slides were made as I was prototyping just to keep track of learnings and note down next steps.</a:t>
            </a:r>
          </a:p>
          <a:p>
            <a:endParaRPr lang="en-US" dirty="0"/>
          </a:p>
          <a:p>
            <a:r>
              <a:rPr lang="en-US" dirty="0"/>
              <a:t> First I just made a quick proof of concept to get a feel for the motion of the gear. As I was modeling and playing around with this proof of concept I determined some DFM considerations. I’d have to account for the printer tolerances, I needed to design around standard hardware sizes, like bearings, fasteners and etc. I was currently limited to PLA, and I needed to design with print orientation in mind, as that would help me save material on supports, and print quality. Another big one was limiting print supports on mating features between components. Print supports always leave heavy surface imperfections and could </a:t>
            </a:r>
          </a:p>
          <a:p>
            <a:endParaRPr lang="en-US" dirty="0"/>
          </a:p>
          <a:p>
            <a:endParaRPr lang="en-US" dirty="0"/>
          </a:p>
        </p:txBody>
      </p:sp>
      <p:sp>
        <p:nvSpPr>
          <p:cNvPr id="4" name="Slide Number Placeholder 3"/>
          <p:cNvSpPr>
            <a:spLocks noGrp="1"/>
          </p:cNvSpPr>
          <p:nvPr>
            <p:ph type="sldNum" sz="quarter" idx="5"/>
          </p:nvPr>
        </p:nvSpPr>
        <p:spPr/>
        <p:txBody>
          <a:bodyPr/>
          <a:lstStyle/>
          <a:p>
            <a:fld id="{456F2862-8AAA-473B-A998-3FA31B03CCBA}" type="slidenum">
              <a:rPr lang="en-US" smtClean="0"/>
              <a:t>7</a:t>
            </a:fld>
            <a:endParaRPr lang="en-US"/>
          </a:p>
        </p:txBody>
      </p:sp>
    </p:spTree>
    <p:extLst>
      <p:ext uri="{BB962C8B-B14F-4D97-AF65-F5344CB8AC3E}">
        <p14:creationId xmlns:p14="http://schemas.microsoft.com/office/powerpoint/2010/main" val="3252591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real prototype, had all 3d printed parts except for the bearings between the eccentric shaft cams and the gears. I had an extended input side of the eccentric shaft so I could spin the gears. However, this prototype only lasted about 5 min due to the shaft breaking right at the shoulder. I believe this failure happened from the gear getting jammed up and either the radial force from the gear caused it to fail from bending or from torsion. </a:t>
            </a:r>
          </a:p>
          <a:p>
            <a:endParaRPr lang="en-US" dirty="0"/>
          </a:p>
          <a:p>
            <a:r>
              <a:rPr lang="en-US" dirty="0"/>
              <a:t>Another observation was that this shaft was printed vertically so the layer lines from printing were parallel to the force. This makes the shaft much weaker to radial forces. </a:t>
            </a:r>
          </a:p>
          <a:p>
            <a:endParaRPr lang="en-US" dirty="0"/>
          </a:p>
          <a:p>
            <a:r>
              <a:rPr lang="en-US" dirty="0"/>
              <a:t>For the next iteration, the shaft needed to be printed sideways to make the layer lines perpendicular to the force. I also had a few fitment issues, which I planned to dial for the next iteration.</a:t>
            </a:r>
          </a:p>
        </p:txBody>
      </p:sp>
      <p:sp>
        <p:nvSpPr>
          <p:cNvPr id="4" name="Slide Number Placeholder 3"/>
          <p:cNvSpPr>
            <a:spLocks noGrp="1"/>
          </p:cNvSpPr>
          <p:nvPr>
            <p:ph type="sldNum" sz="quarter" idx="5"/>
          </p:nvPr>
        </p:nvSpPr>
        <p:spPr/>
        <p:txBody>
          <a:bodyPr/>
          <a:lstStyle/>
          <a:p>
            <a:fld id="{456F2862-8AAA-473B-A998-3FA31B03CCBA}" type="slidenum">
              <a:rPr lang="en-US" smtClean="0"/>
              <a:t>8</a:t>
            </a:fld>
            <a:endParaRPr lang="en-US"/>
          </a:p>
        </p:txBody>
      </p:sp>
    </p:spTree>
    <p:extLst>
      <p:ext uri="{BB962C8B-B14F-4D97-AF65-F5344CB8AC3E}">
        <p14:creationId xmlns:p14="http://schemas.microsoft.com/office/powerpoint/2010/main" val="2975637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second iteration had less jamming, better fitment between parts, and the shaft did not break this time due to printing horizontally.</a:t>
            </a:r>
          </a:p>
          <a:p>
            <a:endParaRPr lang="en-US" dirty="0"/>
          </a:p>
          <a:p>
            <a:r>
              <a:rPr lang="en-US" dirty="0"/>
              <a:t>The main issue I found was that the output pins were undersized, were not perpendicular and would bend with very little force. This would be an issue since the pins transfer all the force and if they are not dimensionally accurate they would jam the gear.</a:t>
            </a:r>
          </a:p>
          <a:p>
            <a:r>
              <a:rPr lang="en-US" dirty="0"/>
              <a:t> The rest of the observations were fitment issues, and tweaks to the printing parameters.</a:t>
            </a:r>
          </a:p>
        </p:txBody>
      </p:sp>
      <p:sp>
        <p:nvSpPr>
          <p:cNvPr id="4" name="Slide Number Placeholder 3"/>
          <p:cNvSpPr>
            <a:spLocks noGrp="1"/>
          </p:cNvSpPr>
          <p:nvPr>
            <p:ph type="sldNum" sz="quarter" idx="5"/>
          </p:nvPr>
        </p:nvSpPr>
        <p:spPr/>
        <p:txBody>
          <a:bodyPr/>
          <a:lstStyle/>
          <a:p>
            <a:fld id="{456F2862-8AAA-473B-A998-3FA31B03CCBA}" type="slidenum">
              <a:rPr lang="en-US" smtClean="0"/>
              <a:t>9</a:t>
            </a:fld>
            <a:endParaRPr lang="en-US"/>
          </a:p>
        </p:txBody>
      </p:sp>
    </p:spTree>
    <p:extLst>
      <p:ext uri="{BB962C8B-B14F-4D97-AF65-F5344CB8AC3E}">
        <p14:creationId xmlns:p14="http://schemas.microsoft.com/office/powerpoint/2010/main" val="3936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3</a:t>
            </a:r>
            <a:r>
              <a:rPr lang="en-US" baseline="30000" dirty="0"/>
              <a:t>rd</a:t>
            </a:r>
            <a:r>
              <a:rPr lang="en-US" dirty="0"/>
              <a:t> iteration, to improve the weak output pins. I decided to add press fit steel dowel pins. The dowel pins would resist bending a lot better and be dimensionally accurate. The dowel pins have a size tolerance of plus minus 0.01mm which would be more than enough to solve the perpendicularity issue. T</a:t>
            </a:r>
          </a:p>
          <a:p>
            <a:endParaRPr lang="en-US" dirty="0"/>
          </a:p>
          <a:p>
            <a:r>
              <a:rPr lang="en-US" dirty="0"/>
              <a:t>To minimize friction on the output plate I added a thrust bearing and I also wanted to center the output plate with the shaft so I modified the shaft to have a mating feature that rotates on the same axis as the input. There is a bearing in between the feature and the output plate so that it can spin freely.</a:t>
            </a:r>
          </a:p>
        </p:txBody>
      </p:sp>
      <p:sp>
        <p:nvSpPr>
          <p:cNvPr id="4" name="Slide Number Placeholder 3"/>
          <p:cNvSpPr>
            <a:spLocks noGrp="1"/>
          </p:cNvSpPr>
          <p:nvPr>
            <p:ph type="sldNum" sz="quarter" idx="5"/>
          </p:nvPr>
        </p:nvSpPr>
        <p:spPr/>
        <p:txBody>
          <a:bodyPr/>
          <a:lstStyle/>
          <a:p>
            <a:fld id="{456F2862-8AAA-473B-A998-3FA31B03CCBA}" type="slidenum">
              <a:rPr lang="en-US" smtClean="0"/>
              <a:t>10</a:t>
            </a:fld>
            <a:endParaRPr lang="en-US"/>
          </a:p>
        </p:txBody>
      </p:sp>
    </p:spTree>
    <p:extLst>
      <p:ext uri="{BB962C8B-B14F-4D97-AF65-F5344CB8AC3E}">
        <p14:creationId xmlns:p14="http://schemas.microsoft.com/office/powerpoint/2010/main" val="3534197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F2862-8AAA-473B-A998-3FA31B03CCBA}" type="slidenum">
              <a:rPr lang="en-US" smtClean="0"/>
              <a:t>11</a:t>
            </a:fld>
            <a:endParaRPr lang="en-US"/>
          </a:p>
        </p:txBody>
      </p:sp>
    </p:spTree>
    <p:extLst>
      <p:ext uri="{BB962C8B-B14F-4D97-AF65-F5344CB8AC3E}">
        <p14:creationId xmlns:p14="http://schemas.microsoft.com/office/powerpoint/2010/main" val="1857019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3</a:t>
            </a:r>
            <a:r>
              <a:rPr lang="en-US" baseline="30000" dirty="0"/>
              <a:t>rd</a:t>
            </a:r>
            <a:r>
              <a:rPr lang="en-US" dirty="0"/>
              <a:t> iteration, I still had some issues with assembly and every time I added a new mating feature or part I would have to print it several times until I got the right fit. </a:t>
            </a:r>
          </a:p>
          <a:p>
            <a:endParaRPr lang="en-US" dirty="0"/>
          </a:p>
          <a:p>
            <a:r>
              <a:rPr lang="en-US" dirty="0"/>
              <a:t>To investigate this </a:t>
            </a:r>
            <a:r>
              <a:rPr lang="en-US" dirty="0" err="1"/>
              <a:t>issue,I</a:t>
            </a:r>
            <a:r>
              <a:rPr lang="en-US" dirty="0"/>
              <a:t> took measurements of critical features just to see how far off I was and tune the nominal dimensions in CAD. I was more or less finding that both holes and circular features were off by 0.2-0.3mm on average. With the except being the thrust bearing diameter being undersized by -0.6mm which I suspect is due to the size of the feature. I suspect that I should lower my print speed to get better dimensional accuracy</a:t>
            </a:r>
          </a:p>
          <a:p>
            <a:endParaRPr lang="en-US" dirty="0"/>
          </a:p>
          <a:p>
            <a:r>
              <a:rPr lang="en-US" dirty="0"/>
              <a:t>Based on this info, I know I need to adjust my CAD nominal by roughly 0.2mm on assembly features.</a:t>
            </a:r>
          </a:p>
          <a:p>
            <a:endParaRPr lang="en-US" dirty="0"/>
          </a:p>
        </p:txBody>
      </p:sp>
      <p:sp>
        <p:nvSpPr>
          <p:cNvPr id="4" name="Slide Number Placeholder 3"/>
          <p:cNvSpPr>
            <a:spLocks noGrp="1"/>
          </p:cNvSpPr>
          <p:nvPr>
            <p:ph type="sldNum" sz="quarter" idx="5"/>
          </p:nvPr>
        </p:nvSpPr>
        <p:spPr/>
        <p:txBody>
          <a:bodyPr/>
          <a:lstStyle/>
          <a:p>
            <a:fld id="{456F2862-8AAA-473B-A998-3FA31B03CCBA}" type="slidenum">
              <a:rPr lang="en-US" smtClean="0"/>
              <a:t>12</a:t>
            </a:fld>
            <a:endParaRPr lang="en-US"/>
          </a:p>
        </p:txBody>
      </p:sp>
    </p:spTree>
    <p:extLst>
      <p:ext uri="{BB962C8B-B14F-4D97-AF65-F5344CB8AC3E}">
        <p14:creationId xmlns:p14="http://schemas.microsoft.com/office/powerpoint/2010/main" val="85205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I was not able to measure directly was the perpendicularity of the eccentric shaft. From the first picture you can see that the gear and plate are not parallel. I also noticed when spinning the gearbox, there is a ton of wobble and I have to apply an uneven force. Also when looking at the shaft, I could visibly see some bowing.</a:t>
            </a:r>
          </a:p>
          <a:p>
            <a:endParaRPr lang="en-US" dirty="0"/>
          </a:p>
          <a:p>
            <a:r>
              <a:rPr lang="en-US" dirty="0"/>
              <a:t>Previously when I was printing vertically, the shaft did not display any noticeable bowing, but since I need to print horizontally due to the alignment of layer lines, I need to solve for printing horizontally. </a:t>
            </a:r>
          </a:p>
          <a:p>
            <a:r>
              <a:rPr lang="en-US" dirty="0"/>
              <a:t>As for why this is happening, I suspect that the low density infill support layers were cooling much faster and pulling down the ends of the shaft which are a lot thinner than the main body of the shaft. </a:t>
            </a:r>
          </a:p>
          <a:p>
            <a:r>
              <a:rPr lang="en-US" dirty="0"/>
              <a:t>To find a balance between strength, my next iteration was printed at 45 deg. This proved to work much better and did not have alignment issues or portions of the shaft breaking.</a:t>
            </a:r>
          </a:p>
        </p:txBody>
      </p:sp>
      <p:sp>
        <p:nvSpPr>
          <p:cNvPr id="4" name="Slide Number Placeholder 3"/>
          <p:cNvSpPr>
            <a:spLocks noGrp="1"/>
          </p:cNvSpPr>
          <p:nvPr>
            <p:ph type="sldNum" sz="quarter" idx="5"/>
          </p:nvPr>
        </p:nvSpPr>
        <p:spPr/>
        <p:txBody>
          <a:bodyPr/>
          <a:lstStyle/>
          <a:p>
            <a:fld id="{456F2862-8AAA-473B-A998-3FA31B03CCBA}" type="slidenum">
              <a:rPr lang="en-US" smtClean="0"/>
              <a:t>13</a:t>
            </a:fld>
            <a:endParaRPr lang="en-US"/>
          </a:p>
        </p:txBody>
      </p:sp>
    </p:spTree>
    <p:extLst>
      <p:ext uri="{BB962C8B-B14F-4D97-AF65-F5344CB8AC3E}">
        <p14:creationId xmlns:p14="http://schemas.microsoft.com/office/powerpoint/2010/main" val="2542579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4</a:t>
            </a:r>
            <a:r>
              <a:rPr lang="en-US" baseline="30000" dirty="0"/>
              <a:t>th</a:t>
            </a:r>
            <a:r>
              <a:rPr lang="en-US" dirty="0"/>
              <a:t> iteration had the 5mm dowel pins and the output plate thrust bearing + alignment feature. I don’t have the video but I did test the shaft printed at 45 deg, which solved the wobble issue.</a:t>
            </a:r>
          </a:p>
        </p:txBody>
      </p:sp>
      <p:sp>
        <p:nvSpPr>
          <p:cNvPr id="4" name="Slide Number Placeholder 3"/>
          <p:cNvSpPr>
            <a:spLocks noGrp="1"/>
          </p:cNvSpPr>
          <p:nvPr>
            <p:ph type="sldNum" sz="quarter" idx="5"/>
          </p:nvPr>
        </p:nvSpPr>
        <p:spPr/>
        <p:txBody>
          <a:bodyPr/>
          <a:lstStyle/>
          <a:p>
            <a:fld id="{456F2862-8AAA-473B-A998-3FA31B03CCBA}" type="slidenum">
              <a:rPr lang="en-US" smtClean="0"/>
              <a:t>14</a:t>
            </a:fld>
            <a:endParaRPr lang="en-US"/>
          </a:p>
        </p:txBody>
      </p:sp>
    </p:spTree>
    <p:extLst>
      <p:ext uri="{BB962C8B-B14F-4D97-AF65-F5344CB8AC3E}">
        <p14:creationId xmlns:p14="http://schemas.microsoft.com/office/powerpoint/2010/main" val="1185510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was just curious to see how everything would perform with hardware. I did a quick pitch mechanism design which was just a servo, and a part to attach a laser pointer.</a:t>
            </a:r>
          </a:p>
          <a:p>
            <a:endParaRPr lang="en-US" dirty="0"/>
          </a:p>
          <a:p>
            <a:r>
              <a:rPr lang="en-US" dirty="0"/>
              <a:t>From the hardware side, it took a bit of trial and error to get the programming correct and also learn the limitations of my hardware. Specifically, things like speed and </a:t>
            </a:r>
            <a:r>
              <a:rPr lang="en-US" dirty="0" err="1"/>
              <a:t>microstepping</a:t>
            </a:r>
            <a:r>
              <a:rPr lang="en-US" dirty="0"/>
              <a:t> and controller data transfer limits.</a:t>
            </a:r>
          </a:p>
          <a:p>
            <a:endParaRPr lang="en-US" dirty="0"/>
          </a:p>
          <a:p>
            <a:r>
              <a:rPr lang="en-US" dirty="0"/>
              <a:t>This stage mostly involved just adjusting parameters such as motor speed, </a:t>
            </a:r>
            <a:r>
              <a:rPr lang="en-US" dirty="0" err="1"/>
              <a:t>microstepping</a:t>
            </a:r>
            <a:r>
              <a:rPr lang="en-US" dirty="0"/>
              <a:t> and current. Mostly I was just observing how the system reacted to these parameters. </a:t>
            </a:r>
          </a:p>
          <a:p>
            <a:endParaRPr lang="en-US" dirty="0"/>
          </a:p>
          <a:p>
            <a:r>
              <a:rPr lang="en-US" dirty="0"/>
              <a:t>Main thing I noticed was that the rotation was very jerky, and the motor would make loud gritty noises. I also noticed that the motor would missteps even when driven by itself. For example, If I would command 90 degrees, it would only make it about 60 </a:t>
            </a:r>
            <a:r>
              <a:rPr lang="en-US" dirty="0" err="1"/>
              <a:t>degs</a:t>
            </a:r>
            <a:r>
              <a:rPr lang="en-US" dirty="0"/>
              <a:t> and there would be some shuttering motion </a:t>
            </a:r>
            <a:r>
              <a:rPr lang="en-US" dirty="0" err="1"/>
              <a:t>inbetween</a:t>
            </a:r>
            <a:r>
              <a:rPr lang="en-US" dirty="0"/>
              <a:t>. </a:t>
            </a:r>
          </a:p>
          <a:p>
            <a:endParaRPr lang="en-US" dirty="0"/>
          </a:p>
          <a:p>
            <a:r>
              <a:rPr lang="en-US" dirty="0"/>
              <a:t>Here’s a quick video. Play video</a:t>
            </a:r>
          </a:p>
        </p:txBody>
      </p:sp>
      <p:sp>
        <p:nvSpPr>
          <p:cNvPr id="4" name="Slide Number Placeholder 3"/>
          <p:cNvSpPr>
            <a:spLocks noGrp="1"/>
          </p:cNvSpPr>
          <p:nvPr>
            <p:ph type="sldNum" sz="quarter" idx="5"/>
          </p:nvPr>
        </p:nvSpPr>
        <p:spPr/>
        <p:txBody>
          <a:bodyPr/>
          <a:lstStyle/>
          <a:p>
            <a:fld id="{456F2862-8AAA-473B-A998-3FA31B03CCBA}" type="slidenum">
              <a:rPr lang="en-US" smtClean="0"/>
              <a:t>15</a:t>
            </a:fld>
            <a:endParaRPr lang="en-US"/>
          </a:p>
        </p:txBody>
      </p:sp>
    </p:spTree>
    <p:extLst>
      <p:ext uri="{BB962C8B-B14F-4D97-AF65-F5344CB8AC3E}">
        <p14:creationId xmlns:p14="http://schemas.microsoft.com/office/powerpoint/2010/main" val="690441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actually quantitatively track the accuracy of the system I performed two tests. </a:t>
            </a:r>
          </a:p>
          <a:p>
            <a:endParaRPr lang="en-US" dirty="0"/>
          </a:p>
          <a:p>
            <a:r>
              <a:rPr lang="en-US" dirty="0"/>
              <a:t>First test is to track how accurate the position is at 1 deg increment at 4.3m and the second was to just check absolute accuracy. At 4.3m, 1 deg is equivalent to 80mm.</a:t>
            </a:r>
          </a:p>
          <a:p>
            <a:endParaRPr lang="en-US" dirty="0"/>
          </a:p>
          <a:p>
            <a:r>
              <a:rPr lang="en-US" dirty="0"/>
              <a:t>Based on my time playing around with the motor parameters, I set them at the parameters that I qualitatively felt were best, just through observing smoothness and missteps. Also since I had a laser pointed at the wall I could </a:t>
            </a:r>
            <a:r>
              <a:rPr lang="en-US" dirty="0" err="1"/>
              <a:t>kinda</a:t>
            </a:r>
            <a:r>
              <a:rPr lang="en-US" dirty="0"/>
              <a:t> see the points when the motor went out of sync. This is a quick video showing my test set up in my room. It’s just a whiteboard with marks at 80mm increments to represent 1 deg steps. Due to the size of the white board I was only able to go from -7to +7 deg. </a:t>
            </a:r>
          </a:p>
          <a:p>
            <a:endParaRPr lang="en-US" dirty="0"/>
          </a:p>
          <a:p>
            <a:r>
              <a:rPr lang="en-US" dirty="0"/>
              <a:t>As for the actual tests. I ran both tests with the gearbox and then I ran both tests again without the gearbox. As you can see I am well off my 1 deg = 80 tolerance.</a:t>
            </a:r>
          </a:p>
          <a:p>
            <a:endParaRPr lang="en-US" dirty="0"/>
          </a:p>
          <a:p>
            <a:r>
              <a:rPr lang="en-US" dirty="0"/>
              <a:t>However the silver lining is that both incremental and absolute testing showed the same amount of variation which indicates to me that the lack of accuracy lies in the system and not in the delta between position commands/</a:t>
            </a:r>
          </a:p>
          <a:p>
            <a:r>
              <a:rPr lang="en-US" dirty="0"/>
              <a:t>Secondly, the direct to stepper test also shows the same relationship but at an even higher offset position.</a:t>
            </a:r>
          </a:p>
          <a:p>
            <a:endParaRPr lang="en-US" dirty="0"/>
          </a:p>
          <a:p>
            <a:r>
              <a:rPr lang="en-US" dirty="0"/>
              <a:t>I was expecting the direct to stepper to produce better results so I was surprised when it was actually much worse. I did some research and I learned that stepper motors do not like to operate under no load. When the rotor is pulled by magnetic forces to the next step it actually goes past the target step and then kind of </a:t>
            </a:r>
            <a:r>
              <a:rPr lang="en-US" dirty="0" err="1"/>
              <a:t>osicillates</a:t>
            </a:r>
            <a:r>
              <a:rPr lang="en-US" dirty="0"/>
              <a:t> until it reaches equilibrium. But typically the next pulse will arrive before equilibrium and that means for the next step the rotor will be off. This is then propagated due to the hundreds of steps. To my understanding, adding load reduce the resonance and help the motor be a bit more accurate. This is something I need to look into a bit deeper and find the ideal load</a:t>
            </a:r>
          </a:p>
          <a:p>
            <a:endParaRPr lang="en-US" dirty="0"/>
          </a:p>
          <a:p>
            <a:r>
              <a:rPr lang="en-US" dirty="0"/>
              <a:t>Based on these tests, I need to first adjust the parameters and find the combination that gives me the best accuracy under a semi loaded motor condition. I need to add an acceleration function to gradually allow the motor to get up to speed. Once the motor is accurate under limited load, I can then independently determine how much variation the gearbox adds.</a:t>
            </a:r>
          </a:p>
        </p:txBody>
      </p:sp>
      <p:sp>
        <p:nvSpPr>
          <p:cNvPr id="4" name="Slide Number Placeholder 3"/>
          <p:cNvSpPr>
            <a:spLocks noGrp="1"/>
          </p:cNvSpPr>
          <p:nvPr>
            <p:ph type="sldNum" sz="quarter" idx="5"/>
          </p:nvPr>
        </p:nvSpPr>
        <p:spPr/>
        <p:txBody>
          <a:bodyPr/>
          <a:lstStyle/>
          <a:p>
            <a:fld id="{456F2862-8AAA-473B-A998-3FA31B03CCBA}" type="slidenum">
              <a:rPr lang="en-US" smtClean="0"/>
              <a:t>16</a:t>
            </a:fld>
            <a:endParaRPr lang="en-US"/>
          </a:p>
        </p:txBody>
      </p:sp>
    </p:spTree>
    <p:extLst>
      <p:ext uri="{BB962C8B-B14F-4D97-AF65-F5344CB8AC3E}">
        <p14:creationId xmlns:p14="http://schemas.microsoft.com/office/powerpoint/2010/main" val="3335626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positional accuracy test and actually running the motor for a bunch of cycles, I realized that I determined my output torque incorrectly. On the left you’ll see the correct calculation based on torque for a spinning disk. This takes into account the moment of inertia and acceleration. </a:t>
            </a:r>
          </a:p>
          <a:p>
            <a:r>
              <a:rPr lang="en-US" dirty="0"/>
              <a:t>My actual required input torque was 0.2Nm as opposed to the 0.013Nm. Luckily since my motor is much more powerful than necessary, I was still well within the torque curve for the desired rpm.</a:t>
            </a:r>
          </a:p>
          <a:p>
            <a:r>
              <a:rPr lang="en-US" dirty="0"/>
              <a:t>Also at this point I started looking into how real cycloidal gearboxes are designed and started reading some papers. </a:t>
            </a:r>
          </a:p>
          <a:p>
            <a:endParaRPr lang="en-US" dirty="0"/>
          </a:p>
          <a:p>
            <a:r>
              <a:rPr lang="en-US" dirty="0"/>
              <a:t>The key takeaways were that I needed to reduce my friction losses. The losses I looked at was the sliding friction between the eccentric shaft and gearbox hole, the bearing friction between the cam and gear, rolling + sliding friction between the gear and the ring gear, and the sliding friction between the output pins and output holes on the gear.</a:t>
            </a:r>
          </a:p>
          <a:p>
            <a:endParaRPr lang="en-US" dirty="0"/>
          </a:p>
          <a:p>
            <a:r>
              <a:rPr lang="en-US" dirty="0"/>
              <a:t>Theoretically, the cycloidal gear is only supposed to have a rolling contact with the ring gear profile. However this does not account for tolerances, or assembly. In reality, the gear needs to have some clearance, which I learned the hard way when the first gears I printed would not assembly. I do not fully understand the dynamics but due to this offset the gear will experience rolling and sliding friction. </a:t>
            </a:r>
          </a:p>
          <a:p>
            <a:r>
              <a:rPr lang="en-US" dirty="0"/>
              <a:t>Also due to contact stress, there will be small deformations in the plastic that deform the surface and contribute to sliding instead of rolling. In the future I could use a plastic with higher hardness and lower coefficient of friction to reduce some of friction loss.</a:t>
            </a:r>
          </a:p>
          <a:p>
            <a:endParaRPr lang="en-US" dirty="0"/>
          </a:p>
          <a:p>
            <a:r>
              <a:rPr lang="en-US" dirty="0"/>
              <a:t>Now the sliding friction between output pins and output holes and disk gear can be limited by adding a bearing to let the dowel spin. Ideally there will be no relative movement between the contact points and there will be pure rolling.</a:t>
            </a:r>
          </a:p>
          <a:p>
            <a:endParaRPr lang="en-US" dirty="0"/>
          </a:p>
          <a:p>
            <a:r>
              <a:rPr lang="en-US" dirty="0"/>
              <a:t>Based on these learnings I decided to redesign and create a v2</a:t>
            </a:r>
          </a:p>
          <a:p>
            <a:endParaRPr lang="en-US" dirty="0"/>
          </a:p>
          <a:p>
            <a:r>
              <a:rPr lang="en-US" dirty="0"/>
              <a:t>Rolling friction is the slight deformation at the point of contact, this eats some of the energy. Converts to heat?</a:t>
            </a:r>
          </a:p>
        </p:txBody>
      </p:sp>
      <p:sp>
        <p:nvSpPr>
          <p:cNvPr id="4" name="Slide Number Placeholder 3"/>
          <p:cNvSpPr>
            <a:spLocks noGrp="1"/>
          </p:cNvSpPr>
          <p:nvPr>
            <p:ph type="sldNum" sz="quarter" idx="5"/>
          </p:nvPr>
        </p:nvSpPr>
        <p:spPr/>
        <p:txBody>
          <a:bodyPr/>
          <a:lstStyle/>
          <a:p>
            <a:fld id="{456F2862-8AAA-473B-A998-3FA31B03CCBA}" type="slidenum">
              <a:rPr lang="en-US" smtClean="0"/>
              <a:t>17</a:t>
            </a:fld>
            <a:endParaRPr lang="en-US"/>
          </a:p>
        </p:txBody>
      </p:sp>
    </p:spTree>
    <p:extLst>
      <p:ext uri="{BB962C8B-B14F-4D97-AF65-F5344CB8AC3E}">
        <p14:creationId xmlns:p14="http://schemas.microsoft.com/office/powerpoint/2010/main" val="4195219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changes were adding bearings for the output pins, and adding steel dowel pins to the ring gear side. Although I don’t have an exact number for coefficient of friction for PLA to steel, or PLA to PLA, I am sure the steel to the 3d-printed </a:t>
            </a:r>
            <a:r>
              <a:rPr lang="en-US" dirty="0" err="1"/>
              <a:t>pla</a:t>
            </a:r>
            <a:r>
              <a:rPr lang="en-US" dirty="0"/>
              <a:t> will have a much lower coefficient of friction. Also the steel being much harder, will definitely improve the rolling friction. </a:t>
            </a:r>
          </a:p>
          <a:p>
            <a:endParaRPr lang="en-US" dirty="0"/>
          </a:p>
          <a:p>
            <a:r>
              <a:rPr lang="en-US" dirty="0"/>
              <a:t>Other than that, for V2 I had to resize a bunch of things to fit the new bearings and pins, and I attempted to make the packaging smaller.</a:t>
            </a:r>
          </a:p>
        </p:txBody>
      </p:sp>
      <p:sp>
        <p:nvSpPr>
          <p:cNvPr id="4" name="Slide Number Placeholder 3"/>
          <p:cNvSpPr>
            <a:spLocks noGrp="1"/>
          </p:cNvSpPr>
          <p:nvPr>
            <p:ph type="sldNum" sz="quarter" idx="5"/>
          </p:nvPr>
        </p:nvSpPr>
        <p:spPr/>
        <p:txBody>
          <a:bodyPr/>
          <a:lstStyle/>
          <a:p>
            <a:fld id="{456F2862-8AAA-473B-A998-3FA31B03CCBA}" type="slidenum">
              <a:rPr lang="en-US" smtClean="0"/>
              <a:t>18</a:t>
            </a:fld>
            <a:endParaRPr lang="en-US"/>
          </a:p>
        </p:txBody>
      </p:sp>
    </p:spTree>
    <p:extLst>
      <p:ext uri="{BB962C8B-B14F-4D97-AF65-F5344CB8AC3E}">
        <p14:creationId xmlns:p14="http://schemas.microsoft.com/office/powerpoint/2010/main" val="2316581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both v2 and v1 sitting in front of you, and although I haven’t had a chance to test it yet, the v2 feels much smoother when </a:t>
            </a:r>
            <a:r>
              <a:rPr lang="en-US" dirty="0" err="1"/>
              <a:t>backdriven</a:t>
            </a:r>
            <a:r>
              <a:rPr lang="en-US" dirty="0"/>
              <a:t>, which indicates to me that there are some improvements.</a:t>
            </a:r>
          </a:p>
          <a:p>
            <a:endParaRPr lang="en-US" dirty="0"/>
          </a:p>
          <a:p>
            <a:r>
              <a:rPr lang="en-US" dirty="0"/>
              <a:t>I have a quick summary of my learnings on the left. </a:t>
            </a:r>
          </a:p>
          <a:p>
            <a:endParaRPr lang="en-US" dirty="0"/>
          </a:p>
          <a:p>
            <a:r>
              <a:rPr lang="en-US" dirty="0"/>
              <a:t>As for next steps I need to run the accuracy tests for the v2,</a:t>
            </a:r>
          </a:p>
          <a:p>
            <a:r>
              <a:rPr lang="en-US" dirty="0"/>
              <a:t>I also need to add a feature to clamp the </a:t>
            </a:r>
            <a:r>
              <a:rPr lang="en-US" dirty="0" err="1"/>
              <a:t>geabox</a:t>
            </a:r>
            <a:r>
              <a:rPr lang="en-US" dirty="0"/>
              <a:t> to the table or just add some mass. At the moment I have nothing to absorb the radial force from the gearbox.</a:t>
            </a:r>
          </a:p>
          <a:p>
            <a:r>
              <a:rPr lang="en-US" dirty="0"/>
              <a:t>I’d like to replace the PLA at some point to a more suitable material</a:t>
            </a:r>
          </a:p>
          <a:p>
            <a:r>
              <a:rPr lang="en-US" dirty="0"/>
              <a:t>I think a huge step would be to have some sort of test rig to benchmark input and output torque. Currently I have no real way of knowing if my improvements work or what the actual torque output is. </a:t>
            </a:r>
          </a:p>
          <a:p>
            <a:r>
              <a:rPr lang="en-US" dirty="0"/>
              <a:t>I need to optimize the software and motor parameters to reduce the missteps, this will require some more research into stepper motors and a lot of trial and error.</a:t>
            </a:r>
          </a:p>
          <a:p>
            <a:r>
              <a:rPr lang="en-US" dirty="0"/>
              <a:t>Something I’d be interesting in learning as well is how much heat is produce in a gearbox. Especially since I’m using plastic for the gearbox, creep and fatigue would be a lot more sensitive as the gearbox heats up.</a:t>
            </a:r>
          </a:p>
          <a:p>
            <a:endParaRPr lang="en-US" dirty="0"/>
          </a:p>
          <a:p>
            <a:r>
              <a:rPr lang="en-US" dirty="0"/>
              <a:t>In summary, I’ve been able to design the gearbox and determine how far I am from my high level design targets. There are more tests I need to do to fully understand the gearbox output, but overall I’m learning what levers I can pull to tune my results and it’s been quite interesting to learn about this style of gear. As well as learning the electronics side a bit more in depth. If I had attempted this before interning here, I would have a much tougher time on this project.</a:t>
            </a:r>
          </a:p>
          <a:p>
            <a:endParaRPr lang="en-US" dirty="0"/>
          </a:p>
          <a:p>
            <a:r>
              <a:rPr lang="en-US" dirty="0"/>
              <a:t>Thermal</a:t>
            </a:r>
          </a:p>
          <a:p>
            <a:pPr marL="171450" indent="-171450">
              <a:buFontTx/>
              <a:buChar char="-"/>
            </a:pPr>
            <a:r>
              <a:rPr lang="en-US" dirty="0"/>
              <a:t>Material warpage due to HDT</a:t>
            </a:r>
          </a:p>
          <a:p>
            <a:pPr marL="171450" indent="-171450">
              <a:buFontTx/>
              <a:buChar char="-"/>
            </a:pPr>
            <a:r>
              <a:rPr lang="en-US" dirty="0"/>
              <a:t>Reduced yield stress</a:t>
            </a:r>
          </a:p>
        </p:txBody>
      </p:sp>
      <p:sp>
        <p:nvSpPr>
          <p:cNvPr id="4" name="Slide Number Placeholder 3"/>
          <p:cNvSpPr>
            <a:spLocks noGrp="1"/>
          </p:cNvSpPr>
          <p:nvPr>
            <p:ph type="sldNum" sz="quarter" idx="5"/>
          </p:nvPr>
        </p:nvSpPr>
        <p:spPr/>
        <p:txBody>
          <a:bodyPr/>
          <a:lstStyle/>
          <a:p>
            <a:fld id="{456F2862-8AAA-473B-A998-3FA31B03CCBA}" type="slidenum">
              <a:rPr lang="en-US" smtClean="0"/>
              <a:t>19</a:t>
            </a:fld>
            <a:endParaRPr lang="en-US"/>
          </a:p>
        </p:txBody>
      </p:sp>
    </p:spTree>
    <p:extLst>
      <p:ext uri="{BB962C8B-B14F-4D97-AF65-F5344CB8AC3E}">
        <p14:creationId xmlns:p14="http://schemas.microsoft.com/office/powerpoint/2010/main" val="862562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to the variable nature of pressure angle for cycloidal gears, I am overly simplifying this to the average pressure angle seen through a full rotation. Also due to the complexity, I am characterizing pressure angle similar to a spur gear. Relative to the standard 20 deg pressure angle for spur gears, this pressure angle has a much larger radial force. To transfer more useful tangential force, I could adjust an independent parameter like eccentricity. This would also provide smoother and quieter operation. This is not something I have optimized for currently but for future iterations this is something I will adjust.</a:t>
            </a:r>
          </a:p>
        </p:txBody>
      </p:sp>
      <p:sp>
        <p:nvSpPr>
          <p:cNvPr id="4" name="Slide Number Placeholder 3"/>
          <p:cNvSpPr>
            <a:spLocks noGrp="1"/>
          </p:cNvSpPr>
          <p:nvPr>
            <p:ph type="sldNum" sz="quarter" idx="5"/>
          </p:nvPr>
        </p:nvSpPr>
        <p:spPr/>
        <p:txBody>
          <a:bodyPr/>
          <a:lstStyle/>
          <a:p>
            <a:fld id="{456F2862-8AAA-473B-A998-3FA31B03CCBA}" type="slidenum">
              <a:rPr lang="en-US" smtClean="0"/>
              <a:t>21</a:t>
            </a:fld>
            <a:endParaRPr lang="en-US"/>
          </a:p>
        </p:txBody>
      </p:sp>
    </p:spTree>
    <p:extLst>
      <p:ext uri="{BB962C8B-B14F-4D97-AF65-F5344CB8AC3E}">
        <p14:creationId xmlns:p14="http://schemas.microsoft.com/office/powerpoint/2010/main" val="2490108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9F852-91FA-9E28-48CB-824335EA19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C79F7C-F527-5B51-A58A-1D0DB903EA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6AE2DF-5517-AE46-8149-E4E2222290CE}"/>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B17C391E-D16F-6557-AA71-B6B459D0A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B5E23-4432-EF06-345B-F85557D23BFD}"/>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304157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5FA46-9C64-8BBA-8E18-C7EE26A57C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421F49-AA85-56C3-98F6-3D8FC8865D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BFCE7-990A-7FB3-DE4F-2B1E1B9C8365}"/>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1D7F4112-A873-A4D2-1849-972794A7FB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3BA01-78A7-B5AF-9181-F072CD6DD316}"/>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382837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A9DB-D0F9-58E8-DBE9-0373193741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8EE590-240C-C05F-F5C4-F8B41F6F18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0B8878-4EB4-D9A0-9F28-2600DC83A820}"/>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6752386B-84D1-2CB7-A76F-63D93C084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3A61A-0571-8742-349A-91A269D3B510}"/>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564107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0529A-34DF-8F67-2D9F-B53170A421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3915C5-45D1-FB51-89FD-E9DC004A6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6DCB80-B313-F0C3-ADC8-A965E3F21C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748118-AC78-F7E8-6835-648610EC102E}"/>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6" name="Footer Placeholder 5">
            <a:extLst>
              <a:ext uri="{FF2B5EF4-FFF2-40B4-BE49-F238E27FC236}">
                <a16:creationId xmlns:a16="http://schemas.microsoft.com/office/drawing/2014/main" id="{32E3E5FB-AFD7-8D14-75D0-8481ED0EBE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6D0F8-6285-166E-0373-1271B2717B1C}"/>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249084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DC00-B263-2796-2A62-70D731E515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6AA214-C758-7A35-7ACB-8C9DBCCB36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47AAF4-422D-AE2D-01E8-DF6B95D8F7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C5D33D-8DA3-0F85-405B-8DF88CA34B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79B4F6-E673-EF10-021B-3ADCA6C4BD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48D901-B058-89B1-C4F6-F72992B45656}"/>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8" name="Footer Placeholder 7">
            <a:extLst>
              <a:ext uri="{FF2B5EF4-FFF2-40B4-BE49-F238E27FC236}">
                <a16:creationId xmlns:a16="http://schemas.microsoft.com/office/drawing/2014/main" id="{BD02E1C4-E77E-C8E6-5D03-DB1ACA2B26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B86583-1F3D-8364-42E1-E2AA5114905F}"/>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308212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C8ED-D20B-FA8A-3B4E-E674308CE1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FC0F06-BFCE-EA98-2AC4-20D5389DFF83}"/>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4" name="Footer Placeholder 3">
            <a:extLst>
              <a:ext uri="{FF2B5EF4-FFF2-40B4-BE49-F238E27FC236}">
                <a16:creationId xmlns:a16="http://schemas.microsoft.com/office/drawing/2014/main" id="{0D253695-CC2F-87CF-860E-466261905C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4FF284-9416-2387-51AE-991ECBF00386}"/>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2863591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171DBB-5503-2F40-03F3-C27D41929B27}"/>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3" name="Footer Placeholder 2">
            <a:extLst>
              <a:ext uri="{FF2B5EF4-FFF2-40B4-BE49-F238E27FC236}">
                <a16:creationId xmlns:a16="http://schemas.microsoft.com/office/drawing/2014/main" id="{FBD996EF-627C-3910-32C7-394127AF50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38489E-9B55-1EF2-7BE5-38F0D33EB8C4}"/>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1660548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3B3D-2061-6164-762C-1C8E1CF2B6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FF97C9-A82F-3115-9399-E31FA8B8FD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978793-C4A5-52B2-FC09-43D7289FA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639DB1-D865-8533-743A-8B6C6B74EB12}"/>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6" name="Footer Placeholder 5">
            <a:extLst>
              <a:ext uri="{FF2B5EF4-FFF2-40B4-BE49-F238E27FC236}">
                <a16:creationId xmlns:a16="http://schemas.microsoft.com/office/drawing/2014/main" id="{30716683-29F0-E025-6FE2-691960EC0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0BD2BE-4521-FBD0-FDE3-196398F23DCE}"/>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2006079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8536-A9D4-EAD5-6779-5B01D2AAFC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EA0AD7-16E1-46D4-E56E-074D5A7CF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FEA054-EC5B-0C28-8E0E-380A33E77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0FC683-EA69-10E0-B2CE-AFC6D4CDF1F0}"/>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6" name="Footer Placeholder 5">
            <a:extLst>
              <a:ext uri="{FF2B5EF4-FFF2-40B4-BE49-F238E27FC236}">
                <a16:creationId xmlns:a16="http://schemas.microsoft.com/office/drawing/2014/main" id="{E79C798D-C7A2-2B17-51B0-E030C42D6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54CF42-7D1F-0C34-A560-1D59D4BF3B57}"/>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2484777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7A00F-5903-38D5-DD61-5431B394B6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2E6D61-C664-0270-2475-C55CD3F536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02D9A8-491A-6068-181F-5297828405BE}"/>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B01B6248-6C4B-0E80-9E69-C33F373BC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699A17-2FA8-7784-6B8D-1DA355589B42}"/>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294001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AE2CE5-36D0-58C6-6ADB-41A55986E6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8D0656-BF5B-7C58-8DD5-65AFAB9983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8ACD76-6557-E681-ED8B-C6F49584C8D3}"/>
              </a:ext>
            </a:extLst>
          </p:cNvPr>
          <p:cNvSpPr>
            <a:spLocks noGrp="1"/>
          </p:cNvSpPr>
          <p:nvPr>
            <p:ph type="dt" sz="half" idx="10"/>
          </p:nvPr>
        </p:nvSpPr>
        <p:spPr/>
        <p:txBody>
          <a:body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ED50796A-7F91-43C7-7314-1407D415B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71D84-4289-393B-2B7D-6E28AB313614}"/>
              </a:ext>
            </a:extLst>
          </p:cNvPr>
          <p:cNvSpPr>
            <a:spLocks noGrp="1"/>
          </p:cNvSpPr>
          <p:nvPr>
            <p:ph type="sldNum" sz="quarter" idx="12"/>
          </p:nvPr>
        </p:nvSpPr>
        <p:spPr/>
        <p:txBody>
          <a:bodyPr/>
          <a:lstStyle/>
          <a:p>
            <a:fld id="{41A13AEC-6233-4F81-A0C0-F3667D4F885A}" type="slidenum">
              <a:rPr lang="en-US" smtClean="0"/>
              <a:t>‹#›</a:t>
            </a:fld>
            <a:endParaRPr lang="en-US"/>
          </a:p>
        </p:txBody>
      </p:sp>
    </p:spTree>
    <p:extLst>
      <p:ext uri="{BB962C8B-B14F-4D97-AF65-F5344CB8AC3E}">
        <p14:creationId xmlns:p14="http://schemas.microsoft.com/office/powerpoint/2010/main" val="364800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077237-CBAB-F308-56BF-644BCAD53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3A858C-45C6-6B1C-33DA-A3304DB74A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16006-8AC3-F00B-5FC9-B926B41350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B96C1B-6E6B-4A00-9F4B-9F9F7D3DD009}" type="datetimeFigureOut">
              <a:rPr lang="en-US" smtClean="0"/>
              <a:t>4/9/2026</a:t>
            </a:fld>
            <a:endParaRPr lang="en-US"/>
          </a:p>
        </p:txBody>
      </p:sp>
      <p:sp>
        <p:nvSpPr>
          <p:cNvPr id="5" name="Footer Placeholder 4">
            <a:extLst>
              <a:ext uri="{FF2B5EF4-FFF2-40B4-BE49-F238E27FC236}">
                <a16:creationId xmlns:a16="http://schemas.microsoft.com/office/drawing/2014/main" id="{2C1EAD18-32AC-E886-2797-56C666800D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415F80-987A-FB82-65C1-3D2F13800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A13AEC-6233-4F81-A0C0-F3667D4F885A}" type="slidenum">
              <a:rPr lang="en-US" smtClean="0"/>
              <a:t>‹#›</a:t>
            </a:fld>
            <a:endParaRPr lang="en-US"/>
          </a:p>
        </p:txBody>
      </p:sp>
    </p:spTree>
    <p:extLst>
      <p:ext uri="{BB962C8B-B14F-4D97-AF65-F5344CB8AC3E}">
        <p14:creationId xmlns:p14="http://schemas.microsoft.com/office/powerpoint/2010/main" val="3067730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media" Target="../media/media3.mp4"/><Relationship Id="rId7" Type="http://schemas.openxmlformats.org/officeDocument/2006/relationships/image" Target="../media/image23.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video" Target="../media/media3.mp4"/></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7F95B-FC43-0962-6760-4B43765432C0}"/>
              </a:ext>
            </a:extLst>
          </p:cNvPr>
          <p:cNvSpPr>
            <a:spLocks noGrp="1"/>
          </p:cNvSpPr>
          <p:nvPr>
            <p:ph type="ctrTitle"/>
          </p:nvPr>
        </p:nvSpPr>
        <p:spPr/>
        <p:txBody>
          <a:bodyPr/>
          <a:lstStyle/>
          <a:p>
            <a:r>
              <a:rPr lang="en-US" dirty="0"/>
              <a:t>Technical Presentation – Paintball Turret </a:t>
            </a:r>
          </a:p>
        </p:txBody>
      </p:sp>
      <p:sp>
        <p:nvSpPr>
          <p:cNvPr id="4" name="Subtitle 2">
            <a:extLst>
              <a:ext uri="{FF2B5EF4-FFF2-40B4-BE49-F238E27FC236}">
                <a16:creationId xmlns:a16="http://schemas.microsoft.com/office/drawing/2014/main" id="{0D04862F-2C51-003C-DAAA-497F2CEC56E2}"/>
              </a:ext>
            </a:extLst>
          </p:cNvPr>
          <p:cNvSpPr>
            <a:spLocks noGrp="1"/>
          </p:cNvSpPr>
          <p:nvPr/>
        </p:nvSpPr>
        <p:spPr>
          <a:xfrm>
            <a:off x="2895600" y="3702204"/>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dirty="0"/>
              <a:t>Harrison Lanfrank – Mechanical Design Engineering</a:t>
            </a:r>
            <a:endParaRPr lang="en-US" dirty="0"/>
          </a:p>
        </p:txBody>
      </p:sp>
    </p:spTree>
    <p:extLst>
      <p:ext uri="{BB962C8B-B14F-4D97-AF65-F5344CB8AC3E}">
        <p14:creationId xmlns:p14="http://schemas.microsoft.com/office/powerpoint/2010/main" val="2702185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245BA8-070B-DEBD-8296-05C094F9ADE8}"/>
              </a:ext>
            </a:extLst>
          </p:cNvPr>
          <p:cNvSpPr txBox="1"/>
          <p:nvPr/>
        </p:nvSpPr>
        <p:spPr>
          <a:xfrm>
            <a:off x="175098" y="184826"/>
            <a:ext cx="2247089" cy="646331"/>
          </a:xfrm>
          <a:prstGeom prst="rect">
            <a:avLst/>
          </a:prstGeom>
          <a:noFill/>
        </p:spPr>
        <p:txBody>
          <a:bodyPr wrap="square" rtlCol="0">
            <a:spAutoFit/>
          </a:bodyPr>
          <a:lstStyle/>
          <a:p>
            <a:r>
              <a:rPr lang="en-US" b="1" dirty="0"/>
              <a:t>Project Overview </a:t>
            </a:r>
          </a:p>
          <a:p>
            <a:endParaRPr lang="en-US" b="1" dirty="0"/>
          </a:p>
        </p:txBody>
      </p:sp>
      <p:grpSp>
        <p:nvGrpSpPr>
          <p:cNvPr id="48" name="Group 47">
            <a:extLst>
              <a:ext uri="{FF2B5EF4-FFF2-40B4-BE49-F238E27FC236}">
                <a16:creationId xmlns:a16="http://schemas.microsoft.com/office/drawing/2014/main" id="{A7D3E55F-611C-3FEE-801B-7F09143552FE}"/>
              </a:ext>
            </a:extLst>
          </p:cNvPr>
          <p:cNvGrpSpPr/>
          <p:nvPr/>
        </p:nvGrpSpPr>
        <p:grpSpPr>
          <a:xfrm>
            <a:off x="9313842" y="776863"/>
            <a:ext cx="2609850" cy="3430685"/>
            <a:chOff x="9206882" y="3055693"/>
            <a:chExt cx="2609850" cy="3430685"/>
          </a:xfrm>
        </p:grpSpPr>
        <p:pic>
          <p:nvPicPr>
            <p:cNvPr id="1026" name="Picture 2" descr="Robotic Paintball Sentry | RobotShop Community">
              <a:extLst>
                <a:ext uri="{FF2B5EF4-FFF2-40B4-BE49-F238E27FC236}">
                  <a16:creationId xmlns:a16="http://schemas.microsoft.com/office/drawing/2014/main" id="{DBF81617-9D0E-AF85-32A4-73BD48BDA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6882" y="3390753"/>
              <a:ext cx="2609850" cy="3095625"/>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96D5F2E6-B73C-6AB1-591B-1DB80536FD9D}"/>
                </a:ext>
              </a:extLst>
            </p:cNvPr>
            <p:cNvSpPr txBox="1"/>
            <p:nvPr/>
          </p:nvSpPr>
          <p:spPr>
            <a:xfrm>
              <a:off x="9241277" y="3055693"/>
              <a:ext cx="1079770" cy="261610"/>
            </a:xfrm>
            <a:prstGeom prst="rect">
              <a:avLst/>
            </a:prstGeom>
            <a:noFill/>
          </p:spPr>
          <p:txBody>
            <a:bodyPr wrap="square" rtlCol="0">
              <a:spAutoFit/>
            </a:bodyPr>
            <a:lstStyle/>
            <a:p>
              <a:r>
                <a:rPr lang="en-US" sz="1050" dirty="0"/>
                <a:t>Example</a:t>
              </a:r>
            </a:p>
          </p:txBody>
        </p:sp>
      </p:grpSp>
      <p:grpSp>
        <p:nvGrpSpPr>
          <p:cNvPr id="12" name="Group 11">
            <a:extLst>
              <a:ext uri="{FF2B5EF4-FFF2-40B4-BE49-F238E27FC236}">
                <a16:creationId xmlns:a16="http://schemas.microsoft.com/office/drawing/2014/main" id="{DBADE7E3-0460-EF2B-BBBB-2FFF1E8FE6FB}"/>
              </a:ext>
            </a:extLst>
          </p:cNvPr>
          <p:cNvGrpSpPr/>
          <p:nvPr/>
        </p:nvGrpSpPr>
        <p:grpSpPr>
          <a:xfrm>
            <a:off x="1678558" y="680780"/>
            <a:ext cx="7188443" cy="4330324"/>
            <a:chOff x="933305" y="622820"/>
            <a:chExt cx="7188443" cy="4330324"/>
          </a:xfrm>
        </p:grpSpPr>
        <p:grpSp>
          <p:nvGrpSpPr>
            <p:cNvPr id="46" name="Group 45">
              <a:extLst>
                <a:ext uri="{FF2B5EF4-FFF2-40B4-BE49-F238E27FC236}">
                  <a16:creationId xmlns:a16="http://schemas.microsoft.com/office/drawing/2014/main" id="{BF01DD6E-6975-426F-107A-782B21C3DF05}"/>
                </a:ext>
              </a:extLst>
            </p:cNvPr>
            <p:cNvGrpSpPr/>
            <p:nvPr/>
          </p:nvGrpSpPr>
          <p:grpSpPr>
            <a:xfrm>
              <a:off x="933305" y="622820"/>
              <a:ext cx="7188443" cy="4330324"/>
              <a:chOff x="2422187" y="528126"/>
              <a:chExt cx="7188443" cy="4330324"/>
            </a:xfrm>
          </p:grpSpPr>
          <p:sp>
            <p:nvSpPr>
              <p:cNvPr id="34" name="TextBox 33">
                <a:extLst>
                  <a:ext uri="{FF2B5EF4-FFF2-40B4-BE49-F238E27FC236}">
                    <a16:creationId xmlns:a16="http://schemas.microsoft.com/office/drawing/2014/main" id="{F0A53CA1-39E3-219F-DA60-4799B7CCCA7E}"/>
                  </a:ext>
                </a:extLst>
              </p:cNvPr>
              <p:cNvSpPr txBox="1"/>
              <p:nvPr/>
            </p:nvSpPr>
            <p:spPr>
              <a:xfrm>
                <a:off x="5273039" y="1490753"/>
                <a:ext cx="1645919" cy="369332"/>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Camera</a:t>
                </a:r>
              </a:p>
            </p:txBody>
          </p:sp>
          <p:grpSp>
            <p:nvGrpSpPr>
              <p:cNvPr id="45" name="Group 44">
                <a:extLst>
                  <a:ext uri="{FF2B5EF4-FFF2-40B4-BE49-F238E27FC236}">
                    <a16:creationId xmlns:a16="http://schemas.microsoft.com/office/drawing/2014/main" id="{AF6AFF41-41AA-0BC4-0789-CC7BBEF84EFD}"/>
                  </a:ext>
                </a:extLst>
              </p:cNvPr>
              <p:cNvGrpSpPr/>
              <p:nvPr/>
            </p:nvGrpSpPr>
            <p:grpSpPr>
              <a:xfrm>
                <a:off x="2422187" y="528126"/>
                <a:ext cx="7188443" cy="4330324"/>
                <a:chOff x="2422187" y="519499"/>
                <a:chExt cx="7188443" cy="4330324"/>
              </a:xfrm>
            </p:grpSpPr>
            <p:grpSp>
              <p:nvGrpSpPr>
                <p:cNvPr id="29" name="Group 28">
                  <a:extLst>
                    <a:ext uri="{FF2B5EF4-FFF2-40B4-BE49-F238E27FC236}">
                      <a16:creationId xmlns:a16="http://schemas.microsoft.com/office/drawing/2014/main" id="{2617B28D-F136-CAAA-EB5F-2FA3C91104C2}"/>
                    </a:ext>
                  </a:extLst>
                </p:cNvPr>
                <p:cNvGrpSpPr/>
                <p:nvPr/>
              </p:nvGrpSpPr>
              <p:grpSpPr>
                <a:xfrm>
                  <a:off x="2581366" y="519499"/>
                  <a:ext cx="7029264" cy="4330324"/>
                  <a:chOff x="609289" y="33356"/>
                  <a:chExt cx="7029264" cy="4330324"/>
                </a:xfrm>
              </p:grpSpPr>
              <p:sp>
                <p:nvSpPr>
                  <p:cNvPr id="3" name="TextBox 2">
                    <a:extLst>
                      <a:ext uri="{FF2B5EF4-FFF2-40B4-BE49-F238E27FC236}">
                        <a16:creationId xmlns:a16="http://schemas.microsoft.com/office/drawing/2014/main" id="{A4B9C8CA-156A-B285-6CFA-D5904F701652}"/>
                      </a:ext>
                    </a:extLst>
                  </p:cNvPr>
                  <p:cNvSpPr txBox="1"/>
                  <p:nvPr/>
                </p:nvSpPr>
                <p:spPr>
                  <a:xfrm>
                    <a:off x="3000374" y="33356"/>
                    <a:ext cx="224708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Paintball turret system </a:t>
                    </a:r>
                  </a:p>
                </p:txBody>
              </p:sp>
              <p:cxnSp>
                <p:nvCxnSpPr>
                  <p:cNvPr id="5" name="Straight Arrow Connector 4">
                    <a:extLst>
                      <a:ext uri="{FF2B5EF4-FFF2-40B4-BE49-F238E27FC236}">
                        <a16:creationId xmlns:a16="http://schemas.microsoft.com/office/drawing/2014/main" id="{40D21258-B7A0-6AAC-22D9-A6B37E658F1F}"/>
                      </a:ext>
                    </a:extLst>
                  </p:cNvPr>
                  <p:cNvCxnSpPr>
                    <a:cxnSpLocks/>
                    <a:stCxn id="34" idx="2"/>
                    <a:endCxn id="6" idx="0"/>
                  </p:cNvCxnSpPr>
                  <p:nvPr/>
                </p:nvCxnSpPr>
                <p:spPr>
                  <a:xfrm flipH="1">
                    <a:off x="1515738" y="1523654"/>
                    <a:ext cx="2608182" cy="80870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 name="TextBox 5">
                    <a:extLst>
                      <a:ext uri="{FF2B5EF4-FFF2-40B4-BE49-F238E27FC236}">
                        <a16:creationId xmlns:a16="http://schemas.microsoft.com/office/drawing/2014/main" id="{BAA1185C-78E0-B4F5-4844-2F4A55F25FF2}"/>
                      </a:ext>
                    </a:extLst>
                  </p:cNvPr>
                  <p:cNvSpPr txBox="1"/>
                  <p:nvPr/>
                </p:nvSpPr>
                <p:spPr>
                  <a:xfrm>
                    <a:off x="609289" y="2332355"/>
                    <a:ext cx="1812898" cy="2031325"/>
                  </a:xfrm>
                  <a:prstGeom prst="rect">
                    <a:avLst/>
                  </a:prstGeom>
                  <a:ln w="28575"/>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a:t>Yaw </a:t>
                    </a:r>
                  </a:p>
                  <a:p>
                    <a:pPr algn="ctr"/>
                    <a:r>
                      <a:rPr lang="en-US" dirty="0"/>
                      <a:t>Stepper motor driven gearbox to function as base of the unit and provide 360 deg rotation</a:t>
                    </a:r>
                  </a:p>
                </p:txBody>
              </p:sp>
              <p:sp>
                <p:nvSpPr>
                  <p:cNvPr id="7" name="TextBox 6">
                    <a:extLst>
                      <a:ext uri="{FF2B5EF4-FFF2-40B4-BE49-F238E27FC236}">
                        <a16:creationId xmlns:a16="http://schemas.microsoft.com/office/drawing/2014/main" id="{1482707E-69FF-12C7-AEEF-B55EB8F4C147}"/>
                      </a:ext>
                    </a:extLst>
                  </p:cNvPr>
                  <p:cNvSpPr txBox="1"/>
                  <p:nvPr/>
                </p:nvSpPr>
                <p:spPr>
                  <a:xfrm>
                    <a:off x="3217470" y="2466229"/>
                    <a:ext cx="1812898" cy="147732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Pitch</a:t>
                    </a:r>
                  </a:p>
                  <a:p>
                    <a:pPr algn="ctr"/>
                    <a:r>
                      <a:rPr lang="en-US" dirty="0"/>
                      <a:t>Stepper motor direct drive  for 45 degrees of pitch control</a:t>
                    </a:r>
                  </a:p>
                </p:txBody>
              </p:sp>
              <p:sp>
                <p:nvSpPr>
                  <p:cNvPr id="8" name="TextBox 7">
                    <a:extLst>
                      <a:ext uri="{FF2B5EF4-FFF2-40B4-BE49-F238E27FC236}">
                        <a16:creationId xmlns:a16="http://schemas.microsoft.com/office/drawing/2014/main" id="{48358B08-824A-850A-EB2E-65D4F2595B6E}"/>
                      </a:ext>
                    </a:extLst>
                  </p:cNvPr>
                  <p:cNvSpPr txBox="1"/>
                  <p:nvPr/>
                </p:nvSpPr>
                <p:spPr>
                  <a:xfrm>
                    <a:off x="5825655" y="2317777"/>
                    <a:ext cx="1812898" cy="2031325"/>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Firing mechanism</a:t>
                    </a:r>
                  </a:p>
                  <a:p>
                    <a:r>
                      <a:rPr lang="en-US" dirty="0"/>
                      <a:t>Use gutted paintball marker to as firing mechanism</a:t>
                    </a:r>
                  </a:p>
                  <a:p>
                    <a:endParaRPr lang="en-US" dirty="0"/>
                  </a:p>
                </p:txBody>
              </p:sp>
              <p:cxnSp>
                <p:nvCxnSpPr>
                  <p:cNvPr id="9" name="Straight Arrow Connector 8">
                    <a:extLst>
                      <a:ext uri="{FF2B5EF4-FFF2-40B4-BE49-F238E27FC236}">
                        <a16:creationId xmlns:a16="http://schemas.microsoft.com/office/drawing/2014/main" id="{2C8FAA27-5EA9-5F6B-22E9-AD7AA5DAFAC5}"/>
                      </a:ext>
                    </a:extLst>
                  </p:cNvPr>
                  <p:cNvCxnSpPr>
                    <a:cxnSpLocks/>
                    <a:stCxn id="34" idx="2"/>
                    <a:endCxn id="7" idx="0"/>
                  </p:cNvCxnSpPr>
                  <p:nvPr/>
                </p:nvCxnSpPr>
                <p:spPr>
                  <a:xfrm flipH="1">
                    <a:off x="4123919" y="1523654"/>
                    <a:ext cx="1" cy="94257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3" name="Straight Arrow Connector 12">
                    <a:extLst>
                      <a:ext uri="{FF2B5EF4-FFF2-40B4-BE49-F238E27FC236}">
                        <a16:creationId xmlns:a16="http://schemas.microsoft.com/office/drawing/2014/main" id="{8C9B7AE5-6950-90C6-28CD-4879680F4F3D}"/>
                      </a:ext>
                    </a:extLst>
                  </p:cNvPr>
                  <p:cNvCxnSpPr>
                    <a:cxnSpLocks/>
                    <a:stCxn id="34" idx="2"/>
                    <a:endCxn id="8" idx="0"/>
                  </p:cNvCxnSpPr>
                  <p:nvPr/>
                </p:nvCxnSpPr>
                <p:spPr>
                  <a:xfrm>
                    <a:off x="4123920" y="1523654"/>
                    <a:ext cx="2608184" cy="79412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grpSp>
            <p:sp>
              <p:nvSpPr>
                <p:cNvPr id="35" name="TextBox 34">
                  <a:extLst>
                    <a:ext uri="{FF2B5EF4-FFF2-40B4-BE49-F238E27FC236}">
                      <a16:creationId xmlns:a16="http://schemas.microsoft.com/office/drawing/2014/main" id="{11DAD704-7EDE-FEF5-8205-DCE65777F935}"/>
                    </a:ext>
                  </a:extLst>
                </p:cNvPr>
                <p:cNvSpPr txBox="1"/>
                <p:nvPr/>
              </p:nvSpPr>
              <p:spPr>
                <a:xfrm>
                  <a:off x="2422187" y="1352253"/>
                  <a:ext cx="1812898" cy="646331"/>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Environmental Inputs</a:t>
                  </a:r>
                </a:p>
              </p:txBody>
            </p:sp>
            <p:cxnSp>
              <p:nvCxnSpPr>
                <p:cNvPr id="37" name="Straight Arrow Connector 36">
                  <a:extLst>
                    <a:ext uri="{FF2B5EF4-FFF2-40B4-BE49-F238E27FC236}">
                      <a16:creationId xmlns:a16="http://schemas.microsoft.com/office/drawing/2014/main" id="{6BABA0D1-7DC5-F128-E3D5-D9A97A7429AA}"/>
                    </a:ext>
                  </a:extLst>
                </p:cNvPr>
                <p:cNvCxnSpPr>
                  <a:stCxn id="35" idx="3"/>
                  <a:endCxn id="34" idx="1"/>
                </p:cNvCxnSpPr>
                <p:nvPr/>
              </p:nvCxnSpPr>
              <p:spPr>
                <a:xfrm>
                  <a:off x="4235085" y="1675419"/>
                  <a:ext cx="1037954"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grpSp>
        </p:grpSp>
        <p:cxnSp>
          <p:nvCxnSpPr>
            <p:cNvPr id="4" name="Straight Arrow Connector 3">
              <a:extLst>
                <a:ext uri="{FF2B5EF4-FFF2-40B4-BE49-F238E27FC236}">
                  <a16:creationId xmlns:a16="http://schemas.microsoft.com/office/drawing/2014/main" id="{C9357545-D385-5292-7E53-614D92EB5904}"/>
                </a:ext>
              </a:extLst>
            </p:cNvPr>
            <p:cNvCxnSpPr>
              <a:cxnSpLocks/>
              <a:stCxn id="3" idx="2"/>
              <a:endCxn id="34" idx="0"/>
            </p:cNvCxnSpPr>
            <p:nvPr/>
          </p:nvCxnSpPr>
          <p:spPr>
            <a:xfrm>
              <a:off x="4607114" y="1269151"/>
              <a:ext cx="3" cy="316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313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8E38F2-B0F0-8D62-C696-60BB49A42109}"/>
              </a:ext>
            </a:extLst>
          </p:cNvPr>
          <p:cNvSpPr txBox="1"/>
          <p:nvPr/>
        </p:nvSpPr>
        <p:spPr>
          <a:xfrm>
            <a:off x="71560" y="63565"/>
            <a:ext cx="2345635" cy="461665"/>
          </a:xfrm>
          <a:prstGeom prst="rect">
            <a:avLst/>
          </a:prstGeom>
          <a:noFill/>
        </p:spPr>
        <p:txBody>
          <a:bodyPr wrap="square" rtlCol="0">
            <a:spAutoFit/>
          </a:bodyPr>
          <a:lstStyle/>
          <a:p>
            <a:r>
              <a:rPr lang="en-US" sz="2400" b="1" dirty="0"/>
              <a:t>Design Targets</a:t>
            </a:r>
          </a:p>
        </p:txBody>
      </p:sp>
      <p:graphicFrame>
        <p:nvGraphicFramePr>
          <p:cNvPr id="4" name="Table 3">
            <a:extLst>
              <a:ext uri="{FF2B5EF4-FFF2-40B4-BE49-F238E27FC236}">
                <a16:creationId xmlns:a16="http://schemas.microsoft.com/office/drawing/2014/main" id="{460C3DDD-672A-E509-32EA-A7895D639F0A}"/>
              </a:ext>
            </a:extLst>
          </p:cNvPr>
          <p:cNvGraphicFramePr>
            <a:graphicFrameLocks noGrp="1"/>
          </p:cNvGraphicFramePr>
          <p:nvPr>
            <p:extLst>
              <p:ext uri="{D42A27DB-BD31-4B8C-83A1-F6EECF244321}">
                <p14:modId xmlns:p14="http://schemas.microsoft.com/office/powerpoint/2010/main" val="2286375646"/>
              </p:ext>
            </p:extLst>
          </p:nvPr>
        </p:nvGraphicFramePr>
        <p:xfrm>
          <a:off x="222052" y="1005404"/>
          <a:ext cx="10920429" cy="1767308"/>
        </p:xfrm>
        <a:graphic>
          <a:graphicData uri="http://schemas.openxmlformats.org/drawingml/2006/table">
            <a:tbl>
              <a:tblPr firstRow="1" bandRow="1">
                <a:tableStyleId>{5C22544A-7EE6-4342-B048-85BDC9FD1C3A}</a:tableStyleId>
              </a:tblPr>
              <a:tblGrid>
                <a:gridCol w="3640143">
                  <a:extLst>
                    <a:ext uri="{9D8B030D-6E8A-4147-A177-3AD203B41FA5}">
                      <a16:colId xmlns:a16="http://schemas.microsoft.com/office/drawing/2014/main" val="151899977"/>
                    </a:ext>
                  </a:extLst>
                </a:gridCol>
                <a:gridCol w="3640143">
                  <a:extLst>
                    <a:ext uri="{9D8B030D-6E8A-4147-A177-3AD203B41FA5}">
                      <a16:colId xmlns:a16="http://schemas.microsoft.com/office/drawing/2014/main" val="2318818656"/>
                    </a:ext>
                  </a:extLst>
                </a:gridCol>
                <a:gridCol w="3640143">
                  <a:extLst>
                    <a:ext uri="{9D8B030D-6E8A-4147-A177-3AD203B41FA5}">
                      <a16:colId xmlns:a16="http://schemas.microsoft.com/office/drawing/2014/main" val="4210144577"/>
                    </a:ext>
                  </a:extLst>
                </a:gridCol>
              </a:tblGrid>
              <a:tr h="441827">
                <a:tc>
                  <a:txBody>
                    <a:bodyPr/>
                    <a:lstStyle/>
                    <a:p>
                      <a:r>
                        <a:rPr lang="en-US" sz="1800" dirty="0"/>
                        <a:t>Metric</a:t>
                      </a:r>
                    </a:p>
                  </a:txBody>
                  <a:tcPr anchor="ctr"/>
                </a:tc>
                <a:tc>
                  <a:txBody>
                    <a:bodyPr/>
                    <a:lstStyle/>
                    <a:p>
                      <a:r>
                        <a:rPr lang="en-US" sz="1800" dirty="0"/>
                        <a:t>Target Value</a:t>
                      </a:r>
                    </a:p>
                  </a:txBody>
                  <a:tcPr anchor="ctr"/>
                </a:tc>
                <a:tc>
                  <a:txBody>
                    <a:bodyPr/>
                    <a:lstStyle/>
                    <a:p>
                      <a:r>
                        <a:rPr lang="en-US" sz="1800"/>
                        <a:t>Notes</a:t>
                      </a:r>
                    </a:p>
                  </a:txBody>
                  <a:tcPr anchor="ctr"/>
                </a:tc>
                <a:extLst>
                  <a:ext uri="{0D108BD9-81ED-4DB2-BD59-A6C34878D82A}">
                    <a16:rowId xmlns:a16="http://schemas.microsoft.com/office/drawing/2014/main" val="3439076358"/>
                  </a:ext>
                </a:extLst>
              </a:tr>
              <a:tr h="441827">
                <a:tc>
                  <a:txBody>
                    <a:bodyPr/>
                    <a:lstStyle/>
                    <a:p>
                      <a:r>
                        <a:rPr lang="en-US" sz="1800" b="1" dirty="0"/>
                        <a:t>Angular Accuracy</a:t>
                      </a:r>
                      <a:endParaRPr lang="en-US" sz="1800" dirty="0"/>
                    </a:p>
                  </a:txBody>
                  <a:tcPr anchor="ctr"/>
                </a:tc>
                <a:tc>
                  <a:txBody>
                    <a:bodyPr/>
                    <a:lstStyle/>
                    <a:p>
                      <a:r>
                        <a:rPr lang="en-US" sz="1800" dirty="0"/>
                        <a:t>±1.0°</a:t>
                      </a:r>
                    </a:p>
                  </a:txBody>
                  <a:tcPr anchor="ctr"/>
                </a:tc>
                <a:tc>
                  <a:txBody>
                    <a:bodyPr/>
                    <a:lstStyle/>
                    <a:p>
                      <a:r>
                        <a:rPr lang="en-US" sz="1800" dirty="0"/>
                        <a:t>Ensures reliable torso-sized hits</a:t>
                      </a:r>
                    </a:p>
                  </a:txBody>
                  <a:tcPr anchor="ctr"/>
                </a:tc>
                <a:extLst>
                  <a:ext uri="{0D108BD9-81ED-4DB2-BD59-A6C34878D82A}">
                    <a16:rowId xmlns:a16="http://schemas.microsoft.com/office/drawing/2014/main" val="1162909742"/>
                  </a:ext>
                </a:extLst>
              </a:tr>
              <a:tr h="441827">
                <a:tc>
                  <a:txBody>
                    <a:bodyPr/>
                    <a:lstStyle/>
                    <a:p>
                      <a:r>
                        <a:rPr lang="en-US" sz="1800" b="1" dirty="0"/>
                        <a:t>Positional Error @ 5m</a:t>
                      </a:r>
                      <a:endParaRPr lang="en-US" sz="1800" dirty="0"/>
                    </a:p>
                  </a:txBody>
                  <a:tcPr anchor="ctr"/>
                </a:tc>
                <a:tc>
                  <a:txBody>
                    <a:bodyPr/>
                    <a:lstStyle/>
                    <a:p>
                      <a:r>
                        <a:rPr lang="en-US" sz="1800" dirty="0"/>
                        <a:t>≤8.7 cm</a:t>
                      </a:r>
                    </a:p>
                  </a:txBody>
                  <a:tcPr anchor="ctr"/>
                </a:tc>
                <a:tc>
                  <a:txBody>
                    <a:bodyPr/>
                    <a:lstStyle/>
                    <a:p>
                      <a:r>
                        <a:rPr lang="en-US" sz="1800"/>
                        <a:t>Equivalent to ±1.0° at 5 meters</a:t>
                      </a:r>
                    </a:p>
                  </a:txBody>
                  <a:tcPr anchor="ctr"/>
                </a:tc>
                <a:extLst>
                  <a:ext uri="{0D108BD9-81ED-4DB2-BD59-A6C34878D82A}">
                    <a16:rowId xmlns:a16="http://schemas.microsoft.com/office/drawing/2014/main" val="3913018410"/>
                  </a:ext>
                </a:extLst>
              </a:tr>
              <a:tr h="441827">
                <a:tc>
                  <a:txBody>
                    <a:bodyPr/>
                    <a:lstStyle/>
                    <a:p>
                      <a:r>
                        <a:rPr lang="en-US" sz="1800" b="1"/>
                        <a:t>Repeatability</a:t>
                      </a:r>
                      <a:endParaRPr lang="en-US" sz="1800"/>
                    </a:p>
                  </a:txBody>
                  <a:tcPr anchor="ctr"/>
                </a:tc>
                <a:tc>
                  <a:txBody>
                    <a:bodyPr/>
                    <a:lstStyle/>
                    <a:p>
                      <a:r>
                        <a:rPr lang="en-US" sz="1800" dirty="0"/>
                        <a:t>Consistent return to set angles</a:t>
                      </a:r>
                    </a:p>
                  </a:txBody>
                  <a:tcPr anchor="ctr"/>
                </a:tc>
                <a:tc>
                  <a:txBody>
                    <a:bodyPr/>
                    <a:lstStyle/>
                    <a:p>
                      <a:r>
                        <a:rPr lang="en-US" sz="1800" dirty="0"/>
                        <a:t>Essential for calibration</a:t>
                      </a:r>
                    </a:p>
                  </a:txBody>
                  <a:tcPr anchor="ctr"/>
                </a:tc>
                <a:extLst>
                  <a:ext uri="{0D108BD9-81ED-4DB2-BD59-A6C34878D82A}">
                    <a16:rowId xmlns:a16="http://schemas.microsoft.com/office/drawing/2014/main" val="2806692894"/>
                  </a:ext>
                </a:extLst>
              </a:tr>
            </a:tbl>
          </a:graphicData>
        </a:graphic>
      </p:graphicFrame>
      <p:sp>
        <p:nvSpPr>
          <p:cNvPr id="5" name="TextBox 4">
            <a:extLst>
              <a:ext uri="{FF2B5EF4-FFF2-40B4-BE49-F238E27FC236}">
                <a16:creationId xmlns:a16="http://schemas.microsoft.com/office/drawing/2014/main" id="{F6A04FA7-3AA7-81EC-3E12-F0C8EFCB92DC}"/>
              </a:ext>
            </a:extLst>
          </p:cNvPr>
          <p:cNvSpPr txBox="1"/>
          <p:nvPr/>
        </p:nvSpPr>
        <p:spPr>
          <a:xfrm>
            <a:off x="222052" y="3643462"/>
            <a:ext cx="2345635" cy="338554"/>
          </a:xfrm>
          <a:prstGeom prst="rect">
            <a:avLst/>
          </a:prstGeom>
          <a:noFill/>
        </p:spPr>
        <p:txBody>
          <a:bodyPr wrap="square" rtlCol="0">
            <a:spAutoFit/>
          </a:bodyPr>
          <a:lstStyle/>
          <a:p>
            <a:r>
              <a:rPr lang="en-US" sz="1600" b="1" i="1" dirty="0"/>
              <a:t>Motion Speed </a:t>
            </a:r>
          </a:p>
        </p:txBody>
      </p:sp>
      <p:graphicFrame>
        <p:nvGraphicFramePr>
          <p:cNvPr id="7" name="Table 6">
            <a:extLst>
              <a:ext uri="{FF2B5EF4-FFF2-40B4-BE49-F238E27FC236}">
                <a16:creationId xmlns:a16="http://schemas.microsoft.com/office/drawing/2014/main" id="{6C759891-FDDD-C49C-9A83-E9FEFA93726A}"/>
              </a:ext>
            </a:extLst>
          </p:cNvPr>
          <p:cNvGraphicFramePr>
            <a:graphicFrameLocks noGrp="1"/>
          </p:cNvGraphicFramePr>
          <p:nvPr>
            <p:extLst>
              <p:ext uri="{D42A27DB-BD31-4B8C-83A1-F6EECF244321}">
                <p14:modId xmlns:p14="http://schemas.microsoft.com/office/powerpoint/2010/main" val="303088686"/>
              </p:ext>
            </p:extLst>
          </p:nvPr>
        </p:nvGraphicFramePr>
        <p:xfrm>
          <a:off x="222052" y="3982016"/>
          <a:ext cx="5075814" cy="2473960"/>
        </p:xfrm>
        <a:graphic>
          <a:graphicData uri="http://schemas.openxmlformats.org/drawingml/2006/table">
            <a:tbl>
              <a:tblPr firstRow="1" bandRow="1">
                <a:tableStyleId>{5C22544A-7EE6-4342-B048-85BDC9FD1C3A}</a:tableStyleId>
              </a:tblPr>
              <a:tblGrid>
                <a:gridCol w="1691938">
                  <a:extLst>
                    <a:ext uri="{9D8B030D-6E8A-4147-A177-3AD203B41FA5}">
                      <a16:colId xmlns:a16="http://schemas.microsoft.com/office/drawing/2014/main" val="882174078"/>
                    </a:ext>
                  </a:extLst>
                </a:gridCol>
                <a:gridCol w="1691938">
                  <a:extLst>
                    <a:ext uri="{9D8B030D-6E8A-4147-A177-3AD203B41FA5}">
                      <a16:colId xmlns:a16="http://schemas.microsoft.com/office/drawing/2014/main" val="3122395563"/>
                    </a:ext>
                  </a:extLst>
                </a:gridCol>
                <a:gridCol w="1691938">
                  <a:extLst>
                    <a:ext uri="{9D8B030D-6E8A-4147-A177-3AD203B41FA5}">
                      <a16:colId xmlns:a16="http://schemas.microsoft.com/office/drawing/2014/main" val="1429968991"/>
                    </a:ext>
                  </a:extLst>
                </a:gridCol>
              </a:tblGrid>
              <a:tr h="370840">
                <a:tc>
                  <a:txBody>
                    <a:bodyPr/>
                    <a:lstStyle/>
                    <a:p>
                      <a:r>
                        <a:rPr lang="en-US" sz="1800" b="1" dirty="0"/>
                        <a:t>Axis</a:t>
                      </a:r>
                    </a:p>
                  </a:txBody>
                  <a:tcPr anchor="ctr"/>
                </a:tc>
                <a:tc>
                  <a:txBody>
                    <a:bodyPr/>
                    <a:lstStyle/>
                    <a:p>
                      <a:r>
                        <a:rPr lang="en-US" sz="1800" b="1" dirty="0"/>
                        <a:t>Target Speed</a:t>
                      </a:r>
                    </a:p>
                  </a:txBody>
                  <a:tcPr anchor="ctr"/>
                </a:tc>
                <a:tc>
                  <a:txBody>
                    <a:bodyPr/>
                    <a:lstStyle/>
                    <a:p>
                      <a:r>
                        <a:rPr lang="en-US" sz="1800" b="1" dirty="0"/>
                        <a:t>Use Case</a:t>
                      </a:r>
                    </a:p>
                  </a:txBody>
                  <a:tcPr anchor="ctr"/>
                </a:tc>
                <a:extLst>
                  <a:ext uri="{0D108BD9-81ED-4DB2-BD59-A6C34878D82A}">
                    <a16:rowId xmlns:a16="http://schemas.microsoft.com/office/drawing/2014/main" val="681168486"/>
                  </a:ext>
                </a:extLst>
              </a:tr>
              <a:tr h="370840">
                <a:tc>
                  <a:txBody>
                    <a:bodyPr/>
                    <a:lstStyle/>
                    <a:p>
                      <a:r>
                        <a:rPr lang="en-US" sz="1800" b="1"/>
                        <a:t>Yaw (Pan)</a:t>
                      </a:r>
                      <a:endParaRPr lang="en-US" sz="1800"/>
                    </a:p>
                  </a:txBody>
                  <a:tcPr anchor="ctr"/>
                </a:tc>
                <a:tc>
                  <a:txBody>
                    <a:bodyPr/>
                    <a:lstStyle/>
                    <a:p>
                      <a:r>
                        <a:rPr lang="en-US" sz="1800" dirty="0"/>
                        <a:t>≥35°/s</a:t>
                      </a:r>
                    </a:p>
                  </a:txBody>
                  <a:tcPr anchor="ctr"/>
                </a:tc>
                <a:tc>
                  <a:txBody>
                    <a:bodyPr/>
                    <a:lstStyle/>
                    <a:p>
                      <a:r>
                        <a:rPr lang="en-US" sz="1800" dirty="0"/>
                        <a:t>Lateral movement of targets @ Jog speed (3 m/s)</a:t>
                      </a:r>
                    </a:p>
                  </a:txBody>
                  <a:tcPr anchor="ctr"/>
                </a:tc>
                <a:extLst>
                  <a:ext uri="{0D108BD9-81ED-4DB2-BD59-A6C34878D82A}">
                    <a16:rowId xmlns:a16="http://schemas.microsoft.com/office/drawing/2014/main" val="1411313560"/>
                  </a:ext>
                </a:extLst>
              </a:tr>
              <a:tr h="370840">
                <a:tc>
                  <a:txBody>
                    <a:bodyPr/>
                    <a:lstStyle/>
                    <a:p>
                      <a:r>
                        <a:rPr lang="en-US" sz="1800" b="1" dirty="0"/>
                        <a:t>Pitch (Tilt)</a:t>
                      </a:r>
                      <a:endParaRPr lang="en-US" sz="1800" dirty="0"/>
                    </a:p>
                  </a:txBody>
                  <a:tcPr anchor="ctr"/>
                </a:tc>
                <a:tc>
                  <a:txBody>
                    <a:bodyPr/>
                    <a:lstStyle/>
                    <a:p>
                      <a:r>
                        <a:rPr lang="en-US" sz="1800" dirty="0"/>
                        <a:t>≥35°/s</a:t>
                      </a:r>
                    </a:p>
                  </a:txBody>
                  <a:tcPr anchor="ctr"/>
                </a:tc>
                <a:tc>
                  <a:txBody>
                    <a:bodyPr/>
                    <a:lstStyle/>
                    <a:p>
                      <a:r>
                        <a:rPr lang="en-US" sz="1800" dirty="0"/>
                        <a:t>Vertical adjustments for elevation</a:t>
                      </a:r>
                    </a:p>
                  </a:txBody>
                  <a:tcPr anchor="ctr"/>
                </a:tc>
                <a:extLst>
                  <a:ext uri="{0D108BD9-81ED-4DB2-BD59-A6C34878D82A}">
                    <a16:rowId xmlns:a16="http://schemas.microsoft.com/office/drawing/2014/main" val="682608267"/>
                  </a:ext>
                </a:extLst>
              </a:tr>
            </a:tbl>
          </a:graphicData>
        </a:graphic>
      </p:graphicFrame>
      <p:sp>
        <p:nvSpPr>
          <p:cNvPr id="8" name="TextBox 7">
            <a:extLst>
              <a:ext uri="{FF2B5EF4-FFF2-40B4-BE49-F238E27FC236}">
                <a16:creationId xmlns:a16="http://schemas.microsoft.com/office/drawing/2014/main" id="{7FD1C8DA-4A31-D308-2252-5358B4B5EB05}"/>
              </a:ext>
            </a:extLst>
          </p:cNvPr>
          <p:cNvSpPr txBox="1"/>
          <p:nvPr/>
        </p:nvSpPr>
        <p:spPr>
          <a:xfrm>
            <a:off x="222052" y="631576"/>
            <a:ext cx="2345635" cy="369332"/>
          </a:xfrm>
          <a:prstGeom prst="rect">
            <a:avLst/>
          </a:prstGeom>
          <a:noFill/>
        </p:spPr>
        <p:txBody>
          <a:bodyPr wrap="square" rtlCol="0">
            <a:spAutoFit/>
          </a:bodyPr>
          <a:lstStyle/>
          <a:p>
            <a:r>
              <a:rPr lang="en-US" b="1" i="1" dirty="0"/>
              <a:t>Accuracy @ 5m</a:t>
            </a:r>
          </a:p>
        </p:txBody>
      </p:sp>
      <p:graphicFrame>
        <p:nvGraphicFramePr>
          <p:cNvPr id="6" name="Table 5">
            <a:extLst>
              <a:ext uri="{FF2B5EF4-FFF2-40B4-BE49-F238E27FC236}">
                <a16:creationId xmlns:a16="http://schemas.microsoft.com/office/drawing/2014/main" id="{3A229D06-9C15-EC1B-FF6F-5B0E94FCC153}"/>
              </a:ext>
            </a:extLst>
          </p:cNvPr>
          <p:cNvGraphicFramePr>
            <a:graphicFrameLocks noGrp="1"/>
          </p:cNvGraphicFramePr>
          <p:nvPr>
            <p:extLst>
              <p:ext uri="{D42A27DB-BD31-4B8C-83A1-F6EECF244321}">
                <p14:modId xmlns:p14="http://schemas.microsoft.com/office/powerpoint/2010/main" val="3383462541"/>
              </p:ext>
            </p:extLst>
          </p:nvPr>
        </p:nvGraphicFramePr>
        <p:xfrm>
          <a:off x="5851952" y="3354695"/>
          <a:ext cx="6117996" cy="3437836"/>
        </p:xfrm>
        <a:graphic>
          <a:graphicData uri="http://schemas.openxmlformats.org/drawingml/2006/table">
            <a:tbl>
              <a:tblPr firstRow="1" bandRow="1">
                <a:tableStyleId>{5C22544A-7EE6-4342-B048-85BDC9FD1C3A}</a:tableStyleId>
              </a:tblPr>
              <a:tblGrid>
                <a:gridCol w="2039332">
                  <a:extLst>
                    <a:ext uri="{9D8B030D-6E8A-4147-A177-3AD203B41FA5}">
                      <a16:colId xmlns:a16="http://schemas.microsoft.com/office/drawing/2014/main" val="151899977"/>
                    </a:ext>
                  </a:extLst>
                </a:gridCol>
                <a:gridCol w="2039332">
                  <a:extLst>
                    <a:ext uri="{9D8B030D-6E8A-4147-A177-3AD203B41FA5}">
                      <a16:colId xmlns:a16="http://schemas.microsoft.com/office/drawing/2014/main" val="2318818656"/>
                    </a:ext>
                  </a:extLst>
                </a:gridCol>
                <a:gridCol w="2039332">
                  <a:extLst>
                    <a:ext uri="{9D8B030D-6E8A-4147-A177-3AD203B41FA5}">
                      <a16:colId xmlns:a16="http://schemas.microsoft.com/office/drawing/2014/main" val="4210144577"/>
                    </a:ext>
                  </a:extLst>
                </a:gridCol>
              </a:tblGrid>
              <a:tr h="347769">
                <a:tc>
                  <a:txBody>
                    <a:bodyPr/>
                    <a:lstStyle/>
                    <a:p>
                      <a:r>
                        <a:rPr lang="en-US" sz="1800" dirty="0"/>
                        <a:t>Constraints</a:t>
                      </a:r>
                    </a:p>
                  </a:txBody>
                  <a:tcPr anchor="ctr"/>
                </a:tc>
                <a:tc>
                  <a:txBody>
                    <a:bodyPr/>
                    <a:lstStyle/>
                    <a:p>
                      <a:r>
                        <a:rPr lang="en-US" sz="1800" dirty="0"/>
                        <a:t>Target Value</a:t>
                      </a:r>
                    </a:p>
                  </a:txBody>
                  <a:tcPr anchor="ctr"/>
                </a:tc>
                <a:tc>
                  <a:txBody>
                    <a:bodyPr/>
                    <a:lstStyle/>
                    <a:p>
                      <a:r>
                        <a:rPr lang="en-US" sz="1800" dirty="0"/>
                        <a:t>Notes</a:t>
                      </a:r>
                    </a:p>
                  </a:txBody>
                  <a:tcPr anchor="ctr"/>
                </a:tc>
                <a:extLst>
                  <a:ext uri="{0D108BD9-81ED-4DB2-BD59-A6C34878D82A}">
                    <a16:rowId xmlns:a16="http://schemas.microsoft.com/office/drawing/2014/main" val="3439076358"/>
                  </a:ext>
                </a:extLst>
              </a:tr>
              <a:tr h="758798">
                <a:tc>
                  <a:txBody>
                    <a:bodyPr/>
                    <a:lstStyle/>
                    <a:p>
                      <a:r>
                        <a:rPr lang="en-US" sz="1800" b="1" dirty="0"/>
                        <a:t>Cost</a:t>
                      </a:r>
                    </a:p>
                  </a:txBody>
                  <a:tcPr anchor="ctr"/>
                </a:tc>
                <a:tc>
                  <a:txBody>
                    <a:bodyPr/>
                    <a:lstStyle/>
                    <a:p>
                      <a:r>
                        <a:rPr lang="en-US" sz="1800" dirty="0"/>
                        <a:t>&lt;100$</a:t>
                      </a:r>
                    </a:p>
                  </a:txBody>
                  <a:tcPr anchor="ctr"/>
                </a:tc>
                <a:tc>
                  <a:txBody>
                    <a:bodyPr/>
                    <a:lstStyle/>
                    <a:p>
                      <a:r>
                        <a:rPr lang="en-US" sz="1800" dirty="0"/>
                        <a:t>Prototyping costs for hardware</a:t>
                      </a:r>
                    </a:p>
                  </a:txBody>
                  <a:tcPr anchor="ctr"/>
                </a:tc>
                <a:extLst>
                  <a:ext uri="{0D108BD9-81ED-4DB2-BD59-A6C34878D82A}">
                    <a16:rowId xmlns:a16="http://schemas.microsoft.com/office/drawing/2014/main" val="1162909742"/>
                  </a:ext>
                </a:extLst>
              </a:tr>
              <a:tr h="608596">
                <a:tc>
                  <a:txBody>
                    <a:bodyPr/>
                    <a:lstStyle/>
                    <a:p>
                      <a:r>
                        <a:rPr lang="en-US" sz="1800" b="1" dirty="0"/>
                        <a:t>Packaging Dimensions</a:t>
                      </a:r>
                    </a:p>
                  </a:txBody>
                  <a:tcPr anchor="ctr"/>
                </a:tc>
                <a:tc>
                  <a:txBody>
                    <a:bodyPr/>
                    <a:lstStyle/>
                    <a:p>
                      <a:r>
                        <a:rPr lang="en-US" sz="1800" dirty="0"/>
                        <a:t>100mm Dia x 70mm </a:t>
                      </a:r>
                    </a:p>
                  </a:txBody>
                  <a:tcPr anchor="ctr"/>
                </a:tc>
                <a:tc>
                  <a:txBody>
                    <a:bodyPr/>
                    <a:lstStyle/>
                    <a:p>
                      <a:r>
                        <a:rPr lang="en-US" sz="1800" dirty="0"/>
                        <a:t>Compact packaging</a:t>
                      </a:r>
                    </a:p>
                  </a:txBody>
                  <a:tcPr anchor="ctr"/>
                </a:tc>
                <a:extLst>
                  <a:ext uri="{0D108BD9-81ED-4DB2-BD59-A6C34878D82A}">
                    <a16:rowId xmlns:a16="http://schemas.microsoft.com/office/drawing/2014/main" val="3913018410"/>
                  </a:ext>
                </a:extLst>
              </a:tr>
              <a:tr h="758798">
                <a:tc>
                  <a:txBody>
                    <a:bodyPr/>
                    <a:lstStyle/>
                    <a:p>
                      <a:r>
                        <a:rPr lang="en-US" sz="1800" b="1" dirty="0"/>
                        <a:t>Fabrication</a:t>
                      </a:r>
                    </a:p>
                  </a:txBody>
                  <a:tcPr anchor="ctr"/>
                </a:tc>
                <a:tc>
                  <a:txBody>
                    <a:bodyPr/>
                    <a:lstStyle/>
                    <a:p>
                      <a:r>
                        <a:rPr lang="en-US" sz="1800" dirty="0"/>
                        <a:t>FDM 3D-printing + Amazon</a:t>
                      </a:r>
                    </a:p>
                  </a:txBody>
                  <a:tcPr anchor="ctr"/>
                </a:tc>
                <a:tc>
                  <a:txBody>
                    <a:bodyPr/>
                    <a:lstStyle/>
                    <a:p>
                      <a:r>
                        <a:rPr lang="en-US" sz="1800" dirty="0"/>
                        <a:t>Prioritize for speed of iterations</a:t>
                      </a:r>
                    </a:p>
                  </a:txBody>
                  <a:tcPr anchor="ctr"/>
                </a:tc>
                <a:extLst>
                  <a:ext uri="{0D108BD9-81ED-4DB2-BD59-A6C34878D82A}">
                    <a16:rowId xmlns:a16="http://schemas.microsoft.com/office/drawing/2014/main" val="4023260882"/>
                  </a:ext>
                </a:extLst>
              </a:tr>
              <a:tr h="758798">
                <a:tc>
                  <a:txBody>
                    <a:bodyPr/>
                    <a:lstStyle/>
                    <a:p>
                      <a:r>
                        <a:rPr lang="en-US" sz="1800" b="1" dirty="0"/>
                        <a:t>Output</a:t>
                      </a:r>
                    </a:p>
                  </a:txBody>
                  <a:tcPr anchor="ctr"/>
                </a:tc>
                <a:tc>
                  <a:txBody>
                    <a:bodyPr/>
                    <a:lstStyle/>
                    <a:p>
                      <a:r>
                        <a:rPr lang="en-US" sz="1800" dirty="0"/>
                        <a:t>Rotate 4kg </a:t>
                      </a:r>
                    </a:p>
                  </a:txBody>
                  <a:tcPr anchor="ctr"/>
                </a:tc>
                <a:tc>
                  <a:txBody>
                    <a:bodyPr/>
                    <a:lstStyle/>
                    <a:p>
                      <a:r>
                        <a:rPr lang="en-US" sz="1800" dirty="0"/>
                        <a:t>Weight of pitch mechanism and firing mechanism</a:t>
                      </a:r>
                    </a:p>
                  </a:txBody>
                  <a:tcPr anchor="ctr"/>
                </a:tc>
                <a:extLst>
                  <a:ext uri="{0D108BD9-81ED-4DB2-BD59-A6C34878D82A}">
                    <a16:rowId xmlns:a16="http://schemas.microsoft.com/office/drawing/2014/main" val="3913816640"/>
                  </a:ext>
                </a:extLst>
              </a:tr>
            </a:tbl>
          </a:graphicData>
        </a:graphic>
      </p:graphicFrame>
      <p:sp>
        <p:nvSpPr>
          <p:cNvPr id="9" name="TextBox 8">
            <a:extLst>
              <a:ext uri="{FF2B5EF4-FFF2-40B4-BE49-F238E27FC236}">
                <a16:creationId xmlns:a16="http://schemas.microsoft.com/office/drawing/2014/main" id="{BA140A55-3EA2-17CF-0EC9-509F837C0CE3}"/>
              </a:ext>
            </a:extLst>
          </p:cNvPr>
          <p:cNvSpPr txBox="1"/>
          <p:nvPr/>
        </p:nvSpPr>
        <p:spPr>
          <a:xfrm>
            <a:off x="5851952" y="3014380"/>
            <a:ext cx="2907961" cy="338554"/>
          </a:xfrm>
          <a:prstGeom prst="rect">
            <a:avLst/>
          </a:prstGeom>
          <a:noFill/>
        </p:spPr>
        <p:txBody>
          <a:bodyPr wrap="square" rtlCol="0">
            <a:spAutoFit/>
          </a:bodyPr>
          <a:lstStyle/>
          <a:p>
            <a:r>
              <a:rPr lang="en-US" sz="1600" b="1" i="1" dirty="0"/>
              <a:t>Yaw Mechanism Constraints</a:t>
            </a:r>
          </a:p>
        </p:txBody>
      </p:sp>
    </p:spTree>
    <p:extLst>
      <p:ext uri="{BB962C8B-B14F-4D97-AF65-F5344CB8AC3E}">
        <p14:creationId xmlns:p14="http://schemas.microsoft.com/office/powerpoint/2010/main" val="2810510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873F0D4-1A7C-1D9B-4CA2-4EB855EC43ED}"/>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b="1" kern="1200">
                <a:solidFill>
                  <a:schemeClr val="tx1"/>
                </a:solidFill>
                <a:latin typeface="+mj-lt"/>
                <a:ea typeface="+mj-ea"/>
                <a:cs typeface="+mj-cs"/>
              </a:rPr>
              <a:t>Turret Base Design (Yaw)</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0CC72D5-42D1-7CCB-1092-2D22266CD9C1}"/>
              </a:ext>
            </a:extLst>
          </p:cNvPr>
          <p:cNvSpPr txBox="1"/>
          <p:nvPr/>
        </p:nvSpPr>
        <p:spPr>
          <a:xfrm>
            <a:off x="630936" y="2807208"/>
            <a:ext cx="3429000" cy="2028606"/>
          </a:xfrm>
          <a:prstGeom prst="rect">
            <a:avLst/>
          </a:prstGeom>
        </p:spPr>
        <p:txBody>
          <a:bodyPr vert="horz" lIns="91440" tIns="45720" rIns="91440" bIns="45720" rtlCol="0" anchor="t">
            <a:normAutofit lnSpcReduction="10000"/>
          </a:bodyPr>
          <a:lstStyle/>
          <a:p>
            <a:pPr>
              <a:lnSpc>
                <a:spcPct val="90000"/>
              </a:lnSpc>
              <a:spcAft>
                <a:spcPts val="600"/>
              </a:spcAft>
            </a:pPr>
            <a:r>
              <a:rPr lang="en-US" sz="2200" b="1" dirty="0"/>
              <a:t>Concept</a:t>
            </a:r>
          </a:p>
          <a:p>
            <a:pPr marL="285750" indent="-228600">
              <a:lnSpc>
                <a:spcPct val="90000"/>
              </a:lnSpc>
              <a:spcAft>
                <a:spcPts val="600"/>
              </a:spcAft>
              <a:buFont typeface="Arial" panose="020B0604020202020204" pitchFamily="34" charset="0"/>
              <a:buChar char="•"/>
            </a:pPr>
            <a:r>
              <a:rPr lang="en-US" sz="2200" dirty="0"/>
              <a:t>360 deg rotating platform to mount pitch and firing mechanisms </a:t>
            </a:r>
          </a:p>
          <a:p>
            <a:pPr marL="285750" indent="-228600">
              <a:lnSpc>
                <a:spcPct val="90000"/>
              </a:lnSpc>
              <a:spcAft>
                <a:spcPts val="600"/>
              </a:spcAft>
              <a:buFont typeface="Arial" panose="020B0604020202020204" pitchFamily="34" charset="0"/>
              <a:buChar char="•"/>
            </a:pPr>
            <a:r>
              <a:rPr lang="en-US" sz="2200" dirty="0"/>
              <a:t>Must reliably rotate 4kg of mass</a:t>
            </a:r>
          </a:p>
        </p:txBody>
      </p:sp>
      <p:pic>
        <p:nvPicPr>
          <p:cNvPr id="5" name="Picture 4">
            <a:extLst>
              <a:ext uri="{FF2B5EF4-FFF2-40B4-BE49-F238E27FC236}">
                <a16:creationId xmlns:a16="http://schemas.microsoft.com/office/drawing/2014/main" id="{7DE259BA-538B-EB20-A374-AF3CB92EBABE}"/>
              </a:ext>
            </a:extLst>
          </p:cNvPr>
          <p:cNvPicPr>
            <a:picLocks noChangeAspect="1"/>
          </p:cNvPicPr>
          <p:nvPr/>
        </p:nvPicPr>
        <p:blipFill>
          <a:blip r:embed="rId3"/>
          <a:stretch>
            <a:fillRect/>
          </a:stretch>
        </p:blipFill>
        <p:spPr>
          <a:xfrm>
            <a:off x="4725647" y="640080"/>
            <a:ext cx="6761017" cy="5577840"/>
          </a:xfrm>
          <a:prstGeom prst="rect">
            <a:avLst/>
          </a:prstGeom>
        </p:spPr>
      </p:pic>
    </p:spTree>
    <p:extLst>
      <p:ext uri="{BB962C8B-B14F-4D97-AF65-F5344CB8AC3E}">
        <p14:creationId xmlns:p14="http://schemas.microsoft.com/office/powerpoint/2010/main" val="4068394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FC8A57-11F6-9AAC-9AE2-86BABC4451A8}"/>
              </a:ext>
            </a:extLst>
          </p:cNvPr>
          <p:cNvSpPr txBox="1"/>
          <p:nvPr/>
        </p:nvSpPr>
        <p:spPr>
          <a:xfrm>
            <a:off x="181154" y="163902"/>
            <a:ext cx="3761118" cy="369332"/>
          </a:xfrm>
          <a:prstGeom prst="rect">
            <a:avLst/>
          </a:prstGeom>
          <a:noFill/>
        </p:spPr>
        <p:txBody>
          <a:bodyPr wrap="square" rtlCol="0">
            <a:spAutoFit/>
          </a:bodyPr>
          <a:lstStyle/>
          <a:p>
            <a:r>
              <a:rPr lang="en-US" b="1" dirty="0"/>
              <a:t>Turret Base Design (Yaw Function)</a:t>
            </a:r>
          </a:p>
        </p:txBody>
      </p:sp>
      <p:sp>
        <p:nvSpPr>
          <p:cNvPr id="9" name="TextBox 8">
            <a:extLst>
              <a:ext uri="{FF2B5EF4-FFF2-40B4-BE49-F238E27FC236}">
                <a16:creationId xmlns:a16="http://schemas.microsoft.com/office/drawing/2014/main" id="{55F95290-4F35-BAF2-6778-581B91D6A567}"/>
              </a:ext>
            </a:extLst>
          </p:cNvPr>
          <p:cNvSpPr txBox="1"/>
          <p:nvPr/>
        </p:nvSpPr>
        <p:spPr>
          <a:xfrm>
            <a:off x="546033" y="5137907"/>
            <a:ext cx="2038839" cy="369332"/>
          </a:xfrm>
          <a:prstGeom prst="rect">
            <a:avLst/>
          </a:prstGeom>
          <a:noFill/>
        </p:spPr>
        <p:txBody>
          <a:bodyPr wrap="square" rtlCol="0">
            <a:spAutoFit/>
          </a:bodyPr>
          <a:lstStyle/>
          <a:p>
            <a:pPr algn="ctr"/>
            <a:r>
              <a:rPr lang="en-US" b="1" dirty="0">
                <a:solidFill>
                  <a:srgbClr val="FF0000"/>
                </a:solidFill>
              </a:rPr>
              <a:t>Incorrect</a:t>
            </a:r>
          </a:p>
        </p:txBody>
      </p:sp>
      <p:cxnSp>
        <p:nvCxnSpPr>
          <p:cNvPr id="10" name="Straight Arrow Connector 9">
            <a:extLst>
              <a:ext uri="{FF2B5EF4-FFF2-40B4-BE49-F238E27FC236}">
                <a16:creationId xmlns:a16="http://schemas.microsoft.com/office/drawing/2014/main" id="{5851693A-2DEF-C024-BDB6-760FD9BE3E75}"/>
              </a:ext>
            </a:extLst>
          </p:cNvPr>
          <p:cNvCxnSpPr>
            <a:cxnSpLocks/>
            <a:stCxn id="9" idx="0"/>
          </p:cNvCxnSpPr>
          <p:nvPr/>
        </p:nvCxnSpPr>
        <p:spPr>
          <a:xfrm flipV="1">
            <a:off x="1565453" y="4766591"/>
            <a:ext cx="0" cy="37131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4E17983A-7A72-FFF9-9A54-01A7379635D5}"/>
              </a:ext>
            </a:extLst>
          </p:cNvPr>
          <p:cNvGrpSpPr/>
          <p:nvPr/>
        </p:nvGrpSpPr>
        <p:grpSpPr>
          <a:xfrm>
            <a:off x="181154" y="999671"/>
            <a:ext cx="2872589" cy="3675503"/>
            <a:chOff x="181154" y="820342"/>
            <a:chExt cx="2872589" cy="3675503"/>
          </a:xfrm>
        </p:grpSpPr>
        <p:grpSp>
          <p:nvGrpSpPr>
            <p:cNvPr id="8" name="Group 7">
              <a:extLst>
                <a:ext uri="{FF2B5EF4-FFF2-40B4-BE49-F238E27FC236}">
                  <a16:creationId xmlns:a16="http://schemas.microsoft.com/office/drawing/2014/main" id="{EF601891-F1CB-7E4D-2452-40761C55EFBE}"/>
                </a:ext>
              </a:extLst>
            </p:cNvPr>
            <p:cNvGrpSpPr/>
            <p:nvPr/>
          </p:nvGrpSpPr>
          <p:grpSpPr>
            <a:xfrm>
              <a:off x="246457" y="912397"/>
              <a:ext cx="2741765" cy="3494979"/>
              <a:chOff x="306842" y="2689438"/>
              <a:chExt cx="2741765" cy="3494979"/>
            </a:xfrm>
          </p:grpSpPr>
          <p:sp>
            <p:nvSpPr>
              <p:cNvPr id="3" name="TextBox 2">
                <a:extLst>
                  <a:ext uri="{FF2B5EF4-FFF2-40B4-BE49-F238E27FC236}">
                    <a16:creationId xmlns:a16="http://schemas.microsoft.com/office/drawing/2014/main" id="{DCF8CDAF-0A1F-962A-6A9C-DCC819DE036A}"/>
                  </a:ext>
                </a:extLst>
              </p:cNvPr>
              <p:cNvSpPr txBox="1"/>
              <p:nvPr/>
            </p:nvSpPr>
            <p:spPr>
              <a:xfrm>
                <a:off x="306842" y="2689438"/>
                <a:ext cx="2741765" cy="646331"/>
              </a:xfrm>
              <a:prstGeom prst="rect">
                <a:avLst/>
              </a:prstGeom>
              <a:noFill/>
              <a:ln>
                <a:solidFill>
                  <a:schemeClr val="tx1"/>
                </a:solidFill>
              </a:ln>
            </p:spPr>
            <p:txBody>
              <a:bodyPr wrap="square" rtlCol="0">
                <a:spAutoFit/>
              </a:bodyPr>
              <a:lstStyle/>
              <a:p>
                <a:r>
                  <a:rPr lang="en-US" b="1" dirty="0"/>
                  <a:t>Required Torque Output</a:t>
                </a:r>
                <a:br>
                  <a:rPr lang="en-US" b="1" dirty="0"/>
                </a:br>
                <a:r>
                  <a:rPr lang="en-US" i="1" dirty="0"/>
                  <a:t>4kg @ 0.05m =0.2Nm</a:t>
                </a:r>
                <a:endParaRPr lang="en-US" dirty="0"/>
              </a:p>
            </p:txBody>
          </p:sp>
          <p:sp>
            <p:nvSpPr>
              <p:cNvPr id="4" name="Oval 3">
                <a:extLst>
                  <a:ext uri="{FF2B5EF4-FFF2-40B4-BE49-F238E27FC236}">
                    <a16:creationId xmlns:a16="http://schemas.microsoft.com/office/drawing/2014/main" id="{C2B2E53A-12E4-CB38-2EB1-780EE76A0BB7}"/>
                  </a:ext>
                </a:extLst>
              </p:cNvPr>
              <p:cNvSpPr/>
              <p:nvPr/>
            </p:nvSpPr>
            <p:spPr>
              <a:xfrm>
                <a:off x="606418" y="3617850"/>
                <a:ext cx="1472713" cy="1449237"/>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Plate</a:t>
                </a:r>
              </a:p>
            </p:txBody>
          </p:sp>
          <p:cxnSp>
            <p:nvCxnSpPr>
              <p:cNvPr id="5" name="Straight Arrow Connector 4">
                <a:extLst>
                  <a:ext uri="{FF2B5EF4-FFF2-40B4-BE49-F238E27FC236}">
                    <a16:creationId xmlns:a16="http://schemas.microsoft.com/office/drawing/2014/main" id="{F023FF0B-416E-97D1-0A01-5E6DE2DABA7F}"/>
                  </a:ext>
                </a:extLst>
              </p:cNvPr>
              <p:cNvCxnSpPr>
                <a:stCxn id="4" idx="6"/>
              </p:cNvCxnSpPr>
              <p:nvPr/>
            </p:nvCxnSpPr>
            <p:spPr>
              <a:xfrm>
                <a:off x="2079131" y="4342469"/>
                <a:ext cx="17088" cy="12129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D9FF6F9B-3CD4-48E4-B151-6CBD6B5A0F9D}"/>
                  </a:ext>
                </a:extLst>
              </p:cNvPr>
              <p:cNvSpPr/>
              <p:nvPr/>
            </p:nvSpPr>
            <p:spPr>
              <a:xfrm>
                <a:off x="1563399" y="5552962"/>
                <a:ext cx="1065640" cy="63145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4kg</a:t>
                </a:r>
              </a:p>
            </p:txBody>
          </p:sp>
          <p:sp>
            <p:nvSpPr>
              <p:cNvPr id="7" name="Arrow: Curved Up 6">
                <a:extLst>
                  <a:ext uri="{FF2B5EF4-FFF2-40B4-BE49-F238E27FC236}">
                    <a16:creationId xmlns:a16="http://schemas.microsoft.com/office/drawing/2014/main" id="{8B165E79-9231-BEF1-77E8-40B2BCE91C2B}"/>
                  </a:ext>
                </a:extLst>
              </p:cNvPr>
              <p:cNvSpPr/>
              <p:nvPr/>
            </p:nvSpPr>
            <p:spPr>
              <a:xfrm>
                <a:off x="905774" y="4546121"/>
                <a:ext cx="957532" cy="317450"/>
              </a:xfrm>
              <a:prstGeom prst="curvedUpArrow">
                <a:avLst/>
              </a:prstGeom>
              <a:ln>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grpSp>
        <p:sp>
          <p:nvSpPr>
            <p:cNvPr id="11" name="Rectangle 10">
              <a:extLst>
                <a:ext uri="{FF2B5EF4-FFF2-40B4-BE49-F238E27FC236}">
                  <a16:creationId xmlns:a16="http://schemas.microsoft.com/office/drawing/2014/main" id="{0DC9C6E2-CFB9-142E-E222-6EDF1F1B1A6A}"/>
                </a:ext>
              </a:extLst>
            </p:cNvPr>
            <p:cNvSpPr/>
            <p:nvPr/>
          </p:nvSpPr>
          <p:spPr>
            <a:xfrm>
              <a:off x="181154" y="820342"/>
              <a:ext cx="2872589" cy="3675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351C331-0223-6F7C-BA76-BF8C0161F41E}"/>
              </a:ext>
            </a:extLst>
          </p:cNvPr>
          <p:cNvGraphicFramePr>
            <a:graphicFrameLocks noGrp="1"/>
          </p:cNvGraphicFramePr>
          <p:nvPr>
            <p:extLst>
              <p:ext uri="{D42A27DB-BD31-4B8C-83A1-F6EECF244321}">
                <p14:modId xmlns:p14="http://schemas.microsoft.com/office/powerpoint/2010/main" val="4091486506"/>
              </p:ext>
            </p:extLst>
          </p:nvPr>
        </p:nvGraphicFramePr>
        <p:xfrm>
          <a:off x="3735403" y="952027"/>
          <a:ext cx="8127999" cy="2235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690007718"/>
                    </a:ext>
                  </a:extLst>
                </a:gridCol>
                <a:gridCol w="2709333">
                  <a:extLst>
                    <a:ext uri="{9D8B030D-6E8A-4147-A177-3AD203B41FA5}">
                      <a16:colId xmlns:a16="http://schemas.microsoft.com/office/drawing/2014/main" val="2720811141"/>
                    </a:ext>
                  </a:extLst>
                </a:gridCol>
                <a:gridCol w="2709333">
                  <a:extLst>
                    <a:ext uri="{9D8B030D-6E8A-4147-A177-3AD203B41FA5}">
                      <a16:colId xmlns:a16="http://schemas.microsoft.com/office/drawing/2014/main" val="310621603"/>
                    </a:ext>
                  </a:extLst>
                </a:gridCol>
              </a:tblGrid>
              <a:tr h="370840">
                <a:tc>
                  <a:txBody>
                    <a:bodyPr/>
                    <a:lstStyle/>
                    <a:p>
                      <a:r>
                        <a:rPr lang="en-US" sz="1600" dirty="0"/>
                        <a:t>Gear Reduction</a:t>
                      </a:r>
                    </a:p>
                  </a:txBody>
                  <a:tcPr/>
                </a:tc>
                <a:tc>
                  <a:txBody>
                    <a:bodyPr/>
                    <a:lstStyle/>
                    <a:p>
                      <a:r>
                        <a:rPr lang="en-US" sz="1600" dirty="0"/>
                        <a:t>15:1</a:t>
                      </a:r>
                    </a:p>
                  </a:txBody>
                  <a:tcPr>
                    <a:solidFill>
                      <a:schemeClr val="accent6">
                        <a:lumMod val="60000"/>
                        <a:lumOff val="40000"/>
                      </a:schemeClr>
                    </a:solidFill>
                  </a:tcPr>
                </a:tc>
                <a:tc>
                  <a:txBody>
                    <a:bodyPr/>
                    <a:lstStyle/>
                    <a:p>
                      <a:r>
                        <a:rPr lang="en-US" sz="1600" dirty="0"/>
                        <a:t>10:1</a:t>
                      </a:r>
                    </a:p>
                  </a:txBody>
                  <a:tcPr/>
                </a:tc>
                <a:extLst>
                  <a:ext uri="{0D108BD9-81ED-4DB2-BD59-A6C34878D82A}">
                    <a16:rowId xmlns:a16="http://schemas.microsoft.com/office/drawing/2014/main" val="3175116569"/>
                  </a:ext>
                </a:extLst>
              </a:tr>
              <a:tr h="370840">
                <a:tc>
                  <a:txBody>
                    <a:bodyPr/>
                    <a:lstStyle/>
                    <a:p>
                      <a:r>
                        <a:rPr lang="en-US" sz="1600" dirty="0"/>
                        <a:t>Required Torque @ Gearbox Output shaft</a:t>
                      </a:r>
                    </a:p>
                  </a:txBody>
                  <a:tcPr/>
                </a:tc>
                <a:tc>
                  <a:txBody>
                    <a:bodyPr/>
                    <a:lstStyle/>
                    <a:p>
                      <a:r>
                        <a:rPr lang="en-US" sz="1600" dirty="0"/>
                        <a:t>0.2Nm</a:t>
                      </a:r>
                    </a:p>
                  </a:txBody>
                  <a:tcPr/>
                </a:tc>
                <a:tc>
                  <a:txBody>
                    <a:bodyPr/>
                    <a:lstStyle/>
                    <a:p>
                      <a:r>
                        <a:rPr lang="en-US" sz="1600" dirty="0"/>
                        <a:t>0.2Nm</a:t>
                      </a:r>
                    </a:p>
                  </a:txBody>
                  <a:tcPr/>
                </a:tc>
                <a:extLst>
                  <a:ext uri="{0D108BD9-81ED-4DB2-BD59-A6C34878D82A}">
                    <a16:rowId xmlns:a16="http://schemas.microsoft.com/office/drawing/2014/main" val="3999557697"/>
                  </a:ext>
                </a:extLst>
              </a:tr>
              <a:tr h="370840">
                <a:tc>
                  <a:txBody>
                    <a:bodyPr/>
                    <a:lstStyle/>
                    <a:p>
                      <a:r>
                        <a:rPr lang="en-US" sz="1600" dirty="0"/>
                        <a:t>Required Speed @ Output shaft</a:t>
                      </a:r>
                    </a:p>
                  </a:txBody>
                  <a:tcPr/>
                </a:tc>
                <a:tc>
                  <a:txBody>
                    <a:bodyPr/>
                    <a:lstStyle/>
                    <a:p>
                      <a:r>
                        <a:rPr lang="en-US" sz="1600" dirty="0"/>
                        <a:t>34.5 deg/s (6 RPM)</a:t>
                      </a:r>
                    </a:p>
                  </a:txBody>
                  <a:tcPr/>
                </a:tc>
                <a:tc>
                  <a:txBody>
                    <a:bodyPr/>
                    <a:lstStyle/>
                    <a:p>
                      <a:r>
                        <a:rPr lang="en-US" sz="1600" dirty="0"/>
                        <a:t>34.5 deg/s (6 RPM)</a:t>
                      </a:r>
                    </a:p>
                  </a:txBody>
                  <a:tcPr/>
                </a:tc>
                <a:extLst>
                  <a:ext uri="{0D108BD9-81ED-4DB2-BD59-A6C34878D82A}">
                    <a16:rowId xmlns:a16="http://schemas.microsoft.com/office/drawing/2014/main" val="546761387"/>
                  </a:ext>
                </a:extLst>
              </a:tr>
              <a:tr h="370840">
                <a:tc>
                  <a:txBody>
                    <a:bodyPr/>
                    <a:lstStyle/>
                    <a:p>
                      <a:r>
                        <a:rPr lang="en-US" sz="1600" dirty="0"/>
                        <a:t>Input Torque</a:t>
                      </a:r>
                    </a:p>
                  </a:txBody>
                  <a:tcPr/>
                </a:tc>
                <a:tc>
                  <a:txBody>
                    <a:bodyPr/>
                    <a:lstStyle/>
                    <a:p>
                      <a:r>
                        <a:rPr lang="en-US" sz="1600" dirty="0"/>
                        <a:t>0.013Nm</a:t>
                      </a:r>
                    </a:p>
                  </a:txBody>
                  <a:tcPr/>
                </a:tc>
                <a:tc>
                  <a:txBody>
                    <a:bodyPr/>
                    <a:lstStyle/>
                    <a:p>
                      <a:r>
                        <a:rPr lang="en-US" sz="1600" dirty="0"/>
                        <a:t>0.02Nm</a:t>
                      </a:r>
                    </a:p>
                  </a:txBody>
                  <a:tcPr/>
                </a:tc>
                <a:extLst>
                  <a:ext uri="{0D108BD9-81ED-4DB2-BD59-A6C34878D82A}">
                    <a16:rowId xmlns:a16="http://schemas.microsoft.com/office/drawing/2014/main" val="1107355542"/>
                  </a:ext>
                </a:extLst>
              </a:tr>
              <a:tr h="268325">
                <a:tc>
                  <a:txBody>
                    <a:bodyPr/>
                    <a:lstStyle/>
                    <a:p>
                      <a:r>
                        <a:rPr lang="en-US" sz="1600" dirty="0"/>
                        <a:t>Input Speed (RPM)</a:t>
                      </a:r>
                    </a:p>
                  </a:txBody>
                  <a:tcPr/>
                </a:tc>
                <a:tc>
                  <a:txBody>
                    <a:bodyPr/>
                    <a:lstStyle/>
                    <a:p>
                      <a:r>
                        <a:rPr lang="en-US" sz="1600" dirty="0"/>
                        <a:t>90</a:t>
                      </a:r>
                    </a:p>
                  </a:txBody>
                  <a:tcPr>
                    <a:solidFill>
                      <a:schemeClr val="accent6">
                        <a:lumMod val="60000"/>
                        <a:lumOff val="40000"/>
                      </a:schemeClr>
                    </a:solidFill>
                  </a:tcPr>
                </a:tc>
                <a:tc>
                  <a:txBody>
                    <a:bodyPr/>
                    <a:lstStyle/>
                    <a:p>
                      <a:r>
                        <a:rPr lang="en-US" sz="1600" dirty="0"/>
                        <a:t>60</a:t>
                      </a:r>
                    </a:p>
                  </a:txBody>
                  <a:tcPr>
                    <a:solidFill>
                      <a:srgbClr val="FF0000"/>
                    </a:solidFill>
                  </a:tcPr>
                </a:tc>
                <a:extLst>
                  <a:ext uri="{0D108BD9-81ED-4DB2-BD59-A6C34878D82A}">
                    <a16:rowId xmlns:a16="http://schemas.microsoft.com/office/drawing/2014/main" val="1121043128"/>
                  </a:ext>
                </a:extLst>
              </a:tr>
            </a:tbl>
          </a:graphicData>
        </a:graphic>
      </p:graphicFrame>
      <p:sp>
        <p:nvSpPr>
          <p:cNvPr id="15" name="TextBox 14">
            <a:extLst>
              <a:ext uri="{FF2B5EF4-FFF2-40B4-BE49-F238E27FC236}">
                <a16:creationId xmlns:a16="http://schemas.microsoft.com/office/drawing/2014/main" id="{902F9F6B-B042-4DC4-B2BB-628B83F86C49}"/>
              </a:ext>
            </a:extLst>
          </p:cNvPr>
          <p:cNvSpPr txBox="1"/>
          <p:nvPr/>
        </p:nvSpPr>
        <p:spPr>
          <a:xfrm>
            <a:off x="3735403" y="3275111"/>
            <a:ext cx="4261450" cy="307777"/>
          </a:xfrm>
          <a:prstGeom prst="rect">
            <a:avLst/>
          </a:prstGeom>
          <a:noFill/>
        </p:spPr>
        <p:txBody>
          <a:bodyPr wrap="square" rtlCol="0">
            <a:spAutoFit/>
          </a:bodyPr>
          <a:lstStyle/>
          <a:p>
            <a:r>
              <a:rPr lang="en-US" sz="1400" dirty="0"/>
              <a:t>*To utilize </a:t>
            </a:r>
            <a:r>
              <a:rPr lang="en-US" sz="1400" dirty="0" err="1"/>
              <a:t>Nema</a:t>
            </a:r>
            <a:r>
              <a:rPr lang="en-US" sz="1400" dirty="0"/>
              <a:t> 23 Stepper I had on hand</a:t>
            </a:r>
          </a:p>
        </p:txBody>
      </p:sp>
      <p:grpSp>
        <p:nvGrpSpPr>
          <p:cNvPr id="16" name="Group 15">
            <a:extLst>
              <a:ext uri="{FF2B5EF4-FFF2-40B4-BE49-F238E27FC236}">
                <a16:creationId xmlns:a16="http://schemas.microsoft.com/office/drawing/2014/main" id="{6FBB701A-1F49-D2F8-0819-DCB840705321}"/>
              </a:ext>
            </a:extLst>
          </p:cNvPr>
          <p:cNvGrpSpPr/>
          <p:nvPr/>
        </p:nvGrpSpPr>
        <p:grpSpPr>
          <a:xfrm>
            <a:off x="5029965" y="3839686"/>
            <a:ext cx="6065068" cy="2965773"/>
            <a:chOff x="5814968" y="3522232"/>
            <a:chExt cx="6065068" cy="2965773"/>
          </a:xfrm>
        </p:grpSpPr>
        <p:grpSp>
          <p:nvGrpSpPr>
            <p:cNvPr id="17" name="Group 16">
              <a:extLst>
                <a:ext uri="{FF2B5EF4-FFF2-40B4-BE49-F238E27FC236}">
                  <a16:creationId xmlns:a16="http://schemas.microsoft.com/office/drawing/2014/main" id="{CB83069A-3B54-5D4A-DAD7-39C5608FE09F}"/>
                </a:ext>
              </a:extLst>
            </p:cNvPr>
            <p:cNvGrpSpPr/>
            <p:nvPr/>
          </p:nvGrpSpPr>
          <p:grpSpPr>
            <a:xfrm>
              <a:off x="5814968" y="3918680"/>
              <a:ext cx="6065068" cy="2569325"/>
              <a:chOff x="5982004" y="3918680"/>
              <a:chExt cx="6065068" cy="2569325"/>
            </a:xfrm>
          </p:grpSpPr>
          <p:pic>
            <p:nvPicPr>
              <p:cNvPr id="19" name="Picture 18">
                <a:extLst>
                  <a:ext uri="{FF2B5EF4-FFF2-40B4-BE49-F238E27FC236}">
                    <a16:creationId xmlns:a16="http://schemas.microsoft.com/office/drawing/2014/main" id="{E0DF70AA-8A43-ACB0-C596-065C47FBC387}"/>
                  </a:ext>
                </a:extLst>
              </p:cNvPr>
              <p:cNvPicPr>
                <a:picLocks noChangeAspect="1"/>
              </p:cNvPicPr>
              <p:nvPr/>
            </p:nvPicPr>
            <p:blipFill>
              <a:blip r:embed="rId3"/>
              <a:stretch>
                <a:fillRect/>
              </a:stretch>
            </p:blipFill>
            <p:spPr>
              <a:xfrm>
                <a:off x="5982004" y="3918680"/>
                <a:ext cx="6065068" cy="2569325"/>
              </a:xfrm>
              <a:prstGeom prst="rect">
                <a:avLst/>
              </a:prstGeom>
            </p:spPr>
          </p:pic>
          <p:sp>
            <p:nvSpPr>
              <p:cNvPr id="20" name="Freeform: Shape 19">
                <a:extLst>
                  <a:ext uri="{FF2B5EF4-FFF2-40B4-BE49-F238E27FC236}">
                    <a16:creationId xmlns:a16="http://schemas.microsoft.com/office/drawing/2014/main" id="{B6B1003D-8268-3BCB-6CDA-AD5DE6402513}"/>
                  </a:ext>
                </a:extLst>
              </p:cNvPr>
              <p:cNvSpPr/>
              <p:nvPr/>
            </p:nvSpPr>
            <p:spPr>
              <a:xfrm>
                <a:off x="7099540" y="5227608"/>
                <a:ext cx="4684143" cy="739122"/>
              </a:xfrm>
              <a:custGeom>
                <a:avLst/>
                <a:gdLst>
                  <a:gd name="connsiteX0" fmla="*/ 0 w 3873260"/>
                  <a:gd name="connsiteY0" fmla="*/ 60433 h 480378"/>
                  <a:gd name="connsiteX1" fmla="*/ 491705 w 3873260"/>
                  <a:gd name="connsiteY1" fmla="*/ 48 h 480378"/>
                  <a:gd name="connsiteX2" fmla="*/ 974785 w 3873260"/>
                  <a:gd name="connsiteY2" fmla="*/ 69059 h 480378"/>
                  <a:gd name="connsiteX3" fmla="*/ 1932317 w 3873260"/>
                  <a:gd name="connsiteY3" fmla="*/ 51806 h 480378"/>
                  <a:gd name="connsiteX4" fmla="*/ 2803585 w 3873260"/>
                  <a:gd name="connsiteY4" fmla="*/ 474501 h 480378"/>
                  <a:gd name="connsiteX5" fmla="*/ 3873260 w 3873260"/>
                  <a:gd name="connsiteY5" fmla="*/ 310599 h 48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3260" h="480378">
                    <a:moveTo>
                      <a:pt x="0" y="60433"/>
                    </a:moveTo>
                    <a:cubicBezTo>
                      <a:pt x="164620" y="29521"/>
                      <a:pt x="329241" y="-1390"/>
                      <a:pt x="491705" y="48"/>
                    </a:cubicBezTo>
                    <a:cubicBezTo>
                      <a:pt x="654169" y="1486"/>
                      <a:pt x="734683" y="60433"/>
                      <a:pt x="974785" y="69059"/>
                    </a:cubicBezTo>
                    <a:cubicBezTo>
                      <a:pt x="1214887" y="77685"/>
                      <a:pt x="1627517" y="-15768"/>
                      <a:pt x="1932317" y="51806"/>
                    </a:cubicBezTo>
                    <a:cubicBezTo>
                      <a:pt x="2237117" y="119380"/>
                      <a:pt x="2480095" y="431369"/>
                      <a:pt x="2803585" y="474501"/>
                    </a:cubicBezTo>
                    <a:cubicBezTo>
                      <a:pt x="3127075" y="517633"/>
                      <a:pt x="3673415" y="309161"/>
                      <a:pt x="3873260" y="310599"/>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29DC18A7-4EFB-0FD9-1EB1-F402F2EFDCBE}"/>
                </a:ext>
              </a:extLst>
            </p:cNvPr>
            <p:cNvSpPr txBox="1"/>
            <p:nvPr/>
          </p:nvSpPr>
          <p:spPr>
            <a:xfrm>
              <a:off x="5814968" y="3522232"/>
              <a:ext cx="2570672" cy="523220"/>
            </a:xfrm>
            <a:prstGeom prst="rect">
              <a:avLst/>
            </a:prstGeom>
            <a:noFill/>
          </p:spPr>
          <p:txBody>
            <a:bodyPr wrap="square" rtlCol="0">
              <a:spAutoFit/>
            </a:bodyPr>
            <a:lstStyle/>
            <a:p>
              <a:r>
                <a:rPr lang="en-US" sz="1400" dirty="0"/>
                <a:t>12V supply @ 200-800 </a:t>
              </a:r>
              <a:r>
                <a:rPr lang="en-US" sz="1400" dirty="0" err="1"/>
                <a:t>microstep</a:t>
              </a:r>
              <a:endParaRPr lang="en-US" sz="1400" dirty="0"/>
            </a:p>
          </p:txBody>
        </p:sp>
      </p:grpSp>
      <p:sp>
        <p:nvSpPr>
          <p:cNvPr id="21" name="Oval 20">
            <a:extLst>
              <a:ext uri="{FF2B5EF4-FFF2-40B4-BE49-F238E27FC236}">
                <a16:creationId xmlns:a16="http://schemas.microsoft.com/office/drawing/2014/main" id="{E5AB723A-9EEE-CEA1-69DE-7FE9E7BC0A2D}"/>
              </a:ext>
            </a:extLst>
          </p:cNvPr>
          <p:cNvSpPr/>
          <p:nvPr/>
        </p:nvSpPr>
        <p:spPr>
          <a:xfrm>
            <a:off x="6280030" y="5507239"/>
            <a:ext cx="707366" cy="134436"/>
          </a:xfrm>
          <a:prstGeom prst="ellipse">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37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73471F-C783-1724-B507-0879A06B6FC8}"/>
              </a:ext>
            </a:extLst>
          </p:cNvPr>
          <p:cNvSpPr txBox="1"/>
          <p:nvPr/>
        </p:nvSpPr>
        <p:spPr>
          <a:xfrm>
            <a:off x="71560" y="63565"/>
            <a:ext cx="2345635" cy="461665"/>
          </a:xfrm>
          <a:prstGeom prst="rect">
            <a:avLst/>
          </a:prstGeom>
          <a:noFill/>
        </p:spPr>
        <p:txBody>
          <a:bodyPr wrap="square" rtlCol="0">
            <a:spAutoFit/>
          </a:bodyPr>
          <a:lstStyle/>
          <a:p>
            <a:r>
              <a:rPr lang="en-US" sz="2400" b="1" dirty="0"/>
              <a:t>Cycloidal Gear </a:t>
            </a:r>
          </a:p>
        </p:txBody>
      </p:sp>
      <p:sp>
        <p:nvSpPr>
          <p:cNvPr id="3" name="TextBox 2">
            <a:extLst>
              <a:ext uri="{FF2B5EF4-FFF2-40B4-BE49-F238E27FC236}">
                <a16:creationId xmlns:a16="http://schemas.microsoft.com/office/drawing/2014/main" id="{148F99C5-0509-DE8A-787A-4C24E78E29B7}"/>
              </a:ext>
            </a:extLst>
          </p:cNvPr>
          <p:cNvSpPr txBox="1"/>
          <p:nvPr/>
        </p:nvSpPr>
        <p:spPr>
          <a:xfrm>
            <a:off x="294198" y="789662"/>
            <a:ext cx="3824578"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Benefits</a:t>
            </a:r>
          </a:p>
          <a:p>
            <a:pPr marL="285750" indent="-285750">
              <a:buFontTx/>
              <a:buChar char="-"/>
            </a:pPr>
            <a:r>
              <a:rPr lang="en-US" dirty="0"/>
              <a:t>Low backlash</a:t>
            </a:r>
          </a:p>
          <a:p>
            <a:pPr marL="285750" indent="-285750">
              <a:buFontTx/>
              <a:buChar char="-"/>
            </a:pPr>
            <a:r>
              <a:rPr lang="en-US" dirty="0"/>
              <a:t>Minimized friction and wear due to rolling contact</a:t>
            </a:r>
          </a:p>
          <a:p>
            <a:pPr marL="285750" indent="-285750">
              <a:buFontTx/>
              <a:buChar char="-"/>
            </a:pPr>
            <a:r>
              <a:rPr lang="en-US" dirty="0"/>
              <a:t>Compact packaging</a:t>
            </a:r>
          </a:p>
          <a:p>
            <a:pPr marL="285750" indent="-285750">
              <a:buFontTx/>
              <a:buChar char="-"/>
            </a:pPr>
            <a:r>
              <a:rPr lang="en-US" dirty="0"/>
              <a:t>Good for load transfer when using 3D-printed parts</a:t>
            </a:r>
          </a:p>
          <a:p>
            <a:pPr marL="285750" indent="-285750">
              <a:buFontTx/>
              <a:buChar char="-"/>
            </a:pPr>
            <a:r>
              <a:rPr lang="en-US" dirty="0"/>
              <a:t>Common in robotics</a:t>
            </a:r>
          </a:p>
          <a:p>
            <a:pPr marL="285750" indent="-285750">
              <a:buFontTx/>
              <a:buChar char="-"/>
            </a:pPr>
            <a:r>
              <a:rPr lang="en-US" dirty="0"/>
              <a:t>Haven’t come across it before</a:t>
            </a:r>
          </a:p>
          <a:p>
            <a:pPr marL="285750" indent="-285750">
              <a:buFontTx/>
              <a:buChar char="-"/>
            </a:pPr>
            <a:endParaRPr lang="en-US" dirty="0"/>
          </a:p>
        </p:txBody>
      </p:sp>
      <p:sp>
        <p:nvSpPr>
          <p:cNvPr id="4" name="TextBox 3">
            <a:extLst>
              <a:ext uri="{FF2B5EF4-FFF2-40B4-BE49-F238E27FC236}">
                <a16:creationId xmlns:a16="http://schemas.microsoft.com/office/drawing/2014/main" id="{EE424B32-2D60-4450-3E61-2560A4F0E6E1}"/>
              </a:ext>
            </a:extLst>
          </p:cNvPr>
          <p:cNvSpPr txBox="1"/>
          <p:nvPr/>
        </p:nvSpPr>
        <p:spPr>
          <a:xfrm>
            <a:off x="159025" y="5772648"/>
            <a:ext cx="2345635" cy="938719"/>
          </a:xfrm>
          <a:prstGeom prst="rect">
            <a:avLst/>
          </a:prstGeom>
          <a:noFill/>
        </p:spPr>
        <p:txBody>
          <a:bodyPr wrap="square" rtlCol="0">
            <a:spAutoFit/>
          </a:bodyPr>
          <a:lstStyle/>
          <a:p>
            <a:r>
              <a:rPr lang="en-US" sz="1100" b="1" dirty="0"/>
              <a:t>References</a:t>
            </a:r>
          </a:p>
          <a:p>
            <a:r>
              <a:rPr lang="en-US" sz="1100" dirty="0"/>
              <a:t>https://uwaterloo.atlassian.net/wiki/spaces/UWRT/pages/33962263427/Cycloidal+Drive+-+Rev+1+Prototype+Journal</a:t>
            </a:r>
          </a:p>
        </p:txBody>
      </p:sp>
      <p:sp>
        <p:nvSpPr>
          <p:cNvPr id="5" name="TextBox 4">
            <a:extLst>
              <a:ext uri="{FF2B5EF4-FFF2-40B4-BE49-F238E27FC236}">
                <a16:creationId xmlns:a16="http://schemas.microsoft.com/office/drawing/2014/main" id="{43C61E38-567A-655D-2B5B-7B97CE235748}"/>
              </a:ext>
            </a:extLst>
          </p:cNvPr>
          <p:cNvSpPr txBox="1"/>
          <p:nvPr/>
        </p:nvSpPr>
        <p:spPr>
          <a:xfrm>
            <a:off x="4317558" y="294397"/>
            <a:ext cx="7299297" cy="344709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l">
              <a:lnSpc>
                <a:spcPts val="1650"/>
              </a:lnSpc>
              <a:spcBef>
                <a:spcPts val="750"/>
              </a:spcBef>
              <a:spcAft>
                <a:spcPts val="600"/>
              </a:spcAft>
            </a:pPr>
            <a:r>
              <a:rPr lang="en-US" b="1" dirty="0">
                <a:solidFill>
                  <a:srgbClr val="001D35"/>
                </a:solidFill>
                <a:latin typeface="Google Sans"/>
              </a:rPr>
              <a:t>Cycloidal Gear Profile Parametric Equation</a:t>
            </a:r>
            <a:endParaRPr lang="en-US" b="1" i="0" dirty="0">
              <a:solidFill>
                <a:srgbClr val="001D35"/>
              </a:solidFill>
              <a:effectLst/>
              <a:latin typeface="Google Sans"/>
            </a:endParaRPr>
          </a:p>
          <a:p>
            <a:pPr algn="l">
              <a:lnSpc>
                <a:spcPts val="1650"/>
              </a:lnSpc>
              <a:spcBef>
                <a:spcPts val="750"/>
              </a:spcBef>
              <a:spcAft>
                <a:spcPts val="600"/>
              </a:spcAft>
            </a:pPr>
            <a:r>
              <a:rPr lang="en-US" b="0" i="0" dirty="0">
                <a:solidFill>
                  <a:srgbClr val="001D35"/>
                </a:solidFill>
                <a:effectLst/>
                <a:latin typeface="Google Sans"/>
              </a:rPr>
              <a:t>X = (</a:t>
            </a:r>
            <a:r>
              <a:rPr lang="en-US" b="0" i="0" dirty="0" err="1">
                <a:solidFill>
                  <a:srgbClr val="001D35"/>
                </a:solidFill>
                <a:effectLst/>
                <a:latin typeface="Google Sans"/>
              </a:rPr>
              <a:t>R</a:t>
            </a:r>
            <a:r>
              <a:rPr lang="en-US" b="0" i="1" dirty="0" err="1">
                <a:solidFill>
                  <a:srgbClr val="001D35"/>
                </a:solidFill>
                <a:effectLst/>
                <a:latin typeface="Google Sans"/>
              </a:rPr>
              <a:t>cos</a:t>
            </a:r>
            <a:r>
              <a:rPr lang="en-US" b="0" i="1" dirty="0">
                <a:solidFill>
                  <a:srgbClr val="001D35"/>
                </a:solidFill>
                <a:effectLst/>
                <a:latin typeface="Google Sans"/>
              </a:rPr>
              <a:t>(t))-(</a:t>
            </a:r>
            <a:r>
              <a:rPr lang="en-US" b="0" i="1" dirty="0" err="1">
                <a:solidFill>
                  <a:srgbClr val="001D35"/>
                </a:solidFill>
                <a:effectLst/>
                <a:latin typeface="Google Sans"/>
              </a:rPr>
              <a:t>Rr</a:t>
            </a:r>
            <a:r>
              <a:rPr lang="en-US" b="0" i="0" dirty="0" err="1">
                <a:solidFill>
                  <a:srgbClr val="001D35"/>
                </a:solidFill>
                <a:effectLst/>
                <a:latin typeface="Google Sans"/>
              </a:rPr>
              <a:t>cos</a:t>
            </a:r>
            <a:r>
              <a:rPr lang="en-US" b="0" i="0" dirty="0">
                <a:solidFill>
                  <a:srgbClr val="001D35"/>
                </a:solidFill>
                <a:effectLst/>
                <a:latin typeface="Google Sans"/>
              </a:rPr>
              <a:t>(</a:t>
            </a:r>
            <a:r>
              <a:rPr lang="en-US" b="0" i="0" dirty="0" err="1">
                <a:solidFill>
                  <a:srgbClr val="001D35"/>
                </a:solidFill>
                <a:effectLst/>
                <a:latin typeface="Google Sans"/>
              </a:rPr>
              <a:t>t+arctan</a:t>
            </a:r>
            <a:r>
              <a:rPr lang="en-US" b="0" i="0" dirty="0">
                <a:solidFill>
                  <a:srgbClr val="001D35"/>
                </a:solidFill>
                <a:effectLst/>
                <a:latin typeface="Google Sans"/>
              </a:rPr>
              <a:t>(sin((1-N)</a:t>
            </a:r>
            <a:r>
              <a:rPr lang="en-US" b="0" i="1" dirty="0">
                <a:solidFill>
                  <a:srgbClr val="001D35"/>
                </a:solidFill>
                <a:effectLst/>
                <a:latin typeface="Google Sans"/>
              </a:rPr>
              <a:t>t)/((R/EN)-cos((1-N)t)))))-(</a:t>
            </a:r>
            <a:r>
              <a:rPr lang="en-US" b="0" i="1" dirty="0" err="1">
                <a:solidFill>
                  <a:srgbClr val="001D35"/>
                </a:solidFill>
                <a:effectLst/>
                <a:latin typeface="Google Sans"/>
              </a:rPr>
              <a:t>Ecos</a:t>
            </a:r>
            <a:r>
              <a:rPr lang="en-US" b="0" i="1" dirty="0">
                <a:solidFill>
                  <a:srgbClr val="001D35"/>
                </a:solidFill>
                <a:effectLst/>
                <a:latin typeface="Google Sans"/>
              </a:rPr>
              <a:t>(</a:t>
            </a:r>
            <a:r>
              <a:rPr lang="en-US" b="0" i="1" dirty="0" err="1">
                <a:solidFill>
                  <a:srgbClr val="001D35"/>
                </a:solidFill>
                <a:effectLst/>
                <a:latin typeface="Google Sans"/>
              </a:rPr>
              <a:t>N</a:t>
            </a:r>
            <a:r>
              <a:rPr lang="en-US" b="0" i="0" dirty="0" err="1">
                <a:solidFill>
                  <a:srgbClr val="001D35"/>
                </a:solidFill>
                <a:effectLst/>
                <a:latin typeface="Google Sans"/>
              </a:rPr>
              <a:t>t</a:t>
            </a:r>
            <a:r>
              <a:rPr lang="en-US" b="0" i="0" dirty="0">
                <a:solidFill>
                  <a:srgbClr val="001D35"/>
                </a:solidFill>
                <a:effectLst/>
                <a:latin typeface="Google Sans"/>
              </a:rPr>
              <a:t>))</a:t>
            </a:r>
          </a:p>
          <a:p>
            <a:pPr algn="l">
              <a:lnSpc>
                <a:spcPts val="1650"/>
              </a:lnSpc>
              <a:spcBef>
                <a:spcPts val="750"/>
              </a:spcBef>
              <a:spcAft>
                <a:spcPts val="600"/>
              </a:spcAft>
            </a:pPr>
            <a:r>
              <a:rPr lang="en-US" b="0" i="0" dirty="0">
                <a:solidFill>
                  <a:srgbClr val="001D35"/>
                </a:solidFill>
                <a:effectLst/>
                <a:latin typeface="Google Sans"/>
              </a:rPr>
              <a:t>Y = (-</a:t>
            </a:r>
            <a:r>
              <a:rPr lang="en-US" b="0" i="0" dirty="0" err="1">
                <a:solidFill>
                  <a:srgbClr val="001D35"/>
                </a:solidFill>
                <a:effectLst/>
                <a:latin typeface="Google Sans"/>
              </a:rPr>
              <a:t>R</a:t>
            </a:r>
            <a:r>
              <a:rPr lang="en-US" b="0" i="1" dirty="0" err="1">
                <a:solidFill>
                  <a:srgbClr val="001D35"/>
                </a:solidFill>
                <a:effectLst/>
                <a:latin typeface="Google Sans"/>
              </a:rPr>
              <a:t>sin</a:t>
            </a:r>
            <a:r>
              <a:rPr lang="en-US" b="0" i="1" dirty="0">
                <a:solidFill>
                  <a:srgbClr val="001D35"/>
                </a:solidFill>
                <a:effectLst/>
                <a:latin typeface="Google Sans"/>
              </a:rPr>
              <a:t>(t))+(</a:t>
            </a:r>
            <a:r>
              <a:rPr lang="en-US" b="0" i="1" dirty="0" err="1">
                <a:solidFill>
                  <a:srgbClr val="001D35"/>
                </a:solidFill>
                <a:effectLst/>
                <a:latin typeface="Google Sans"/>
              </a:rPr>
              <a:t>Rr</a:t>
            </a:r>
            <a:r>
              <a:rPr lang="en-US" b="0" i="0" dirty="0" err="1">
                <a:solidFill>
                  <a:srgbClr val="001D35"/>
                </a:solidFill>
                <a:effectLst/>
                <a:latin typeface="Google Sans"/>
              </a:rPr>
              <a:t>sin</a:t>
            </a:r>
            <a:r>
              <a:rPr lang="en-US" b="0" i="0" dirty="0">
                <a:solidFill>
                  <a:srgbClr val="001D35"/>
                </a:solidFill>
                <a:effectLst/>
                <a:latin typeface="Google Sans"/>
              </a:rPr>
              <a:t>(</a:t>
            </a:r>
            <a:r>
              <a:rPr lang="en-US" b="0" i="0" dirty="0" err="1">
                <a:solidFill>
                  <a:srgbClr val="001D35"/>
                </a:solidFill>
                <a:effectLst/>
                <a:latin typeface="Google Sans"/>
              </a:rPr>
              <a:t>t+arctan</a:t>
            </a:r>
            <a:r>
              <a:rPr lang="en-US" b="0" i="0" dirty="0">
                <a:solidFill>
                  <a:srgbClr val="001D35"/>
                </a:solidFill>
                <a:effectLst/>
                <a:latin typeface="Google Sans"/>
              </a:rPr>
              <a:t>(sin((1-N)</a:t>
            </a:r>
            <a:r>
              <a:rPr lang="en-US" b="0" i="1" dirty="0">
                <a:solidFill>
                  <a:srgbClr val="001D35"/>
                </a:solidFill>
                <a:effectLst/>
                <a:latin typeface="Google Sans"/>
              </a:rPr>
              <a:t>t)/((R/EN)-cos((1-N)t)))))+(</a:t>
            </a:r>
            <a:r>
              <a:rPr lang="en-US" b="0" i="1" dirty="0" err="1">
                <a:solidFill>
                  <a:srgbClr val="001D35"/>
                </a:solidFill>
                <a:effectLst/>
                <a:latin typeface="Google Sans"/>
              </a:rPr>
              <a:t>Esin</a:t>
            </a:r>
            <a:r>
              <a:rPr lang="en-US" b="0" i="1" dirty="0">
                <a:solidFill>
                  <a:srgbClr val="001D35"/>
                </a:solidFill>
                <a:effectLst/>
                <a:latin typeface="Google Sans"/>
              </a:rPr>
              <a:t>(</a:t>
            </a:r>
            <a:r>
              <a:rPr lang="en-US" b="0" i="1" dirty="0" err="1">
                <a:solidFill>
                  <a:srgbClr val="001D35"/>
                </a:solidFill>
                <a:effectLst/>
                <a:latin typeface="Google Sans"/>
              </a:rPr>
              <a:t>N</a:t>
            </a:r>
            <a:r>
              <a:rPr lang="en-US" b="0" i="0" dirty="0" err="1">
                <a:solidFill>
                  <a:srgbClr val="001D35"/>
                </a:solidFill>
                <a:effectLst/>
                <a:latin typeface="Google Sans"/>
              </a:rPr>
              <a:t>t</a:t>
            </a:r>
            <a:r>
              <a:rPr lang="en-US" b="0" i="0" dirty="0">
                <a:solidFill>
                  <a:srgbClr val="001D35"/>
                </a:solidFill>
                <a:effectLst/>
                <a:latin typeface="Google Sans"/>
              </a:rPr>
              <a:t>))</a:t>
            </a:r>
          </a:p>
          <a:p>
            <a:pPr algn="l">
              <a:lnSpc>
                <a:spcPts val="1650"/>
              </a:lnSpc>
              <a:spcBef>
                <a:spcPts val="750"/>
              </a:spcBef>
              <a:spcAft>
                <a:spcPts val="600"/>
              </a:spcAft>
            </a:pPr>
            <a:endParaRPr lang="en-US" dirty="0">
              <a:solidFill>
                <a:srgbClr val="001D35"/>
              </a:solidFill>
              <a:latin typeface="Google Sans"/>
            </a:endParaRPr>
          </a:p>
          <a:p>
            <a:pPr algn="l">
              <a:lnSpc>
                <a:spcPts val="1650"/>
              </a:lnSpc>
              <a:spcBef>
                <a:spcPts val="750"/>
              </a:spcBef>
              <a:spcAft>
                <a:spcPts val="600"/>
              </a:spcAft>
            </a:pPr>
            <a:r>
              <a:rPr lang="en-US" b="0" i="0" dirty="0">
                <a:solidFill>
                  <a:srgbClr val="001D35"/>
                </a:solidFill>
                <a:effectLst/>
                <a:latin typeface="Google Sans"/>
              </a:rPr>
              <a:t>R = Outer lobe Position Radius</a:t>
            </a:r>
          </a:p>
          <a:p>
            <a:pPr algn="l">
              <a:lnSpc>
                <a:spcPts val="1650"/>
              </a:lnSpc>
              <a:spcBef>
                <a:spcPts val="750"/>
              </a:spcBef>
              <a:spcAft>
                <a:spcPts val="600"/>
              </a:spcAft>
            </a:pPr>
            <a:r>
              <a:rPr lang="en-US" dirty="0">
                <a:solidFill>
                  <a:srgbClr val="001D35"/>
                </a:solidFill>
                <a:latin typeface="Google Sans"/>
              </a:rPr>
              <a:t>Rr= Outer lobe Radius</a:t>
            </a:r>
          </a:p>
          <a:p>
            <a:pPr algn="l">
              <a:lnSpc>
                <a:spcPts val="1650"/>
              </a:lnSpc>
              <a:spcBef>
                <a:spcPts val="750"/>
              </a:spcBef>
              <a:spcAft>
                <a:spcPts val="600"/>
              </a:spcAft>
            </a:pPr>
            <a:r>
              <a:rPr lang="en-US" b="0" i="0" dirty="0">
                <a:solidFill>
                  <a:srgbClr val="001D35"/>
                </a:solidFill>
                <a:effectLst/>
                <a:latin typeface="Google Sans"/>
              </a:rPr>
              <a:t>N = # of lobes (Akin to Reduction Ratio)</a:t>
            </a:r>
          </a:p>
          <a:p>
            <a:pPr algn="l">
              <a:lnSpc>
                <a:spcPts val="1650"/>
              </a:lnSpc>
              <a:spcBef>
                <a:spcPts val="750"/>
              </a:spcBef>
              <a:spcAft>
                <a:spcPts val="600"/>
              </a:spcAft>
            </a:pPr>
            <a:r>
              <a:rPr lang="en-US" dirty="0">
                <a:solidFill>
                  <a:srgbClr val="001D35"/>
                </a:solidFill>
                <a:latin typeface="Google Sans"/>
              </a:rPr>
              <a:t>E= Eccentricity</a:t>
            </a:r>
            <a:endParaRPr lang="en-US" b="0" i="0" dirty="0">
              <a:solidFill>
                <a:srgbClr val="001D35"/>
              </a:solidFill>
              <a:effectLst/>
              <a:latin typeface="Google Sans"/>
            </a:endParaRPr>
          </a:p>
          <a:p>
            <a:r>
              <a:rPr lang="en-US" sz="1100" dirty="0"/>
              <a:t>*-1mm offset to account for assembly, and tolerances.</a:t>
            </a:r>
          </a:p>
        </p:txBody>
      </p:sp>
      <p:pic>
        <p:nvPicPr>
          <p:cNvPr id="7" name="Picture 6">
            <a:extLst>
              <a:ext uri="{FF2B5EF4-FFF2-40B4-BE49-F238E27FC236}">
                <a16:creationId xmlns:a16="http://schemas.microsoft.com/office/drawing/2014/main" id="{33A3EB09-20CE-6C0E-E83D-E29B2736D5B4}"/>
              </a:ext>
            </a:extLst>
          </p:cNvPr>
          <p:cNvPicPr>
            <a:picLocks noChangeAspect="1"/>
          </p:cNvPicPr>
          <p:nvPr/>
        </p:nvPicPr>
        <p:blipFill>
          <a:blip r:embed="rId3"/>
          <a:stretch>
            <a:fillRect/>
          </a:stretch>
        </p:blipFill>
        <p:spPr>
          <a:xfrm>
            <a:off x="4414835" y="3923609"/>
            <a:ext cx="6622305" cy="2934391"/>
          </a:xfrm>
          <a:prstGeom prst="rect">
            <a:avLst/>
          </a:prstGeom>
        </p:spPr>
      </p:pic>
      <p:graphicFrame>
        <p:nvGraphicFramePr>
          <p:cNvPr id="6" name="Table 5">
            <a:extLst>
              <a:ext uri="{FF2B5EF4-FFF2-40B4-BE49-F238E27FC236}">
                <a16:creationId xmlns:a16="http://schemas.microsoft.com/office/drawing/2014/main" id="{18F53356-3CDD-4122-9D64-07390995CB64}"/>
              </a:ext>
            </a:extLst>
          </p:cNvPr>
          <p:cNvGraphicFramePr>
            <a:graphicFrameLocks noGrp="1"/>
          </p:cNvGraphicFramePr>
          <p:nvPr>
            <p:extLst>
              <p:ext uri="{D42A27DB-BD31-4B8C-83A1-F6EECF244321}">
                <p14:modId xmlns:p14="http://schemas.microsoft.com/office/powerpoint/2010/main" val="3852039950"/>
              </p:ext>
            </p:extLst>
          </p:nvPr>
        </p:nvGraphicFramePr>
        <p:xfrm>
          <a:off x="8302555" y="1581160"/>
          <a:ext cx="2637308" cy="1737360"/>
        </p:xfrm>
        <a:graphic>
          <a:graphicData uri="http://schemas.openxmlformats.org/drawingml/2006/table">
            <a:tbl>
              <a:tblPr firstRow="1" bandRow="1">
                <a:tableStyleId>{5C22544A-7EE6-4342-B048-85BDC9FD1C3A}</a:tableStyleId>
              </a:tblPr>
              <a:tblGrid>
                <a:gridCol w="1318654">
                  <a:extLst>
                    <a:ext uri="{9D8B030D-6E8A-4147-A177-3AD203B41FA5}">
                      <a16:colId xmlns:a16="http://schemas.microsoft.com/office/drawing/2014/main" val="4137650375"/>
                    </a:ext>
                  </a:extLst>
                </a:gridCol>
                <a:gridCol w="1318654">
                  <a:extLst>
                    <a:ext uri="{9D8B030D-6E8A-4147-A177-3AD203B41FA5}">
                      <a16:colId xmlns:a16="http://schemas.microsoft.com/office/drawing/2014/main" val="3648805159"/>
                    </a:ext>
                  </a:extLst>
                </a:gridCol>
              </a:tblGrid>
              <a:tr h="349839">
                <a:tc>
                  <a:txBody>
                    <a:bodyPr/>
                    <a:lstStyle/>
                    <a:p>
                      <a:r>
                        <a:rPr lang="en-US" sz="1400" dirty="0"/>
                        <a:t>Design Parameters</a:t>
                      </a:r>
                    </a:p>
                  </a:txBody>
                  <a:tcPr/>
                </a:tc>
                <a:tc>
                  <a:txBody>
                    <a:bodyPr/>
                    <a:lstStyle/>
                    <a:p>
                      <a:r>
                        <a:rPr lang="en-US" sz="1400" dirty="0"/>
                        <a:t>Value</a:t>
                      </a:r>
                    </a:p>
                  </a:txBody>
                  <a:tcPr/>
                </a:tc>
                <a:extLst>
                  <a:ext uri="{0D108BD9-81ED-4DB2-BD59-A6C34878D82A}">
                    <a16:rowId xmlns:a16="http://schemas.microsoft.com/office/drawing/2014/main" val="872470063"/>
                  </a:ext>
                </a:extLst>
              </a:tr>
              <a:tr h="286530">
                <a:tc>
                  <a:txBody>
                    <a:bodyPr/>
                    <a:lstStyle/>
                    <a:p>
                      <a:r>
                        <a:rPr lang="en-US" sz="1400" dirty="0"/>
                        <a:t>R</a:t>
                      </a:r>
                    </a:p>
                  </a:txBody>
                  <a:tcPr/>
                </a:tc>
                <a:tc>
                  <a:txBody>
                    <a:bodyPr/>
                    <a:lstStyle/>
                    <a:p>
                      <a:r>
                        <a:rPr lang="en-US" sz="1400" dirty="0"/>
                        <a:t>45mm</a:t>
                      </a:r>
                    </a:p>
                  </a:txBody>
                  <a:tcPr/>
                </a:tc>
                <a:extLst>
                  <a:ext uri="{0D108BD9-81ED-4DB2-BD59-A6C34878D82A}">
                    <a16:rowId xmlns:a16="http://schemas.microsoft.com/office/drawing/2014/main" val="297768524"/>
                  </a:ext>
                </a:extLst>
              </a:tr>
              <a:tr h="286530">
                <a:tc>
                  <a:txBody>
                    <a:bodyPr/>
                    <a:lstStyle/>
                    <a:p>
                      <a:r>
                        <a:rPr lang="en-US" sz="1400" dirty="0"/>
                        <a:t>Rr</a:t>
                      </a:r>
                    </a:p>
                  </a:txBody>
                  <a:tcPr/>
                </a:tc>
                <a:tc>
                  <a:txBody>
                    <a:bodyPr/>
                    <a:lstStyle/>
                    <a:p>
                      <a:r>
                        <a:rPr lang="en-US" sz="1400" dirty="0"/>
                        <a:t>6.5mm</a:t>
                      </a:r>
                    </a:p>
                  </a:txBody>
                  <a:tcPr/>
                </a:tc>
                <a:extLst>
                  <a:ext uri="{0D108BD9-81ED-4DB2-BD59-A6C34878D82A}">
                    <a16:rowId xmlns:a16="http://schemas.microsoft.com/office/drawing/2014/main" val="2020410190"/>
                  </a:ext>
                </a:extLst>
              </a:tr>
              <a:tr h="286530">
                <a:tc>
                  <a:txBody>
                    <a:bodyPr/>
                    <a:lstStyle/>
                    <a:p>
                      <a:r>
                        <a:rPr lang="en-US" sz="1400" dirty="0"/>
                        <a:t>N</a:t>
                      </a:r>
                    </a:p>
                  </a:txBody>
                  <a:tcPr/>
                </a:tc>
                <a:tc>
                  <a:txBody>
                    <a:bodyPr/>
                    <a:lstStyle/>
                    <a:p>
                      <a:r>
                        <a:rPr lang="en-US" sz="1400" dirty="0"/>
                        <a:t>16</a:t>
                      </a:r>
                    </a:p>
                  </a:txBody>
                  <a:tcPr/>
                </a:tc>
                <a:extLst>
                  <a:ext uri="{0D108BD9-81ED-4DB2-BD59-A6C34878D82A}">
                    <a16:rowId xmlns:a16="http://schemas.microsoft.com/office/drawing/2014/main" val="3180038918"/>
                  </a:ext>
                </a:extLst>
              </a:tr>
              <a:tr h="286530">
                <a:tc>
                  <a:txBody>
                    <a:bodyPr/>
                    <a:lstStyle/>
                    <a:p>
                      <a:r>
                        <a:rPr lang="en-US" sz="1400" dirty="0"/>
                        <a:t>E</a:t>
                      </a:r>
                    </a:p>
                  </a:txBody>
                  <a:tcPr/>
                </a:tc>
                <a:tc>
                  <a:txBody>
                    <a:bodyPr/>
                    <a:lstStyle/>
                    <a:p>
                      <a:r>
                        <a:rPr lang="en-US" sz="1400" dirty="0"/>
                        <a:t>1.5mm</a:t>
                      </a:r>
                    </a:p>
                  </a:txBody>
                  <a:tcPr/>
                </a:tc>
                <a:extLst>
                  <a:ext uri="{0D108BD9-81ED-4DB2-BD59-A6C34878D82A}">
                    <a16:rowId xmlns:a16="http://schemas.microsoft.com/office/drawing/2014/main" val="2012184141"/>
                  </a:ext>
                </a:extLst>
              </a:tr>
            </a:tbl>
          </a:graphicData>
        </a:graphic>
      </p:graphicFrame>
      <p:sp>
        <p:nvSpPr>
          <p:cNvPr id="8" name="TextBox 7">
            <a:extLst>
              <a:ext uri="{FF2B5EF4-FFF2-40B4-BE49-F238E27FC236}">
                <a16:creationId xmlns:a16="http://schemas.microsoft.com/office/drawing/2014/main" id="{C7979CE7-BA69-304F-1657-7307200FD384}"/>
              </a:ext>
            </a:extLst>
          </p:cNvPr>
          <p:cNvSpPr txBox="1"/>
          <p:nvPr/>
        </p:nvSpPr>
        <p:spPr>
          <a:xfrm>
            <a:off x="365383" y="3741323"/>
            <a:ext cx="3448746"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3d-printed spur gears often fail due to concentrated load on small features</a:t>
            </a:r>
          </a:p>
          <a:p>
            <a:endParaRPr lang="en-US" dirty="0"/>
          </a:p>
          <a:p>
            <a:r>
              <a:rPr lang="en-US" dirty="0"/>
              <a:t>Greater contact area between gear and ring pins to distribute load</a:t>
            </a:r>
          </a:p>
        </p:txBody>
      </p:sp>
    </p:spTree>
    <p:extLst>
      <p:ext uri="{BB962C8B-B14F-4D97-AF65-F5344CB8AC3E}">
        <p14:creationId xmlns:p14="http://schemas.microsoft.com/office/powerpoint/2010/main" val="1936979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74718B-FDCE-0998-1B46-0CC626F23863}"/>
              </a:ext>
            </a:extLst>
          </p:cNvPr>
          <p:cNvSpPr txBox="1"/>
          <p:nvPr/>
        </p:nvSpPr>
        <p:spPr>
          <a:xfrm>
            <a:off x="125746" y="104515"/>
            <a:ext cx="3510793" cy="646331"/>
          </a:xfrm>
          <a:prstGeom prst="rect">
            <a:avLst/>
          </a:prstGeom>
          <a:noFill/>
        </p:spPr>
        <p:txBody>
          <a:bodyPr wrap="square" rtlCol="0">
            <a:spAutoFit/>
          </a:bodyPr>
          <a:lstStyle/>
          <a:p>
            <a:r>
              <a:rPr lang="en-US" b="1" dirty="0"/>
              <a:t>Cycloidal Gear Proof of Concept</a:t>
            </a:r>
          </a:p>
        </p:txBody>
      </p:sp>
      <p:pic>
        <p:nvPicPr>
          <p:cNvPr id="4" name="Picture 3">
            <a:extLst>
              <a:ext uri="{FF2B5EF4-FFF2-40B4-BE49-F238E27FC236}">
                <a16:creationId xmlns:a16="http://schemas.microsoft.com/office/drawing/2014/main" id="{157D549A-88F2-2EDF-6F82-A458529138D9}"/>
              </a:ext>
            </a:extLst>
          </p:cNvPr>
          <p:cNvPicPr>
            <a:picLocks noChangeAspect="1"/>
          </p:cNvPicPr>
          <p:nvPr/>
        </p:nvPicPr>
        <p:blipFill>
          <a:blip r:embed="rId3"/>
          <a:stretch>
            <a:fillRect/>
          </a:stretch>
        </p:blipFill>
        <p:spPr>
          <a:xfrm>
            <a:off x="7626285" y="430196"/>
            <a:ext cx="3608426" cy="2830235"/>
          </a:xfrm>
          <a:prstGeom prst="rect">
            <a:avLst/>
          </a:prstGeom>
        </p:spPr>
      </p:pic>
      <p:pic>
        <p:nvPicPr>
          <p:cNvPr id="6" name="Picture 5">
            <a:extLst>
              <a:ext uri="{FF2B5EF4-FFF2-40B4-BE49-F238E27FC236}">
                <a16:creationId xmlns:a16="http://schemas.microsoft.com/office/drawing/2014/main" id="{579996CD-B3B9-F2E9-F5C5-7E76760E41CE}"/>
              </a:ext>
            </a:extLst>
          </p:cNvPr>
          <p:cNvPicPr>
            <a:picLocks noChangeAspect="1"/>
          </p:cNvPicPr>
          <p:nvPr/>
        </p:nvPicPr>
        <p:blipFill>
          <a:blip r:embed="rId4"/>
          <a:stretch>
            <a:fillRect/>
          </a:stretch>
        </p:blipFill>
        <p:spPr>
          <a:xfrm>
            <a:off x="4039480" y="546755"/>
            <a:ext cx="3359093" cy="5435755"/>
          </a:xfrm>
          <a:prstGeom prst="rect">
            <a:avLst/>
          </a:prstGeom>
        </p:spPr>
      </p:pic>
      <p:pic>
        <p:nvPicPr>
          <p:cNvPr id="9" name="Picture 8">
            <a:extLst>
              <a:ext uri="{FF2B5EF4-FFF2-40B4-BE49-F238E27FC236}">
                <a16:creationId xmlns:a16="http://schemas.microsoft.com/office/drawing/2014/main" id="{AB50FA94-E8E6-C106-AD67-645FCC7BFC8E}"/>
              </a:ext>
            </a:extLst>
          </p:cNvPr>
          <p:cNvPicPr>
            <a:picLocks noChangeAspect="1"/>
          </p:cNvPicPr>
          <p:nvPr/>
        </p:nvPicPr>
        <p:blipFill>
          <a:blip r:embed="rId5"/>
          <a:stretch>
            <a:fillRect/>
          </a:stretch>
        </p:blipFill>
        <p:spPr>
          <a:xfrm>
            <a:off x="8003558" y="3260431"/>
            <a:ext cx="2853880" cy="3186077"/>
          </a:xfrm>
          <a:prstGeom prst="rect">
            <a:avLst/>
          </a:prstGeom>
        </p:spPr>
      </p:pic>
      <p:sp>
        <p:nvSpPr>
          <p:cNvPr id="3" name="TextBox 2">
            <a:extLst>
              <a:ext uri="{FF2B5EF4-FFF2-40B4-BE49-F238E27FC236}">
                <a16:creationId xmlns:a16="http://schemas.microsoft.com/office/drawing/2014/main" id="{D87F67FD-E8FB-9ADD-BB11-16413F052EF7}"/>
              </a:ext>
            </a:extLst>
          </p:cNvPr>
          <p:cNvSpPr txBox="1"/>
          <p:nvPr/>
        </p:nvSpPr>
        <p:spPr>
          <a:xfrm>
            <a:off x="235670" y="952107"/>
            <a:ext cx="3063711"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DFM Considerations</a:t>
            </a:r>
          </a:p>
          <a:p>
            <a:pPr marL="285750" indent="-285750">
              <a:buFont typeface="Arial" panose="020B0604020202020204" pitchFamily="34" charset="0"/>
              <a:buChar char="•"/>
            </a:pPr>
            <a:r>
              <a:rPr lang="en-US" dirty="0"/>
              <a:t>FDM printing tolerances +_ 0.2mm</a:t>
            </a:r>
          </a:p>
          <a:p>
            <a:pPr marL="285750" indent="-285750">
              <a:buFont typeface="Arial" panose="020B0604020202020204" pitchFamily="34" charset="0"/>
              <a:buChar char="•"/>
            </a:pPr>
            <a:r>
              <a:rPr lang="en-US" dirty="0"/>
              <a:t>Design to be compatible with standard hardware</a:t>
            </a:r>
          </a:p>
          <a:p>
            <a:pPr marL="285750" indent="-285750">
              <a:buFont typeface="Arial" panose="020B0604020202020204" pitchFamily="34" charset="0"/>
              <a:buChar char="•"/>
            </a:pPr>
            <a:r>
              <a:rPr lang="en-US" dirty="0"/>
              <a:t>Limited to PLA </a:t>
            </a:r>
          </a:p>
          <a:p>
            <a:pPr marL="285750" indent="-285750">
              <a:buFont typeface="Arial" panose="020B0604020202020204" pitchFamily="34" charset="0"/>
              <a:buChar char="•"/>
            </a:pPr>
            <a:r>
              <a:rPr lang="en-US" dirty="0"/>
              <a:t>Limit features that require internal supports</a:t>
            </a:r>
          </a:p>
          <a:p>
            <a:pPr marL="285750" indent="-285750">
              <a:buFont typeface="Arial" panose="020B0604020202020204" pitchFamily="34" charset="0"/>
              <a:buChar char="•"/>
            </a:pPr>
            <a:r>
              <a:rPr lang="en-US" dirty="0"/>
              <a:t>Print orientation </a:t>
            </a:r>
          </a:p>
        </p:txBody>
      </p:sp>
    </p:spTree>
    <p:extLst>
      <p:ext uri="{BB962C8B-B14F-4D97-AF65-F5344CB8AC3E}">
        <p14:creationId xmlns:p14="http://schemas.microsoft.com/office/powerpoint/2010/main" val="4165405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E4DD1A-E9CD-5DBA-12EC-84B8DDBEC0BB}"/>
              </a:ext>
            </a:extLst>
          </p:cNvPr>
          <p:cNvPicPr>
            <a:picLocks noChangeAspect="1"/>
          </p:cNvPicPr>
          <p:nvPr/>
        </p:nvPicPr>
        <p:blipFill>
          <a:blip r:embed="rId3"/>
          <a:stretch>
            <a:fillRect/>
          </a:stretch>
        </p:blipFill>
        <p:spPr>
          <a:xfrm>
            <a:off x="3920246" y="223736"/>
            <a:ext cx="5087060" cy="3848637"/>
          </a:xfrm>
          <a:prstGeom prst="rect">
            <a:avLst/>
          </a:prstGeom>
        </p:spPr>
      </p:pic>
      <p:sp>
        <p:nvSpPr>
          <p:cNvPr id="4" name="TextBox 3">
            <a:extLst>
              <a:ext uri="{FF2B5EF4-FFF2-40B4-BE49-F238E27FC236}">
                <a16:creationId xmlns:a16="http://schemas.microsoft.com/office/drawing/2014/main" id="{1A9311FF-A5D6-F470-445A-7168CD4589D3}"/>
              </a:ext>
            </a:extLst>
          </p:cNvPr>
          <p:cNvSpPr txBox="1"/>
          <p:nvPr/>
        </p:nvSpPr>
        <p:spPr>
          <a:xfrm>
            <a:off x="107851" y="107164"/>
            <a:ext cx="3385225" cy="369332"/>
          </a:xfrm>
          <a:prstGeom prst="rect">
            <a:avLst/>
          </a:prstGeom>
          <a:noFill/>
        </p:spPr>
        <p:txBody>
          <a:bodyPr wrap="square" rtlCol="0">
            <a:spAutoFit/>
          </a:bodyPr>
          <a:lstStyle/>
          <a:p>
            <a:r>
              <a:rPr lang="en-US" b="1" dirty="0"/>
              <a:t>1</a:t>
            </a:r>
            <a:r>
              <a:rPr lang="en-US" b="1" baseline="30000" dirty="0"/>
              <a:t>st</a:t>
            </a:r>
            <a:r>
              <a:rPr lang="en-US" b="1" dirty="0"/>
              <a:t> Iteration</a:t>
            </a:r>
          </a:p>
        </p:txBody>
      </p:sp>
      <p:sp>
        <p:nvSpPr>
          <p:cNvPr id="5" name="TextBox 4">
            <a:extLst>
              <a:ext uri="{FF2B5EF4-FFF2-40B4-BE49-F238E27FC236}">
                <a16:creationId xmlns:a16="http://schemas.microsoft.com/office/drawing/2014/main" id="{C06EE41D-EC8F-8A54-DF3A-D4EFAC31032D}"/>
              </a:ext>
            </a:extLst>
          </p:cNvPr>
          <p:cNvSpPr txBox="1"/>
          <p:nvPr/>
        </p:nvSpPr>
        <p:spPr>
          <a:xfrm>
            <a:off x="107851" y="578393"/>
            <a:ext cx="3647873" cy="3046988"/>
          </a:xfrm>
          <a:prstGeom prst="rect">
            <a:avLst/>
          </a:prstGeom>
          <a:noFill/>
        </p:spPr>
        <p:txBody>
          <a:bodyPr wrap="square" rtlCol="0">
            <a:spAutoFit/>
          </a:bodyPr>
          <a:lstStyle/>
          <a:p>
            <a:r>
              <a:rPr lang="en-US" sz="1600" b="1" dirty="0"/>
              <a:t>Observations</a:t>
            </a:r>
          </a:p>
          <a:p>
            <a:r>
              <a:rPr lang="en-US" sz="1600" dirty="0"/>
              <a:t>Shaft </a:t>
            </a:r>
          </a:p>
          <a:p>
            <a:pPr marL="285750" indent="-285750">
              <a:buFontTx/>
              <a:buChar char="-"/>
            </a:pPr>
            <a:r>
              <a:rPr lang="en-US" sz="1600" dirty="0"/>
              <a:t>Lobe 1&amp;2 diameter out of spec (nominal = 14.85, Actual = 14.3-14.5)</a:t>
            </a:r>
          </a:p>
          <a:p>
            <a:pPr marL="285750" indent="-285750">
              <a:buFontTx/>
              <a:buChar char="-"/>
            </a:pPr>
            <a:r>
              <a:rPr lang="en-US" sz="1600" dirty="0"/>
              <a:t>Input shaft broke at shoulder </a:t>
            </a:r>
          </a:p>
          <a:p>
            <a:pPr marL="285750" indent="-285750">
              <a:buFontTx/>
              <a:buChar char="-"/>
            </a:pPr>
            <a:r>
              <a:rPr lang="en-US" sz="1600" dirty="0"/>
              <a:t>High torque to overcome at certain points due to gear getting stuck at some points. </a:t>
            </a:r>
          </a:p>
          <a:p>
            <a:pPr marL="285750" indent="-285750">
              <a:buFontTx/>
              <a:buChar char="-"/>
            </a:pPr>
            <a:r>
              <a:rPr lang="en-US" sz="1600" b="1" dirty="0"/>
              <a:t>Layer lines are in plane with radial forces, so they’re loaded in shear and split</a:t>
            </a:r>
          </a:p>
        </p:txBody>
      </p:sp>
      <p:sp>
        <p:nvSpPr>
          <p:cNvPr id="6" name="TextBox 5">
            <a:extLst>
              <a:ext uri="{FF2B5EF4-FFF2-40B4-BE49-F238E27FC236}">
                <a16:creationId xmlns:a16="http://schemas.microsoft.com/office/drawing/2014/main" id="{5AEC64E9-985E-3679-FDA8-6C9B3D914293}"/>
              </a:ext>
            </a:extLst>
          </p:cNvPr>
          <p:cNvSpPr txBox="1"/>
          <p:nvPr/>
        </p:nvSpPr>
        <p:spPr>
          <a:xfrm>
            <a:off x="9272855" y="3277401"/>
            <a:ext cx="2811294" cy="3693319"/>
          </a:xfrm>
          <a:prstGeom prst="rect">
            <a:avLst/>
          </a:prstGeom>
          <a:noFill/>
        </p:spPr>
        <p:txBody>
          <a:bodyPr wrap="square" rtlCol="0">
            <a:spAutoFit/>
          </a:bodyPr>
          <a:lstStyle/>
          <a:p>
            <a:r>
              <a:rPr lang="en-US" b="1" dirty="0"/>
              <a:t>Next Iteration</a:t>
            </a:r>
          </a:p>
          <a:p>
            <a:pPr marL="285750" indent="-285750">
              <a:buFontTx/>
              <a:buChar char="-"/>
            </a:pPr>
            <a:r>
              <a:rPr lang="en-US" dirty="0"/>
              <a:t>Print shaft sideways to prevent layer line aligning with radial load</a:t>
            </a:r>
          </a:p>
          <a:p>
            <a:pPr marL="285750" indent="-285750">
              <a:buFontTx/>
              <a:buChar char="-"/>
            </a:pPr>
            <a:r>
              <a:rPr lang="en-US" dirty="0"/>
              <a:t>Oversize shaft nominal (15.2mm </a:t>
            </a:r>
            <a:r>
              <a:rPr lang="en-US" dirty="0" err="1"/>
              <a:t>dia</a:t>
            </a:r>
            <a:r>
              <a:rPr lang="en-US" dirty="0"/>
              <a:t>)</a:t>
            </a:r>
          </a:p>
          <a:p>
            <a:pPr marL="285750" indent="-285750">
              <a:buFontTx/>
              <a:buChar char="-"/>
            </a:pPr>
            <a:r>
              <a:rPr lang="en-US" dirty="0"/>
              <a:t>Understand printer tolerances in (X,Y,Z, and features)</a:t>
            </a:r>
          </a:p>
          <a:p>
            <a:pPr marL="285750" indent="-285750">
              <a:buFontTx/>
              <a:buChar char="-"/>
            </a:pPr>
            <a:r>
              <a:rPr lang="en-US" dirty="0"/>
              <a:t>Print and test with output shaft</a:t>
            </a:r>
          </a:p>
          <a:p>
            <a:endParaRPr lang="en-US" dirty="0"/>
          </a:p>
          <a:p>
            <a:pPr marL="285750" indent="-285750">
              <a:buFontTx/>
              <a:buChar char="-"/>
            </a:pPr>
            <a:endParaRPr lang="en-US" dirty="0"/>
          </a:p>
        </p:txBody>
      </p:sp>
      <p:sp>
        <p:nvSpPr>
          <p:cNvPr id="7" name="TextBox 6">
            <a:extLst>
              <a:ext uri="{FF2B5EF4-FFF2-40B4-BE49-F238E27FC236}">
                <a16:creationId xmlns:a16="http://schemas.microsoft.com/office/drawing/2014/main" id="{BD482721-E7CA-8E43-F129-B2BD0118C5E1}"/>
              </a:ext>
            </a:extLst>
          </p:cNvPr>
          <p:cNvSpPr txBox="1"/>
          <p:nvPr/>
        </p:nvSpPr>
        <p:spPr>
          <a:xfrm>
            <a:off x="300714" y="4262148"/>
            <a:ext cx="2811294" cy="2031325"/>
          </a:xfrm>
          <a:prstGeom prst="rect">
            <a:avLst/>
          </a:prstGeom>
          <a:noFill/>
        </p:spPr>
        <p:txBody>
          <a:bodyPr wrap="square" rtlCol="0">
            <a:spAutoFit/>
          </a:bodyPr>
          <a:lstStyle/>
          <a:p>
            <a:r>
              <a:rPr lang="en-US" b="1" dirty="0"/>
              <a:t>Summary</a:t>
            </a:r>
          </a:p>
          <a:p>
            <a:r>
              <a:rPr lang="en-US" dirty="0"/>
              <a:t>-works overall to show feasibility</a:t>
            </a:r>
          </a:p>
          <a:p>
            <a:r>
              <a:rPr lang="en-US" dirty="0"/>
              <a:t>-needs tuning and design improvement</a:t>
            </a:r>
          </a:p>
          <a:p>
            <a:r>
              <a:rPr lang="en-US" dirty="0"/>
              <a:t>-Holes are 0.2mm undersized</a:t>
            </a:r>
          </a:p>
        </p:txBody>
      </p:sp>
      <p:pic>
        <p:nvPicPr>
          <p:cNvPr id="11" name="Picture 10">
            <a:extLst>
              <a:ext uri="{FF2B5EF4-FFF2-40B4-BE49-F238E27FC236}">
                <a16:creationId xmlns:a16="http://schemas.microsoft.com/office/drawing/2014/main" id="{256E964F-7E18-4EF6-48BB-2451C39CD257}"/>
              </a:ext>
            </a:extLst>
          </p:cNvPr>
          <p:cNvPicPr>
            <a:picLocks noChangeAspect="1"/>
          </p:cNvPicPr>
          <p:nvPr/>
        </p:nvPicPr>
        <p:blipFill>
          <a:blip r:embed="rId4"/>
          <a:stretch>
            <a:fillRect/>
          </a:stretch>
        </p:blipFill>
        <p:spPr>
          <a:xfrm>
            <a:off x="4058826" y="4122063"/>
            <a:ext cx="1863682" cy="2525174"/>
          </a:xfrm>
          <a:prstGeom prst="rect">
            <a:avLst/>
          </a:prstGeom>
        </p:spPr>
      </p:pic>
      <p:pic>
        <p:nvPicPr>
          <p:cNvPr id="15" name="Picture 14">
            <a:extLst>
              <a:ext uri="{FF2B5EF4-FFF2-40B4-BE49-F238E27FC236}">
                <a16:creationId xmlns:a16="http://schemas.microsoft.com/office/drawing/2014/main" id="{09AC3DFF-24D5-A197-3461-93F17BD83677}"/>
              </a:ext>
            </a:extLst>
          </p:cNvPr>
          <p:cNvPicPr>
            <a:picLocks noChangeAspect="1"/>
          </p:cNvPicPr>
          <p:nvPr/>
        </p:nvPicPr>
        <p:blipFill>
          <a:blip r:embed="rId5"/>
          <a:stretch>
            <a:fillRect/>
          </a:stretch>
        </p:blipFill>
        <p:spPr>
          <a:xfrm>
            <a:off x="6463776" y="4262148"/>
            <a:ext cx="2336494" cy="2245005"/>
          </a:xfrm>
          <a:prstGeom prst="rect">
            <a:avLst/>
          </a:prstGeom>
        </p:spPr>
      </p:pic>
      <p:sp>
        <p:nvSpPr>
          <p:cNvPr id="2" name="Oval 1">
            <a:extLst>
              <a:ext uri="{FF2B5EF4-FFF2-40B4-BE49-F238E27FC236}">
                <a16:creationId xmlns:a16="http://schemas.microsoft.com/office/drawing/2014/main" id="{A2C2D5A7-5C4B-A88B-6370-3F67D10363A9}"/>
              </a:ext>
            </a:extLst>
          </p:cNvPr>
          <p:cNvSpPr/>
          <p:nvPr/>
        </p:nvSpPr>
        <p:spPr>
          <a:xfrm>
            <a:off x="4627084" y="5321147"/>
            <a:ext cx="605928" cy="38559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BF4303-1084-7EA5-0940-AC12FBAAB341}"/>
              </a:ext>
            </a:extLst>
          </p:cNvPr>
          <p:cNvSpPr txBox="1"/>
          <p:nvPr/>
        </p:nvSpPr>
        <p:spPr>
          <a:xfrm>
            <a:off x="9171828" y="291830"/>
            <a:ext cx="1668770" cy="369332"/>
          </a:xfrm>
          <a:prstGeom prst="rect">
            <a:avLst/>
          </a:prstGeom>
          <a:noFill/>
        </p:spPr>
        <p:txBody>
          <a:bodyPr wrap="square" rtlCol="0">
            <a:spAutoFit/>
          </a:bodyPr>
          <a:lstStyle/>
          <a:p>
            <a:r>
              <a:rPr lang="en-US" dirty="0"/>
              <a:t>Output Plate</a:t>
            </a:r>
          </a:p>
        </p:txBody>
      </p:sp>
      <p:sp>
        <p:nvSpPr>
          <p:cNvPr id="9" name="TextBox 8">
            <a:extLst>
              <a:ext uri="{FF2B5EF4-FFF2-40B4-BE49-F238E27FC236}">
                <a16:creationId xmlns:a16="http://schemas.microsoft.com/office/drawing/2014/main" id="{309F2736-4349-E318-043C-E78256C1018C}"/>
              </a:ext>
            </a:extLst>
          </p:cNvPr>
          <p:cNvSpPr txBox="1"/>
          <p:nvPr/>
        </p:nvSpPr>
        <p:spPr>
          <a:xfrm>
            <a:off x="4095663" y="474663"/>
            <a:ext cx="740742" cy="369332"/>
          </a:xfrm>
          <a:prstGeom prst="rect">
            <a:avLst/>
          </a:prstGeom>
          <a:noFill/>
          <a:ln>
            <a:solidFill>
              <a:schemeClr val="tx1"/>
            </a:solidFill>
          </a:ln>
        </p:spPr>
        <p:txBody>
          <a:bodyPr wrap="square" rtlCol="0">
            <a:spAutoFit/>
          </a:bodyPr>
          <a:lstStyle/>
          <a:p>
            <a:r>
              <a:rPr lang="en-US" dirty="0"/>
              <a:t>Gear</a:t>
            </a:r>
          </a:p>
        </p:txBody>
      </p:sp>
      <p:sp>
        <p:nvSpPr>
          <p:cNvPr id="10" name="TextBox 9">
            <a:extLst>
              <a:ext uri="{FF2B5EF4-FFF2-40B4-BE49-F238E27FC236}">
                <a16:creationId xmlns:a16="http://schemas.microsoft.com/office/drawing/2014/main" id="{B77E2657-1EBA-C524-61AC-6B8C9A6AA963}"/>
              </a:ext>
            </a:extLst>
          </p:cNvPr>
          <p:cNvSpPr txBox="1"/>
          <p:nvPr/>
        </p:nvSpPr>
        <p:spPr>
          <a:xfrm>
            <a:off x="9171828" y="1268900"/>
            <a:ext cx="1668770" cy="646331"/>
          </a:xfrm>
          <a:prstGeom prst="rect">
            <a:avLst/>
          </a:prstGeom>
          <a:noFill/>
        </p:spPr>
        <p:txBody>
          <a:bodyPr wrap="square" rtlCol="0">
            <a:spAutoFit/>
          </a:bodyPr>
          <a:lstStyle/>
          <a:p>
            <a:r>
              <a:rPr lang="en-US" dirty="0"/>
              <a:t>Eccentric Shaft</a:t>
            </a:r>
          </a:p>
        </p:txBody>
      </p:sp>
      <p:sp>
        <p:nvSpPr>
          <p:cNvPr id="12" name="TextBox 11">
            <a:extLst>
              <a:ext uri="{FF2B5EF4-FFF2-40B4-BE49-F238E27FC236}">
                <a16:creationId xmlns:a16="http://schemas.microsoft.com/office/drawing/2014/main" id="{4E3DF6CD-45F6-72AC-957D-43D18FECBF55}"/>
              </a:ext>
            </a:extLst>
          </p:cNvPr>
          <p:cNvSpPr txBox="1"/>
          <p:nvPr/>
        </p:nvSpPr>
        <p:spPr>
          <a:xfrm>
            <a:off x="9171828" y="2043159"/>
            <a:ext cx="1668770" cy="369332"/>
          </a:xfrm>
          <a:prstGeom prst="rect">
            <a:avLst/>
          </a:prstGeom>
          <a:noFill/>
        </p:spPr>
        <p:txBody>
          <a:bodyPr wrap="square" rtlCol="0">
            <a:spAutoFit/>
          </a:bodyPr>
          <a:lstStyle/>
          <a:p>
            <a:r>
              <a:rPr lang="en-US" dirty="0"/>
              <a:t>Hub/outer ring</a:t>
            </a:r>
          </a:p>
        </p:txBody>
      </p:sp>
      <p:sp>
        <p:nvSpPr>
          <p:cNvPr id="13" name="TextBox 12">
            <a:extLst>
              <a:ext uri="{FF2B5EF4-FFF2-40B4-BE49-F238E27FC236}">
                <a16:creationId xmlns:a16="http://schemas.microsoft.com/office/drawing/2014/main" id="{1FAA49BD-2068-D9FD-41F8-00BCB7434B4F}"/>
              </a:ext>
            </a:extLst>
          </p:cNvPr>
          <p:cNvSpPr txBox="1"/>
          <p:nvPr/>
        </p:nvSpPr>
        <p:spPr>
          <a:xfrm>
            <a:off x="9171828" y="2428259"/>
            <a:ext cx="1668770" cy="369332"/>
          </a:xfrm>
          <a:prstGeom prst="rect">
            <a:avLst/>
          </a:prstGeom>
          <a:noFill/>
        </p:spPr>
        <p:txBody>
          <a:bodyPr wrap="square" rtlCol="0">
            <a:spAutoFit/>
          </a:bodyPr>
          <a:lstStyle/>
          <a:p>
            <a:r>
              <a:rPr lang="en-US" dirty="0"/>
              <a:t>Bearings</a:t>
            </a:r>
          </a:p>
        </p:txBody>
      </p:sp>
      <p:cxnSp>
        <p:nvCxnSpPr>
          <p:cNvPr id="16" name="Straight Arrow Connector 15">
            <a:extLst>
              <a:ext uri="{FF2B5EF4-FFF2-40B4-BE49-F238E27FC236}">
                <a16:creationId xmlns:a16="http://schemas.microsoft.com/office/drawing/2014/main" id="{F2204870-192B-5D14-EB82-1FE018F3BB87}"/>
              </a:ext>
            </a:extLst>
          </p:cNvPr>
          <p:cNvCxnSpPr>
            <a:stCxn id="13" idx="1"/>
          </p:cNvCxnSpPr>
          <p:nvPr/>
        </p:nvCxnSpPr>
        <p:spPr>
          <a:xfrm flipH="1" flipV="1">
            <a:off x="6929610" y="2411650"/>
            <a:ext cx="2242218" cy="201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39DA939-28B2-AAAF-DA5C-53BEED15BCC8}"/>
              </a:ext>
            </a:extLst>
          </p:cNvPr>
          <p:cNvCxnSpPr>
            <a:cxnSpLocks/>
            <a:stCxn id="12" idx="1"/>
          </p:cNvCxnSpPr>
          <p:nvPr/>
        </p:nvCxnSpPr>
        <p:spPr>
          <a:xfrm flipH="1" flipV="1">
            <a:off x="8460954" y="2215705"/>
            <a:ext cx="710874" cy="121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7B0BA16-83E8-F043-E244-12B53560F89E}"/>
              </a:ext>
            </a:extLst>
          </p:cNvPr>
          <p:cNvCxnSpPr>
            <a:cxnSpLocks/>
            <a:stCxn id="10" idx="1"/>
          </p:cNvCxnSpPr>
          <p:nvPr/>
        </p:nvCxnSpPr>
        <p:spPr>
          <a:xfrm flipH="1">
            <a:off x="6643171" y="1592066"/>
            <a:ext cx="2528657" cy="1750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62039D8-1826-C733-7920-7CE637B418AB}"/>
              </a:ext>
            </a:extLst>
          </p:cNvPr>
          <p:cNvCxnSpPr>
            <a:cxnSpLocks/>
            <a:stCxn id="9" idx="2"/>
          </p:cNvCxnSpPr>
          <p:nvPr/>
        </p:nvCxnSpPr>
        <p:spPr>
          <a:xfrm>
            <a:off x="4466034" y="843995"/>
            <a:ext cx="766978" cy="92312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7EB0564-7DFC-8095-080C-C2FA968AA2EB}"/>
              </a:ext>
            </a:extLst>
          </p:cNvPr>
          <p:cNvCxnSpPr>
            <a:cxnSpLocks/>
            <a:stCxn id="8" idx="1"/>
          </p:cNvCxnSpPr>
          <p:nvPr/>
        </p:nvCxnSpPr>
        <p:spPr>
          <a:xfrm flipH="1">
            <a:off x="7491470" y="476496"/>
            <a:ext cx="1680358" cy="4710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905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9DA3DD-1723-76F0-B02C-8CA136EDF7D4}"/>
              </a:ext>
            </a:extLst>
          </p:cNvPr>
          <p:cNvPicPr>
            <a:picLocks noChangeAspect="1"/>
          </p:cNvPicPr>
          <p:nvPr/>
        </p:nvPicPr>
        <p:blipFill>
          <a:blip r:embed="rId5"/>
          <a:stretch>
            <a:fillRect/>
          </a:stretch>
        </p:blipFill>
        <p:spPr>
          <a:xfrm>
            <a:off x="6096000" y="365761"/>
            <a:ext cx="5555672" cy="3438172"/>
          </a:xfrm>
          <a:prstGeom prst="rect">
            <a:avLst/>
          </a:prstGeom>
        </p:spPr>
      </p:pic>
      <p:sp>
        <p:nvSpPr>
          <p:cNvPr id="4" name="Oval 3">
            <a:extLst>
              <a:ext uri="{FF2B5EF4-FFF2-40B4-BE49-F238E27FC236}">
                <a16:creationId xmlns:a16="http://schemas.microsoft.com/office/drawing/2014/main" id="{08F36344-4295-1AE8-FDEF-317A3B6EDC5C}"/>
              </a:ext>
            </a:extLst>
          </p:cNvPr>
          <p:cNvSpPr/>
          <p:nvPr/>
        </p:nvSpPr>
        <p:spPr>
          <a:xfrm>
            <a:off x="6949440" y="1701579"/>
            <a:ext cx="2623930" cy="15664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C4A3827-5BA8-0083-4463-C289ED51114E}"/>
              </a:ext>
            </a:extLst>
          </p:cNvPr>
          <p:cNvSpPr/>
          <p:nvPr/>
        </p:nvSpPr>
        <p:spPr>
          <a:xfrm rot="5400000">
            <a:off x="9032681" y="1041622"/>
            <a:ext cx="2345635" cy="12642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5E8DB1-0748-38AF-092F-10D793FECF74}"/>
              </a:ext>
            </a:extLst>
          </p:cNvPr>
          <p:cNvSpPr txBox="1"/>
          <p:nvPr/>
        </p:nvSpPr>
        <p:spPr>
          <a:xfrm>
            <a:off x="178848" y="828080"/>
            <a:ext cx="2439781" cy="1569660"/>
          </a:xfrm>
          <a:prstGeom prst="rect">
            <a:avLst/>
          </a:prstGeom>
          <a:noFill/>
        </p:spPr>
        <p:txBody>
          <a:bodyPr wrap="square" rtlCol="0">
            <a:spAutoFit/>
          </a:bodyPr>
          <a:lstStyle/>
          <a:p>
            <a:r>
              <a:rPr lang="en-US" sz="1200" b="1" dirty="0"/>
              <a:t>Observations </a:t>
            </a:r>
          </a:p>
          <a:p>
            <a:pPr marL="171450" indent="-171450">
              <a:buFontTx/>
              <a:buChar char="-"/>
            </a:pPr>
            <a:r>
              <a:rPr lang="en-US" sz="1200" dirty="0"/>
              <a:t>Oversized lobe diameter to compensate for 3D-print </a:t>
            </a:r>
            <a:r>
              <a:rPr lang="en-US" sz="1200" dirty="0" err="1"/>
              <a:t>undersizing</a:t>
            </a:r>
            <a:r>
              <a:rPr lang="en-US" sz="1200" dirty="0"/>
              <a:t> (14.8 -&gt; 15.2)</a:t>
            </a:r>
          </a:p>
          <a:p>
            <a:pPr marL="171450" indent="-171450">
              <a:buFontTx/>
              <a:buChar char="-"/>
            </a:pPr>
            <a:r>
              <a:rPr lang="en-US" sz="1200" dirty="0"/>
              <a:t>Measured 14.9mm</a:t>
            </a:r>
          </a:p>
          <a:p>
            <a:pPr marL="171450" indent="-171450">
              <a:buFontTx/>
              <a:buChar char="-"/>
            </a:pPr>
            <a:r>
              <a:rPr lang="en-US" sz="1200" dirty="0"/>
              <a:t>Side print had tighter fit due to support layer breakaway on radius of lobe </a:t>
            </a:r>
          </a:p>
        </p:txBody>
      </p:sp>
      <p:pic>
        <p:nvPicPr>
          <p:cNvPr id="7" name="MicrosoftTeams-video (5)">
            <a:hlinkClick r:id="" action="ppaction://media"/>
            <a:extLst>
              <a:ext uri="{FF2B5EF4-FFF2-40B4-BE49-F238E27FC236}">
                <a16:creationId xmlns:a16="http://schemas.microsoft.com/office/drawing/2014/main" id="{C02CD052-1EA9-CEA9-532F-049DA00E514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091706" y="365761"/>
            <a:ext cx="2895607" cy="5135066"/>
          </a:xfrm>
          <a:prstGeom prst="rect">
            <a:avLst/>
          </a:prstGeom>
        </p:spPr>
      </p:pic>
      <p:sp>
        <p:nvSpPr>
          <p:cNvPr id="8" name="TextBox 7">
            <a:extLst>
              <a:ext uri="{FF2B5EF4-FFF2-40B4-BE49-F238E27FC236}">
                <a16:creationId xmlns:a16="http://schemas.microsoft.com/office/drawing/2014/main" id="{C84D040F-DC90-9977-F84E-6EF93347C9D2}"/>
              </a:ext>
            </a:extLst>
          </p:cNvPr>
          <p:cNvSpPr txBox="1"/>
          <p:nvPr/>
        </p:nvSpPr>
        <p:spPr>
          <a:xfrm>
            <a:off x="195102" y="5018237"/>
            <a:ext cx="3800826" cy="1754326"/>
          </a:xfrm>
          <a:prstGeom prst="rect">
            <a:avLst/>
          </a:prstGeom>
          <a:noFill/>
        </p:spPr>
        <p:txBody>
          <a:bodyPr wrap="square" rtlCol="0">
            <a:spAutoFit/>
          </a:bodyPr>
          <a:lstStyle/>
          <a:p>
            <a:r>
              <a:rPr lang="en-US" sz="1200" b="1" dirty="0"/>
              <a:t>Next Steps</a:t>
            </a:r>
          </a:p>
          <a:p>
            <a:endParaRPr lang="en-US" sz="1200" b="1" dirty="0"/>
          </a:p>
          <a:p>
            <a:pPr marL="171450" indent="-171450">
              <a:buFontTx/>
              <a:buChar char="-"/>
            </a:pPr>
            <a:r>
              <a:rPr lang="en-US" sz="1200" dirty="0"/>
              <a:t>Need a way to measure backlash</a:t>
            </a:r>
          </a:p>
          <a:p>
            <a:pPr marL="171450" indent="-171450">
              <a:buFontTx/>
              <a:buChar char="-"/>
            </a:pPr>
            <a:r>
              <a:rPr lang="en-US" sz="1200" dirty="0"/>
              <a:t>Fix output shaft</a:t>
            </a:r>
          </a:p>
          <a:p>
            <a:pPr marL="171450" indent="-171450">
              <a:buFontTx/>
              <a:buChar char="-"/>
            </a:pPr>
            <a:r>
              <a:rPr lang="en-US" sz="1200" dirty="0"/>
              <a:t>Integrate thrust bearing to transfer axial load</a:t>
            </a:r>
          </a:p>
          <a:p>
            <a:pPr marL="171450" indent="-171450">
              <a:buFontTx/>
              <a:buChar char="-"/>
            </a:pPr>
            <a:r>
              <a:rPr lang="en-US" sz="1200" dirty="0"/>
              <a:t>Integrate radial bearing for output shaft for alignment</a:t>
            </a:r>
          </a:p>
          <a:p>
            <a:pPr marL="171450" indent="-171450">
              <a:buFontTx/>
              <a:buChar char="-"/>
            </a:pPr>
            <a:r>
              <a:rPr lang="en-US" sz="1200" dirty="0"/>
              <a:t>add a feature to make sure output shaft and input shaft are concentric</a:t>
            </a:r>
          </a:p>
        </p:txBody>
      </p:sp>
      <p:grpSp>
        <p:nvGrpSpPr>
          <p:cNvPr id="2" name="Group 1">
            <a:extLst>
              <a:ext uri="{FF2B5EF4-FFF2-40B4-BE49-F238E27FC236}">
                <a16:creationId xmlns:a16="http://schemas.microsoft.com/office/drawing/2014/main" id="{9110A460-2DDB-56C0-8F8B-F02BC1FF0D17}"/>
              </a:ext>
            </a:extLst>
          </p:cNvPr>
          <p:cNvGrpSpPr/>
          <p:nvPr/>
        </p:nvGrpSpPr>
        <p:grpSpPr>
          <a:xfrm>
            <a:off x="8674621" y="3848204"/>
            <a:ext cx="2657846" cy="2876951"/>
            <a:chOff x="112549" y="190460"/>
            <a:chExt cx="2657846" cy="2876951"/>
          </a:xfrm>
        </p:grpSpPr>
        <p:pic>
          <p:nvPicPr>
            <p:cNvPr id="11" name="Picture 10">
              <a:extLst>
                <a:ext uri="{FF2B5EF4-FFF2-40B4-BE49-F238E27FC236}">
                  <a16:creationId xmlns:a16="http://schemas.microsoft.com/office/drawing/2014/main" id="{A81B1837-B78C-AF14-066D-F1F09884260C}"/>
                </a:ext>
              </a:extLst>
            </p:cNvPr>
            <p:cNvPicPr>
              <a:picLocks noChangeAspect="1"/>
            </p:cNvPicPr>
            <p:nvPr/>
          </p:nvPicPr>
          <p:blipFill>
            <a:blip r:embed="rId7"/>
            <a:stretch>
              <a:fillRect/>
            </a:stretch>
          </p:blipFill>
          <p:spPr>
            <a:xfrm>
              <a:off x="112549" y="190460"/>
              <a:ext cx="2657846" cy="2876951"/>
            </a:xfrm>
            <a:prstGeom prst="rect">
              <a:avLst/>
            </a:prstGeom>
          </p:spPr>
        </p:pic>
        <p:sp>
          <p:nvSpPr>
            <p:cNvPr id="12" name="Oval 11">
              <a:extLst>
                <a:ext uri="{FF2B5EF4-FFF2-40B4-BE49-F238E27FC236}">
                  <a16:creationId xmlns:a16="http://schemas.microsoft.com/office/drawing/2014/main" id="{9C143E52-DE6A-8AF4-6C84-6760121B0292}"/>
                </a:ext>
              </a:extLst>
            </p:cNvPr>
            <p:cNvSpPr/>
            <p:nvPr/>
          </p:nvSpPr>
          <p:spPr>
            <a:xfrm>
              <a:off x="1006277" y="579120"/>
              <a:ext cx="1651582" cy="1830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3AC932B-A0AB-2943-0355-14C7DC3C4E7B}"/>
                </a:ext>
              </a:extLst>
            </p:cNvPr>
            <p:cNvSpPr txBox="1"/>
            <p:nvPr/>
          </p:nvSpPr>
          <p:spPr>
            <a:xfrm>
              <a:off x="155002" y="1761489"/>
              <a:ext cx="1415695" cy="954107"/>
            </a:xfrm>
            <a:prstGeom prst="rect">
              <a:avLst/>
            </a:prstGeom>
            <a:noFill/>
          </p:spPr>
          <p:txBody>
            <a:bodyPr wrap="square" rtlCol="0">
              <a:spAutoFit/>
            </a:bodyPr>
            <a:lstStyle/>
            <a:p>
              <a:r>
                <a:rPr lang="en-US" sz="1400" b="1" dirty="0">
                  <a:solidFill>
                    <a:srgbClr val="FF0000"/>
                  </a:solidFill>
                </a:rPr>
                <a:t>Fix pins</a:t>
              </a:r>
            </a:p>
            <a:p>
              <a:r>
                <a:rPr lang="en-US" sz="1400" dirty="0">
                  <a:solidFill>
                    <a:srgbClr val="FF0000"/>
                  </a:solidFill>
                </a:rPr>
                <a:t>-Print flat</a:t>
              </a:r>
            </a:p>
            <a:p>
              <a:r>
                <a:rPr lang="en-US" sz="1400" dirty="0">
                  <a:solidFill>
                    <a:srgbClr val="FF0000"/>
                  </a:solidFill>
                </a:rPr>
                <a:t>-Press fit for dowel pins?</a:t>
              </a:r>
            </a:p>
          </p:txBody>
        </p:sp>
      </p:grpSp>
      <p:sp>
        <p:nvSpPr>
          <p:cNvPr id="14" name="TextBox 13">
            <a:extLst>
              <a:ext uri="{FF2B5EF4-FFF2-40B4-BE49-F238E27FC236}">
                <a16:creationId xmlns:a16="http://schemas.microsoft.com/office/drawing/2014/main" id="{F94CAF03-186A-6FD4-07DB-1E9C57A8D203}"/>
              </a:ext>
            </a:extLst>
          </p:cNvPr>
          <p:cNvSpPr txBox="1"/>
          <p:nvPr/>
        </p:nvSpPr>
        <p:spPr>
          <a:xfrm>
            <a:off x="242365" y="2440242"/>
            <a:ext cx="2312748" cy="2492990"/>
          </a:xfrm>
          <a:prstGeom prst="rect">
            <a:avLst/>
          </a:prstGeom>
          <a:noFill/>
        </p:spPr>
        <p:txBody>
          <a:bodyPr wrap="square" rtlCol="0">
            <a:spAutoFit/>
          </a:bodyPr>
          <a:lstStyle/>
          <a:p>
            <a:r>
              <a:rPr lang="en-US" sz="1200" b="1" dirty="0"/>
              <a:t>Summary</a:t>
            </a:r>
          </a:p>
          <a:p>
            <a:r>
              <a:rPr lang="en-US" sz="1200" dirty="0"/>
              <a:t>-better lobe fitment</a:t>
            </a:r>
          </a:p>
          <a:p>
            <a:r>
              <a:rPr lang="en-US" sz="1200" dirty="0"/>
              <a:t>-print vertical but oversized diameters to prevent profile distortion due to support layers</a:t>
            </a:r>
          </a:p>
          <a:p>
            <a:r>
              <a:rPr lang="en-US" sz="1200" dirty="0"/>
              <a:t>-output shaft/plate needs to be print flat</a:t>
            </a:r>
          </a:p>
          <a:p>
            <a:r>
              <a:rPr lang="en-US" sz="1200" dirty="0"/>
              <a:t>-need to design a feature to add thrust bearing and distribute load effectively</a:t>
            </a:r>
          </a:p>
          <a:p>
            <a:r>
              <a:rPr lang="en-US" sz="1200" dirty="0"/>
              <a:t>-brainstorm some radial bearing addition to center output plate</a:t>
            </a:r>
          </a:p>
          <a:p>
            <a:endParaRPr lang="en-US" sz="1200" dirty="0"/>
          </a:p>
        </p:txBody>
      </p:sp>
      <p:sp>
        <p:nvSpPr>
          <p:cNvPr id="9" name="TextBox 8">
            <a:extLst>
              <a:ext uri="{FF2B5EF4-FFF2-40B4-BE49-F238E27FC236}">
                <a16:creationId xmlns:a16="http://schemas.microsoft.com/office/drawing/2014/main" id="{CA21D73E-6894-17C3-F8AC-7729FA42152E}"/>
              </a:ext>
            </a:extLst>
          </p:cNvPr>
          <p:cNvSpPr txBox="1"/>
          <p:nvPr/>
        </p:nvSpPr>
        <p:spPr>
          <a:xfrm>
            <a:off x="107851" y="107164"/>
            <a:ext cx="3385225" cy="369332"/>
          </a:xfrm>
          <a:prstGeom prst="rect">
            <a:avLst/>
          </a:prstGeom>
          <a:noFill/>
        </p:spPr>
        <p:txBody>
          <a:bodyPr wrap="square" rtlCol="0">
            <a:spAutoFit/>
          </a:bodyPr>
          <a:lstStyle/>
          <a:p>
            <a:r>
              <a:rPr lang="en-US" b="1" dirty="0"/>
              <a:t>2</a:t>
            </a:r>
            <a:r>
              <a:rPr lang="en-US" b="1" baseline="30000" dirty="0"/>
              <a:t>nd</a:t>
            </a:r>
            <a:r>
              <a:rPr lang="en-US" b="1" dirty="0"/>
              <a:t> Iteration</a:t>
            </a:r>
          </a:p>
        </p:txBody>
      </p:sp>
    </p:spTree>
    <p:extLst>
      <p:ext uri="{BB962C8B-B14F-4D97-AF65-F5344CB8AC3E}">
        <p14:creationId xmlns:p14="http://schemas.microsoft.com/office/powerpoint/2010/main" val="249862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2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956C30-D67A-995D-A49C-6184BA04AC27}"/>
              </a:ext>
            </a:extLst>
          </p:cNvPr>
          <p:cNvPicPr>
            <a:picLocks noChangeAspect="1"/>
          </p:cNvPicPr>
          <p:nvPr/>
        </p:nvPicPr>
        <p:blipFill>
          <a:blip r:embed="rId3"/>
          <a:stretch>
            <a:fillRect/>
          </a:stretch>
        </p:blipFill>
        <p:spPr>
          <a:xfrm>
            <a:off x="1703064" y="498923"/>
            <a:ext cx="8914478" cy="5099352"/>
          </a:xfrm>
          <a:prstGeom prst="rect">
            <a:avLst/>
          </a:prstGeom>
        </p:spPr>
      </p:pic>
      <p:pic>
        <p:nvPicPr>
          <p:cNvPr id="5" name="Picture 4">
            <a:extLst>
              <a:ext uri="{FF2B5EF4-FFF2-40B4-BE49-F238E27FC236}">
                <a16:creationId xmlns:a16="http://schemas.microsoft.com/office/drawing/2014/main" id="{49568376-C2E5-744E-0571-C515BD947AD3}"/>
              </a:ext>
            </a:extLst>
          </p:cNvPr>
          <p:cNvPicPr>
            <a:picLocks noChangeAspect="1"/>
          </p:cNvPicPr>
          <p:nvPr/>
        </p:nvPicPr>
        <p:blipFill>
          <a:blip r:embed="rId4"/>
          <a:stretch>
            <a:fillRect/>
          </a:stretch>
        </p:blipFill>
        <p:spPr>
          <a:xfrm>
            <a:off x="9516504" y="4917154"/>
            <a:ext cx="2360572" cy="1856630"/>
          </a:xfrm>
          <a:prstGeom prst="rect">
            <a:avLst/>
          </a:prstGeom>
        </p:spPr>
      </p:pic>
      <p:pic>
        <p:nvPicPr>
          <p:cNvPr id="7" name="Picture 6">
            <a:extLst>
              <a:ext uri="{FF2B5EF4-FFF2-40B4-BE49-F238E27FC236}">
                <a16:creationId xmlns:a16="http://schemas.microsoft.com/office/drawing/2014/main" id="{64795BF6-49F2-B3D7-4241-87B260B9DD4A}"/>
              </a:ext>
            </a:extLst>
          </p:cNvPr>
          <p:cNvPicPr>
            <a:picLocks noChangeAspect="1"/>
          </p:cNvPicPr>
          <p:nvPr/>
        </p:nvPicPr>
        <p:blipFill>
          <a:blip r:embed="rId5"/>
          <a:stretch>
            <a:fillRect/>
          </a:stretch>
        </p:blipFill>
        <p:spPr>
          <a:xfrm>
            <a:off x="4680782" y="5370124"/>
            <a:ext cx="1415218" cy="1143610"/>
          </a:xfrm>
          <a:prstGeom prst="rect">
            <a:avLst/>
          </a:prstGeom>
        </p:spPr>
      </p:pic>
      <p:pic>
        <p:nvPicPr>
          <p:cNvPr id="12" name="Picture 11">
            <a:extLst>
              <a:ext uri="{FF2B5EF4-FFF2-40B4-BE49-F238E27FC236}">
                <a16:creationId xmlns:a16="http://schemas.microsoft.com/office/drawing/2014/main" id="{0AA0D638-0B13-F602-2DC6-5113271A1C11}"/>
              </a:ext>
            </a:extLst>
          </p:cNvPr>
          <p:cNvPicPr>
            <a:picLocks noChangeAspect="1"/>
          </p:cNvPicPr>
          <p:nvPr/>
        </p:nvPicPr>
        <p:blipFill>
          <a:blip r:embed="rId6"/>
          <a:stretch>
            <a:fillRect/>
          </a:stretch>
        </p:blipFill>
        <p:spPr>
          <a:xfrm>
            <a:off x="383293" y="5177204"/>
            <a:ext cx="1315259" cy="1336530"/>
          </a:xfrm>
          <a:prstGeom prst="rect">
            <a:avLst/>
          </a:prstGeom>
        </p:spPr>
      </p:pic>
      <p:sp>
        <p:nvSpPr>
          <p:cNvPr id="2" name="TextBox 1">
            <a:extLst>
              <a:ext uri="{FF2B5EF4-FFF2-40B4-BE49-F238E27FC236}">
                <a16:creationId xmlns:a16="http://schemas.microsoft.com/office/drawing/2014/main" id="{4C3E32F3-9D5C-8D72-8E4E-08525B3180D6}"/>
              </a:ext>
            </a:extLst>
          </p:cNvPr>
          <p:cNvSpPr txBox="1"/>
          <p:nvPr/>
        </p:nvSpPr>
        <p:spPr>
          <a:xfrm>
            <a:off x="107851" y="107164"/>
            <a:ext cx="3385225" cy="369332"/>
          </a:xfrm>
          <a:prstGeom prst="rect">
            <a:avLst/>
          </a:prstGeom>
          <a:noFill/>
        </p:spPr>
        <p:txBody>
          <a:bodyPr wrap="square" rtlCol="0">
            <a:spAutoFit/>
          </a:bodyPr>
          <a:lstStyle/>
          <a:p>
            <a:r>
              <a:rPr lang="en-US" b="1" dirty="0"/>
              <a:t>3</a:t>
            </a:r>
            <a:r>
              <a:rPr lang="en-US" b="1" baseline="30000" dirty="0"/>
              <a:t>rd</a:t>
            </a:r>
            <a:r>
              <a:rPr lang="en-US" b="1" dirty="0"/>
              <a:t> Iteration</a:t>
            </a:r>
          </a:p>
        </p:txBody>
      </p:sp>
      <p:sp>
        <p:nvSpPr>
          <p:cNvPr id="4" name="TextBox 3">
            <a:extLst>
              <a:ext uri="{FF2B5EF4-FFF2-40B4-BE49-F238E27FC236}">
                <a16:creationId xmlns:a16="http://schemas.microsoft.com/office/drawing/2014/main" id="{BAD47E00-948B-C119-112B-65A2B3994C51}"/>
              </a:ext>
            </a:extLst>
          </p:cNvPr>
          <p:cNvSpPr txBox="1"/>
          <p:nvPr/>
        </p:nvSpPr>
        <p:spPr>
          <a:xfrm>
            <a:off x="153216" y="751893"/>
            <a:ext cx="1545336" cy="646331"/>
          </a:xfrm>
          <a:prstGeom prst="rect">
            <a:avLst/>
          </a:prstGeom>
          <a:noFill/>
          <a:ln>
            <a:solidFill>
              <a:schemeClr val="tx1"/>
            </a:solidFill>
          </a:ln>
        </p:spPr>
        <p:txBody>
          <a:bodyPr wrap="square" rtlCol="0">
            <a:spAutoFit/>
          </a:bodyPr>
          <a:lstStyle/>
          <a:p>
            <a:r>
              <a:rPr lang="en-US" dirty="0">
                <a:solidFill>
                  <a:srgbClr val="FF0000"/>
                </a:solidFill>
              </a:rPr>
              <a:t>Added Dowel Pins</a:t>
            </a:r>
          </a:p>
        </p:txBody>
      </p:sp>
      <p:sp>
        <p:nvSpPr>
          <p:cNvPr id="6" name="TextBox 5">
            <a:extLst>
              <a:ext uri="{FF2B5EF4-FFF2-40B4-BE49-F238E27FC236}">
                <a16:creationId xmlns:a16="http://schemas.microsoft.com/office/drawing/2014/main" id="{9BBA1EE9-B2C0-20BE-E2B8-35F369D0508E}"/>
              </a:ext>
            </a:extLst>
          </p:cNvPr>
          <p:cNvSpPr txBox="1"/>
          <p:nvPr/>
        </p:nvSpPr>
        <p:spPr>
          <a:xfrm>
            <a:off x="10617542" y="498923"/>
            <a:ext cx="1545336" cy="1477328"/>
          </a:xfrm>
          <a:prstGeom prst="rect">
            <a:avLst/>
          </a:prstGeom>
          <a:noFill/>
          <a:ln>
            <a:solidFill>
              <a:schemeClr val="tx1"/>
            </a:solidFill>
          </a:ln>
        </p:spPr>
        <p:txBody>
          <a:bodyPr wrap="square" rtlCol="0">
            <a:spAutoFit/>
          </a:bodyPr>
          <a:lstStyle/>
          <a:p>
            <a:r>
              <a:rPr lang="en-US" dirty="0">
                <a:solidFill>
                  <a:srgbClr val="FF0000"/>
                </a:solidFill>
              </a:rPr>
              <a:t>Added bearing and feature on shaft to align output plate </a:t>
            </a:r>
          </a:p>
        </p:txBody>
      </p:sp>
      <p:sp>
        <p:nvSpPr>
          <p:cNvPr id="11" name="TextBox 10">
            <a:extLst>
              <a:ext uri="{FF2B5EF4-FFF2-40B4-BE49-F238E27FC236}">
                <a16:creationId xmlns:a16="http://schemas.microsoft.com/office/drawing/2014/main" id="{0D26F97D-EF4D-455F-151A-075141BB024F}"/>
              </a:ext>
            </a:extLst>
          </p:cNvPr>
          <p:cNvSpPr txBox="1"/>
          <p:nvPr/>
        </p:nvSpPr>
        <p:spPr>
          <a:xfrm>
            <a:off x="255127" y="2102367"/>
            <a:ext cx="1545336" cy="1200329"/>
          </a:xfrm>
          <a:prstGeom prst="rect">
            <a:avLst/>
          </a:prstGeom>
          <a:noFill/>
          <a:ln>
            <a:solidFill>
              <a:schemeClr val="tx1"/>
            </a:solidFill>
          </a:ln>
        </p:spPr>
        <p:txBody>
          <a:bodyPr wrap="square" rtlCol="0">
            <a:spAutoFit/>
          </a:bodyPr>
          <a:lstStyle/>
          <a:p>
            <a:r>
              <a:rPr lang="en-US" dirty="0">
                <a:solidFill>
                  <a:srgbClr val="FF0000"/>
                </a:solidFill>
              </a:rPr>
              <a:t>Added thrust bearing to reduce friction</a:t>
            </a:r>
          </a:p>
        </p:txBody>
      </p:sp>
      <p:cxnSp>
        <p:nvCxnSpPr>
          <p:cNvPr id="14" name="Straight Arrow Connector 13">
            <a:extLst>
              <a:ext uri="{FF2B5EF4-FFF2-40B4-BE49-F238E27FC236}">
                <a16:creationId xmlns:a16="http://schemas.microsoft.com/office/drawing/2014/main" id="{B5FF8865-F96A-32D0-9A26-91DB1852592C}"/>
              </a:ext>
            </a:extLst>
          </p:cNvPr>
          <p:cNvCxnSpPr>
            <a:cxnSpLocks/>
            <a:stCxn id="4" idx="3"/>
          </p:cNvCxnSpPr>
          <p:nvPr/>
        </p:nvCxnSpPr>
        <p:spPr>
          <a:xfrm>
            <a:off x="1698552" y="1075059"/>
            <a:ext cx="2589984" cy="5761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8DF38CF-970C-C0C3-49FC-8488DDE06548}"/>
              </a:ext>
            </a:extLst>
          </p:cNvPr>
          <p:cNvCxnSpPr>
            <a:cxnSpLocks/>
            <a:stCxn id="11" idx="3"/>
          </p:cNvCxnSpPr>
          <p:nvPr/>
        </p:nvCxnSpPr>
        <p:spPr>
          <a:xfrm flipV="1">
            <a:off x="1800463" y="2227330"/>
            <a:ext cx="1447937" cy="4752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82A8948-FC66-B8EE-64BA-4DE9B65FB1DB}"/>
              </a:ext>
            </a:extLst>
          </p:cNvPr>
          <p:cNvCxnSpPr>
            <a:cxnSpLocks/>
            <a:stCxn id="6" idx="1"/>
            <a:endCxn id="23" idx="6"/>
          </p:cNvCxnSpPr>
          <p:nvPr/>
        </p:nvCxnSpPr>
        <p:spPr>
          <a:xfrm flipH="1">
            <a:off x="7042699" y="1237587"/>
            <a:ext cx="3574843" cy="6152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78C0E7DA-6718-4742-CAC5-2AF7538D00AF}"/>
              </a:ext>
            </a:extLst>
          </p:cNvPr>
          <p:cNvSpPr/>
          <p:nvPr/>
        </p:nvSpPr>
        <p:spPr>
          <a:xfrm>
            <a:off x="5277907" y="1398224"/>
            <a:ext cx="1764792" cy="9091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59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44BFF6-6F55-811C-06F1-B9F8656BB365}"/>
              </a:ext>
            </a:extLst>
          </p:cNvPr>
          <p:cNvSpPr txBox="1"/>
          <p:nvPr/>
        </p:nvSpPr>
        <p:spPr>
          <a:xfrm>
            <a:off x="223736" y="233464"/>
            <a:ext cx="3472775" cy="3816429"/>
          </a:xfrm>
          <a:prstGeom prst="rect">
            <a:avLst/>
          </a:prstGeom>
          <a:noFill/>
        </p:spPr>
        <p:txBody>
          <a:bodyPr wrap="square" rtlCol="0">
            <a:spAutoFit/>
          </a:bodyPr>
          <a:lstStyle/>
          <a:p>
            <a:r>
              <a:rPr lang="en-US" b="1" dirty="0"/>
              <a:t>Observations</a:t>
            </a:r>
          </a:p>
          <a:p>
            <a:pPr marL="285750" indent="-285750">
              <a:buFontTx/>
              <a:buChar char="-"/>
            </a:pPr>
            <a:r>
              <a:rPr lang="en-US" sz="1600" dirty="0"/>
              <a:t>Integrated thrust bearing into assembly to handle axial loads from downstream systems</a:t>
            </a:r>
          </a:p>
          <a:p>
            <a:pPr marL="285750" indent="-285750">
              <a:buFontTx/>
              <a:buChar char="-"/>
            </a:pPr>
            <a:r>
              <a:rPr lang="en-US" sz="1600" dirty="0"/>
              <a:t>Integrated additional radial bearing that connects output plate and input shaft concentrically (Still on different axes and can rotate independently)</a:t>
            </a:r>
          </a:p>
          <a:p>
            <a:pPr marL="285750" indent="-285750">
              <a:buFontTx/>
              <a:buChar char="-"/>
            </a:pPr>
            <a:r>
              <a:rPr lang="en-US" sz="1600" dirty="0">
                <a:solidFill>
                  <a:srgbClr val="FF0000"/>
                </a:solidFill>
              </a:rPr>
              <a:t>Eccentric shaft is taking all radial load.</a:t>
            </a:r>
          </a:p>
          <a:p>
            <a:pPr marL="285750" indent="-285750">
              <a:buFontTx/>
              <a:buChar char="-"/>
            </a:pPr>
            <a:r>
              <a:rPr lang="en-US" sz="1600" dirty="0"/>
              <a:t>Sharp shoulders with no stress relief. High chance of failure </a:t>
            </a:r>
          </a:p>
          <a:p>
            <a:pPr marL="285750" indent="-285750">
              <a:buFontTx/>
              <a:buChar char="-"/>
            </a:pPr>
            <a:endParaRPr lang="en-US" sz="1600" dirty="0"/>
          </a:p>
        </p:txBody>
      </p:sp>
      <p:sp>
        <p:nvSpPr>
          <p:cNvPr id="5" name="TextBox 4">
            <a:extLst>
              <a:ext uri="{FF2B5EF4-FFF2-40B4-BE49-F238E27FC236}">
                <a16:creationId xmlns:a16="http://schemas.microsoft.com/office/drawing/2014/main" id="{3609B2E8-D610-872C-8100-93967929B259}"/>
              </a:ext>
            </a:extLst>
          </p:cNvPr>
          <p:cNvSpPr txBox="1"/>
          <p:nvPr/>
        </p:nvSpPr>
        <p:spPr>
          <a:xfrm>
            <a:off x="223736" y="4296115"/>
            <a:ext cx="2850204" cy="20928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Thrust Bearing Capability</a:t>
            </a:r>
          </a:p>
          <a:p>
            <a:r>
              <a:rPr lang="en-US" sz="1400" dirty="0"/>
              <a:t>Static Loading = 278.5kN</a:t>
            </a:r>
          </a:p>
          <a:p>
            <a:r>
              <a:rPr lang="en-US" sz="1400" dirty="0"/>
              <a:t>Dynamic Loading = 55.6kN </a:t>
            </a:r>
          </a:p>
          <a:p>
            <a:r>
              <a:rPr lang="en-US" sz="1400" dirty="0"/>
              <a:t>Speed = 2600rpm Max</a:t>
            </a:r>
          </a:p>
          <a:p>
            <a:endParaRPr lang="en-US" sz="1400" dirty="0"/>
          </a:p>
          <a:p>
            <a:r>
              <a:rPr lang="en-US" sz="1400" dirty="0"/>
              <a:t>Thrust bearing will not be failure point. Much higher capacity than needed for the system.</a:t>
            </a:r>
          </a:p>
          <a:p>
            <a:endParaRPr lang="en-US" sz="1400" dirty="0"/>
          </a:p>
        </p:txBody>
      </p:sp>
      <p:sp>
        <p:nvSpPr>
          <p:cNvPr id="7" name="Oval 6">
            <a:extLst>
              <a:ext uri="{FF2B5EF4-FFF2-40B4-BE49-F238E27FC236}">
                <a16:creationId xmlns:a16="http://schemas.microsoft.com/office/drawing/2014/main" id="{F4F8F3B2-7F35-F01A-FF5E-7DF96B79EB03}"/>
              </a:ext>
            </a:extLst>
          </p:cNvPr>
          <p:cNvSpPr/>
          <p:nvPr/>
        </p:nvSpPr>
        <p:spPr>
          <a:xfrm>
            <a:off x="6949440" y="2162175"/>
            <a:ext cx="1108710" cy="11058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69BAB37E-6697-EBB7-5F55-65CEE29284EB}"/>
              </a:ext>
            </a:extLst>
          </p:cNvPr>
          <p:cNvPicPr>
            <a:picLocks noChangeAspect="1"/>
          </p:cNvPicPr>
          <p:nvPr/>
        </p:nvPicPr>
        <p:blipFill>
          <a:blip r:embed="rId3"/>
          <a:stretch>
            <a:fillRect/>
          </a:stretch>
        </p:blipFill>
        <p:spPr>
          <a:xfrm>
            <a:off x="4005575" y="345811"/>
            <a:ext cx="7820808" cy="4140789"/>
          </a:xfrm>
          <a:prstGeom prst="rect">
            <a:avLst/>
          </a:prstGeom>
        </p:spPr>
      </p:pic>
    </p:spTree>
    <p:extLst>
      <p:ext uri="{BB962C8B-B14F-4D97-AF65-F5344CB8AC3E}">
        <p14:creationId xmlns:p14="http://schemas.microsoft.com/office/powerpoint/2010/main" val="550425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1E88BD-639F-DF67-7899-F0EA0ABB74C4}"/>
              </a:ext>
            </a:extLst>
          </p:cNvPr>
          <p:cNvSpPr txBox="1"/>
          <p:nvPr/>
        </p:nvSpPr>
        <p:spPr>
          <a:xfrm>
            <a:off x="210311" y="91440"/>
            <a:ext cx="3437861" cy="369332"/>
          </a:xfrm>
          <a:prstGeom prst="rect">
            <a:avLst/>
          </a:prstGeom>
          <a:noFill/>
        </p:spPr>
        <p:txBody>
          <a:bodyPr wrap="square" rtlCol="0">
            <a:spAutoFit/>
          </a:bodyPr>
          <a:lstStyle/>
          <a:p>
            <a:r>
              <a:rPr lang="en-US" b="1" dirty="0"/>
              <a:t>Debugging Assembly Issues</a:t>
            </a:r>
          </a:p>
        </p:txBody>
      </p:sp>
      <p:graphicFrame>
        <p:nvGraphicFramePr>
          <p:cNvPr id="4" name="Table 3">
            <a:extLst>
              <a:ext uri="{FF2B5EF4-FFF2-40B4-BE49-F238E27FC236}">
                <a16:creationId xmlns:a16="http://schemas.microsoft.com/office/drawing/2014/main" id="{DB753654-924F-495C-3652-2D34702153B0}"/>
              </a:ext>
            </a:extLst>
          </p:cNvPr>
          <p:cNvGraphicFramePr>
            <a:graphicFrameLocks noGrp="1"/>
          </p:cNvGraphicFramePr>
          <p:nvPr>
            <p:extLst>
              <p:ext uri="{D42A27DB-BD31-4B8C-83A1-F6EECF244321}">
                <p14:modId xmlns:p14="http://schemas.microsoft.com/office/powerpoint/2010/main" val="65272566"/>
              </p:ext>
            </p:extLst>
          </p:nvPr>
        </p:nvGraphicFramePr>
        <p:xfrm>
          <a:off x="235796" y="612611"/>
          <a:ext cx="10906687" cy="4204489"/>
        </p:xfrm>
        <a:graphic>
          <a:graphicData uri="http://schemas.openxmlformats.org/drawingml/2006/table">
            <a:tbl>
              <a:tblPr>
                <a:tableStyleId>{69CF1AB2-1976-4502-BF36-3FF5EA218861}</a:tableStyleId>
              </a:tblPr>
              <a:tblGrid>
                <a:gridCol w="2188847">
                  <a:extLst>
                    <a:ext uri="{9D8B030D-6E8A-4147-A177-3AD203B41FA5}">
                      <a16:colId xmlns:a16="http://schemas.microsoft.com/office/drawing/2014/main" val="2686121428"/>
                    </a:ext>
                  </a:extLst>
                </a:gridCol>
                <a:gridCol w="2038634">
                  <a:extLst>
                    <a:ext uri="{9D8B030D-6E8A-4147-A177-3AD203B41FA5}">
                      <a16:colId xmlns:a16="http://schemas.microsoft.com/office/drawing/2014/main" val="3589139832"/>
                    </a:ext>
                  </a:extLst>
                </a:gridCol>
                <a:gridCol w="2231768">
                  <a:extLst>
                    <a:ext uri="{9D8B030D-6E8A-4147-A177-3AD203B41FA5}">
                      <a16:colId xmlns:a16="http://schemas.microsoft.com/office/drawing/2014/main" val="2828541870"/>
                    </a:ext>
                  </a:extLst>
                </a:gridCol>
                <a:gridCol w="1517902">
                  <a:extLst>
                    <a:ext uri="{9D8B030D-6E8A-4147-A177-3AD203B41FA5}">
                      <a16:colId xmlns:a16="http://schemas.microsoft.com/office/drawing/2014/main" val="4236116818"/>
                    </a:ext>
                  </a:extLst>
                </a:gridCol>
                <a:gridCol w="1341547">
                  <a:extLst>
                    <a:ext uri="{9D8B030D-6E8A-4147-A177-3AD203B41FA5}">
                      <a16:colId xmlns:a16="http://schemas.microsoft.com/office/drawing/2014/main" val="3583724931"/>
                    </a:ext>
                  </a:extLst>
                </a:gridCol>
                <a:gridCol w="1587989">
                  <a:extLst>
                    <a:ext uri="{9D8B030D-6E8A-4147-A177-3AD203B41FA5}">
                      <a16:colId xmlns:a16="http://schemas.microsoft.com/office/drawing/2014/main" val="761871809"/>
                    </a:ext>
                  </a:extLst>
                </a:gridCol>
              </a:tblGrid>
              <a:tr h="243286">
                <a:tc>
                  <a:txBody>
                    <a:bodyPr/>
                    <a:lstStyle/>
                    <a:p>
                      <a:pPr algn="l" fontAlgn="b"/>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400" b="1" u="none" strike="noStrike" dirty="0">
                          <a:effectLst/>
                        </a:rPr>
                        <a:t>Nominal Dia</a:t>
                      </a:r>
                      <a:endParaRPr lang="en-US" sz="14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US" sz="1400" b="1" u="none" strike="noStrike" dirty="0">
                          <a:effectLst/>
                        </a:rPr>
                        <a:t>Measured</a:t>
                      </a:r>
                      <a:endParaRPr lang="en-US" sz="14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US" sz="1400" b="1" u="none" strike="noStrike" dirty="0">
                          <a:effectLst/>
                        </a:rPr>
                        <a:t>Variation </a:t>
                      </a:r>
                      <a:endParaRPr lang="en-US" sz="14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US" sz="1400" b="1" i="0" u="none" strike="noStrike" dirty="0">
                          <a:solidFill>
                            <a:srgbClr val="000000"/>
                          </a:solidFill>
                          <a:effectLst/>
                          <a:latin typeface="Aptos Narrow" panose="020B0004020202020204" pitchFamily="34" charset="0"/>
                        </a:rPr>
                        <a:t>Fit</a:t>
                      </a:r>
                    </a:p>
                  </a:txBody>
                  <a:tcPr marL="9525" marR="9525" marT="9525" marB="0" anchor="b"/>
                </a:tc>
                <a:extLst>
                  <a:ext uri="{0D108BD9-81ED-4DB2-BD59-A6C34878D82A}">
                    <a16:rowId xmlns:a16="http://schemas.microsoft.com/office/drawing/2014/main" val="136716221"/>
                  </a:ext>
                </a:extLst>
              </a:tr>
              <a:tr h="243286">
                <a:tc rowSpan="4">
                  <a:txBody>
                    <a:bodyPr/>
                    <a:lstStyle/>
                    <a:p>
                      <a:pPr algn="ctr" fontAlgn="ctr"/>
                      <a:r>
                        <a:rPr lang="en-US" sz="1400" b="1" u="none" strike="noStrike" dirty="0">
                          <a:effectLst/>
                        </a:rPr>
                        <a:t>Eccentric Shaft</a:t>
                      </a:r>
                      <a:endParaRPr lang="en-US" sz="14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b"/>
                      <a:r>
                        <a:rPr lang="en-US" sz="1400" u="none" strike="noStrike">
                          <a:effectLst/>
                        </a:rPr>
                        <a:t>Input shaft</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12</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11.8</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-0.2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Good Fit</a:t>
                      </a:r>
                    </a:p>
                  </a:txBody>
                  <a:tcPr marL="9525" marR="9525" marT="9525" marB="0" anchor="b"/>
                </a:tc>
                <a:extLst>
                  <a:ext uri="{0D108BD9-81ED-4DB2-BD59-A6C34878D82A}">
                    <a16:rowId xmlns:a16="http://schemas.microsoft.com/office/drawing/2014/main" val="2189409957"/>
                  </a:ext>
                </a:extLst>
              </a:tr>
              <a:tr h="243286">
                <a:tc vMerge="1">
                  <a:txBody>
                    <a:bodyPr/>
                    <a:lstStyle/>
                    <a:p>
                      <a:endParaRPr lang="en-US"/>
                    </a:p>
                  </a:txBody>
                  <a:tcPr/>
                </a:tc>
                <a:tc>
                  <a:txBody>
                    <a:bodyPr/>
                    <a:lstStyle/>
                    <a:p>
                      <a:pPr algn="l" fontAlgn="b"/>
                      <a:r>
                        <a:rPr lang="en-US" sz="1400" u="none" strike="noStrike" dirty="0">
                          <a:effectLst/>
                        </a:rPr>
                        <a:t>output shaft</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8</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7.7</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-0.3</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Tighter</a:t>
                      </a:r>
                    </a:p>
                  </a:txBody>
                  <a:tcPr marL="9525" marR="9525" marT="9525" marB="0" anchor="b"/>
                </a:tc>
                <a:extLst>
                  <a:ext uri="{0D108BD9-81ED-4DB2-BD59-A6C34878D82A}">
                    <a16:rowId xmlns:a16="http://schemas.microsoft.com/office/drawing/2014/main" val="2996918527"/>
                  </a:ext>
                </a:extLst>
              </a:tr>
              <a:tr h="243286">
                <a:tc vMerge="1">
                  <a:txBody>
                    <a:bodyPr/>
                    <a:lstStyle/>
                    <a:p>
                      <a:endParaRPr lang="en-US"/>
                    </a:p>
                  </a:txBody>
                  <a:tcPr/>
                </a:tc>
                <a:tc>
                  <a:txBody>
                    <a:bodyPr/>
                    <a:lstStyle/>
                    <a:p>
                      <a:pPr algn="l" fontAlgn="b"/>
                      <a:r>
                        <a:rPr lang="en-US" sz="1400" u="none" strike="noStrike" dirty="0">
                          <a:effectLst/>
                        </a:rPr>
                        <a:t>lobe 1</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15</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14.8</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-0.2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Good(loose)</a:t>
                      </a:r>
                    </a:p>
                  </a:txBody>
                  <a:tcPr marL="9525" marR="9525" marT="9525" marB="0" anchor="b"/>
                </a:tc>
                <a:extLst>
                  <a:ext uri="{0D108BD9-81ED-4DB2-BD59-A6C34878D82A}">
                    <a16:rowId xmlns:a16="http://schemas.microsoft.com/office/drawing/2014/main" val="2265004678"/>
                  </a:ext>
                </a:extLst>
              </a:tr>
              <a:tr h="243286">
                <a:tc vMerge="1">
                  <a:txBody>
                    <a:bodyPr/>
                    <a:lstStyle/>
                    <a:p>
                      <a:endParaRPr lang="en-US"/>
                    </a:p>
                  </a:txBody>
                  <a:tcPr/>
                </a:tc>
                <a:tc>
                  <a:txBody>
                    <a:bodyPr/>
                    <a:lstStyle/>
                    <a:p>
                      <a:pPr algn="l" fontAlgn="b"/>
                      <a:r>
                        <a:rPr lang="en-US" sz="1400" u="none" strike="noStrike">
                          <a:effectLst/>
                        </a:rPr>
                        <a:t>lobe 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15</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14.8</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-0.2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Good (loose)</a:t>
                      </a:r>
                    </a:p>
                  </a:txBody>
                  <a:tcPr marL="9525" marR="9525" marT="9525" marB="0" anchor="b"/>
                </a:tc>
                <a:extLst>
                  <a:ext uri="{0D108BD9-81ED-4DB2-BD59-A6C34878D82A}">
                    <a16:rowId xmlns:a16="http://schemas.microsoft.com/office/drawing/2014/main" val="4220069031"/>
                  </a:ext>
                </a:extLst>
              </a:tr>
              <a:tr h="243286">
                <a:tc rowSpan="2">
                  <a:txBody>
                    <a:bodyPr/>
                    <a:lstStyle/>
                    <a:p>
                      <a:pPr algn="ctr" fontAlgn="ctr"/>
                      <a:r>
                        <a:rPr lang="en-US" sz="1400" b="1" u="none" strike="noStrike" dirty="0">
                          <a:effectLst/>
                        </a:rPr>
                        <a:t>Cycloidal Gear</a:t>
                      </a:r>
                      <a:endParaRPr lang="en-US" sz="14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b"/>
                      <a:r>
                        <a:rPr lang="en-US" sz="1400" u="none" strike="noStrike">
                          <a:effectLst/>
                        </a:rPr>
                        <a:t>Bearing Hole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35.2</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34.9</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a:effectLst/>
                        </a:rPr>
                        <a:t>-0.3</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Perfect</a:t>
                      </a:r>
                    </a:p>
                  </a:txBody>
                  <a:tcPr marL="9525" marR="9525" marT="9525" marB="0" anchor="b"/>
                </a:tc>
                <a:extLst>
                  <a:ext uri="{0D108BD9-81ED-4DB2-BD59-A6C34878D82A}">
                    <a16:rowId xmlns:a16="http://schemas.microsoft.com/office/drawing/2014/main" val="243363554"/>
                  </a:ext>
                </a:extLst>
              </a:tr>
              <a:tr h="674360">
                <a:tc vMerge="1">
                  <a:txBody>
                    <a:bodyPr/>
                    <a:lstStyle/>
                    <a:p>
                      <a:endParaRPr lang="en-US"/>
                    </a:p>
                  </a:txBody>
                  <a:tcPr/>
                </a:tc>
                <a:tc>
                  <a:txBody>
                    <a:bodyPr/>
                    <a:lstStyle/>
                    <a:p>
                      <a:pPr algn="l" fontAlgn="b"/>
                      <a:r>
                        <a:rPr lang="en-US" sz="1400" u="none" strike="noStrike">
                          <a:effectLst/>
                        </a:rPr>
                        <a:t>Pin Holes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8.1</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7.8</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-0.3</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Needs to meet design spec</a:t>
                      </a:r>
                    </a:p>
                  </a:txBody>
                  <a:tcPr marL="9525" marR="9525" marT="9525" marB="0" anchor="b"/>
                </a:tc>
                <a:extLst>
                  <a:ext uri="{0D108BD9-81ED-4DB2-BD59-A6C34878D82A}">
                    <a16:rowId xmlns:a16="http://schemas.microsoft.com/office/drawing/2014/main" val="3184446230"/>
                  </a:ext>
                </a:extLst>
              </a:tr>
              <a:tr h="243286">
                <a:tc rowSpan="2">
                  <a:txBody>
                    <a:bodyPr/>
                    <a:lstStyle/>
                    <a:p>
                      <a:pPr algn="ctr" fontAlgn="ctr"/>
                      <a:r>
                        <a:rPr lang="en-US" sz="1400" b="1" u="none" strike="noStrike" dirty="0">
                          <a:effectLst/>
                        </a:rPr>
                        <a:t>Hub</a:t>
                      </a:r>
                      <a:endParaRPr lang="en-US" sz="14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b"/>
                      <a:r>
                        <a:rPr lang="en-US" sz="1400" u="none" strike="noStrike">
                          <a:effectLst/>
                        </a:rPr>
                        <a:t>Shaft Hole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13</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12.7</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-0.3</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Good</a:t>
                      </a:r>
                    </a:p>
                  </a:txBody>
                  <a:tcPr marL="9525" marR="9525" marT="9525" marB="0" anchor="b"/>
                </a:tc>
                <a:extLst>
                  <a:ext uri="{0D108BD9-81ED-4DB2-BD59-A6C34878D82A}">
                    <a16:rowId xmlns:a16="http://schemas.microsoft.com/office/drawing/2014/main" val="3478040639"/>
                  </a:ext>
                </a:extLst>
              </a:tr>
              <a:tr h="674360">
                <a:tc vMerge="1">
                  <a:txBody>
                    <a:bodyPr/>
                    <a:lstStyle/>
                    <a:p>
                      <a:endParaRPr lang="en-US"/>
                    </a:p>
                  </a:txBody>
                  <a:tcPr/>
                </a:tc>
                <a:tc>
                  <a:txBody>
                    <a:bodyPr/>
                    <a:lstStyle/>
                    <a:p>
                      <a:pPr algn="l" fontAlgn="b"/>
                      <a:r>
                        <a:rPr lang="en-US" sz="1400" u="none" strike="noStrike">
                          <a:effectLst/>
                        </a:rPr>
                        <a:t>Thrust Bearing Seat</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106</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105.4</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-0.6</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Maybe 0.5mm tighter later</a:t>
                      </a:r>
                    </a:p>
                  </a:txBody>
                  <a:tcPr marL="9525" marR="9525" marT="9525" marB="0" anchor="b"/>
                </a:tc>
                <a:extLst>
                  <a:ext uri="{0D108BD9-81ED-4DB2-BD59-A6C34878D82A}">
                    <a16:rowId xmlns:a16="http://schemas.microsoft.com/office/drawing/2014/main" val="3213456887"/>
                  </a:ext>
                </a:extLst>
              </a:tr>
              <a:tr h="478407">
                <a:tc rowSpan="2">
                  <a:txBody>
                    <a:bodyPr/>
                    <a:lstStyle/>
                    <a:p>
                      <a:pPr algn="ctr" fontAlgn="ctr"/>
                      <a:r>
                        <a:rPr lang="en-US" sz="1400" b="1" u="none" strike="noStrike" dirty="0">
                          <a:effectLst/>
                        </a:rPr>
                        <a:t>Output Plate</a:t>
                      </a:r>
                      <a:endParaRPr lang="en-US" sz="14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b"/>
                      <a:r>
                        <a:rPr lang="en-US" sz="1400" u="none" strike="noStrike">
                          <a:effectLst/>
                        </a:rPr>
                        <a:t>Bearing Hole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22.4</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22.2</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-0.2</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Too tight for prototyping</a:t>
                      </a:r>
                    </a:p>
                  </a:txBody>
                  <a:tcPr marL="9525" marR="9525" marT="9525" marB="0" anchor="b"/>
                </a:tc>
                <a:extLst>
                  <a:ext uri="{0D108BD9-81ED-4DB2-BD59-A6C34878D82A}">
                    <a16:rowId xmlns:a16="http://schemas.microsoft.com/office/drawing/2014/main" val="1824648032"/>
                  </a:ext>
                </a:extLst>
              </a:tr>
              <a:tr h="674360">
                <a:tc vMerge="1">
                  <a:txBody>
                    <a:bodyPr/>
                    <a:lstStyle/>
                    <a:p>
                      <a:endParaRPr lang="en-US"/>
                    </a:p>
                  </a:txBody>
                  <a:tcPr/>
                </a:tc>
                <a:tc>
                  <a:txBody>
                    <a:bodyPr/>
                    <a:lstStyle/>
                    <a:p>
                      <a:pPr algn="l" fontAlgn="b"/>
                      <a:r>
                        <a:rPr lang="en-US" sz="1400" u="none" strike="noStrike">
                          <a:effectLst/>
                        </a:rPr>
                        <a:t>Dowel Pin Hole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5.5</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5.6</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u="none" strike="noStrike" dirty="0">
                          <a:effectLst/>
                        </a:rPr>
                        <a:t>0.1</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US" sz="1400" b="0" i="0" u="none" strike="noStrike" dirty="0">
                          <a:solidFill>
                            <a:srgbClr val="000000"/>
                          </a:solidFill>
                          <a:effectLst/>
                          <a:latin typeface="Aptos Narrow" panose="020B0004020202020204" pitchFamily="34" charset="0"/>
                        </a:rPr>
                        <a:t>Needs to be slightly smaller</a:t>
                      </a:r>
                    </a:p>
                  </a:txBody>
                  <a:tcPr marL="9525" marR="9525" marT="9525" marB="0" anchor="b"/>
                </a:tc>
                <a:extLst>
                  <a:ext uri="{0D108BD9-81ED-4DB2-BD59-A6C34878D82A}">
                    <a16:rowId xmlns:a16="http://schemas.microsoft.com/office/drawing/2014/main" val="1271152796"/>
                  </a:ext>
                </a:extLst>
              </a:tr>
            </a:tbl>
          </a:graphicData>
        </a:graphic>
      </p:graphicFrame>
    </p:spTree>
    <p:extLst>
      <p:ext uri="{BB962C8B-B14F-4D97-AF65-F5344CB8AC3E}">
        <p14:creationId xmlns:p14="http://schemas.microsoft.com/office/powerpoint/2010/main" val="171594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3D462C-6C66-26F2-32F2-E09969D0E866}"/>
              </a:ext>
            </a:extLst>
          </p:cNvPr>
          <p:cNvGrpSpPr/>
          <p:nvPr/>
        </p:nvGrpSpPr>
        <p:grpSpPr>
          <a:xfrm>
            <a:off x="2919846" y="422161"/>
            <a:ext cx="3826782" cy="3969098"/>
            <a:chOff x="3627120" y="276106"/>
            <a:chExt cx="3843528" cy="4314182"/>
          </a:xfrm>
        </p:grpSpPr>
        <p:grpSp>
          <p:nvGrpSpPr>
            <p:cNvPr id="4" name="Group 3">
              <a:extLst>
                <a:ext uri="{FF2B5EF4-FFF2-40B4-BE49-F238E27FC236}">
                  <a16:creationId xmlns:a16="http://schemas.microsoft.com/office/drawing/2014/main" id="{E5A9E061-ADD9-1DCC-DA09-7AF3967F01F0}"/>
                </a:ext>
              </a:extLst>
            </p:cNvPr>
            <p:cNvGrpSpPr/>
            <p:nvPr/>
          </p:nvGrpSpPr>
          <p:grpSpPr>
            <a:xfrm>
              <a:off x="3627120" y="276106"/>
              <a:ext cx="3843528" cy="4314182"/>
              <a:chOff x="3627120" y="276106"/>
              <a:chExt cx="2697480" cy="3596640"/>
            </a:xfrm>
          </p:grpSpPr>
          <p:pic>
            <p:nvPicPr>
              <p:cNvPr id="6" name="Picture 2">
                <a:extLst>
                  <a:ext uri="{FF2B5EF4-FFF2-40B4-BE49-F238E27FC236}">
                    <a16:creationId xmlns:a16="http://schemas.microsoft.com/office/drawing/2014/main" id="{4B980BAA-D7A2-9EF0-3998-CD3DE5DDA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3177540" y="725686"/>
                <a:ext cx="3596640" cy="269748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5E56EFB2-DAB4-51AC-FC11-B3E54B006E52}"/>
                  </a:ext>
                </a:extLst>
              </p:cNvPr>
              <p:cNvCxnSpPr/>
              <p:nvPr/>
            </p:nvCxnSpPr>
            <p:spPr>
              <a:xfrm>
                <a:off x="4279392" y="1719072"/>
                <a:ext cx="1682496" cy="8229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815D61-1261-9F34-F52E-BB5F994D1F53}"/>
                  </a:ext>
                </a:extLst>
              </p:cNvPr>
              <p:cNvCxnSpPr>
                <a:cxnSpLocks/>
              </p:cNvCxnSpPr>
              <p:nvPr/>
            </p:nvCxnSpPr>
            <p:spPr>
              <a:xfrm>
                <a:off x="4404360" y="1801368"/>
                <a:ext cx="954024" cy="12801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5" name="TextBox 4">
              <a:extLst>
                <a:ext uri="{FF2B5EF4-FFF2-40B4-BE49-F238E27FC236}">
                  <a16:creationId xmlns:a16="http://schemas.microsoft.com/office/drawing/2014/main" id="{A6F0E373-7F13-E28C-9027-940017CC9997}"/>
                </a:ext>
              </a:extLst>
            </p:cNvPr>
            <p:cNvSpPr txBox="1"/>
            <p:nvPr/>
          </p:nvSpPr>
          <p:spPr>
            <a:xfrm>
              <a:off x="5548884" y="402864"/>
              <a:ext cx="1385138" cy="1015663"/>
            </a:xfrm>
            <a:prstGeom prst="rect">
              <a:avLst/>
            </a:prstGeom>
            <a:noFill/>
          </p:spPr>
          <p:txBody>
            <a:bodyPr wrap="square" rtlCol="0">
              <a:spAutoFit/>
            </a:bodyPr>
            <a:lstStyle/>
            <a:p>
              <a:r>
                <a:rPr lang="en-US" sz="1200" dirty="0">
                  <a:solidFill>
                    <a:srgbClr val="FF0000"/>
                  </a:solidFill>
                </a:rPr>
                <a:t>Shaft and Output plate not perpendicular – wobble and jamming</a:t>
              </a:r>
            </a:p>
          </p:txBody>
        </p:sp>
      </p:grpSp>
      <p:grpSp>
        <p:nvGrpSpPr>
          <p:cNvPr id="9" name="Group 8">
            <a:extLst>
              <a:ext uri="{FF2B5EF4-FFF2-40B4-BE49-F238E27FC236}">
                <a16:creationId xmlns:a16="http://schemas.microsoft.com/office/drawing/2014/main" id="{B8B11E45-46CF-3AED-BBFB-C312A90881E8}"/>
              </a:ext>
            </a:extLst>
          </p:cNvPr>
          <p:cNvGrpSpPr/>
          <p:nvPr/>
        </p:nvGrpSpPr>
        <p:grpSpPr>
          <a:xfrm>
            <a:off x="3050475" y="4750196"/>
            <a:ext cx="3565524" cy="1891819"/>
            <a:chOff x="3342979" y="4851471"/>
            <a:chExt cx="2307705" cy="1592928"/>
          </a:xfrm>
        </p:grpSpPr>
        <p:pic>
          <p:nvPicPr>
            <p:cNvPr id="10" name="Picture 4">
              <a:extLst>
                <a:ext uri="{FF2B5EF4-FFF2-40B4-BE49-F238E27FC236}">
                  <a16:creationId xmlns:a16="http://schemas.microsoft.com/office/drawing/2014/main" id="{4A5993AB-70DB-8E2B-3617-38896283F7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102" r="26128"/>
            <a:stretch/>
          </p:blipFill>
          <p:spPr bwMode="auto">
            <a:xfrm rot="5400000">
              <a:off x="3700368" y="4494082"/>
              <a:ext cx="1592928" cy="230770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2B389F8E-47F2-775A-3467-DDCC4B99F2D2}"/>
                </a:ext>
              </a:extLst>
            </p:cNvPr>
            <p:cNvCxnSpPr/>
            <p:nvPr/>
          </p:nvCxnSpPr>
          <p:spPr>
            <a:xfrm>
              <a:off x="4046891" y="5870448"/>
              <a:ext cx="91830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AF4AB84-C03F-0B6B-07F7-E2D5AC0A62AF}"/>
                </a:ext>
              </a:extLst>
            </p:cNvPr>
            <p:cNvCxnSpPr/>
            <p:nvPr/>
          </p:nvCxnSpPr>
          <p:spPr>
            <a:xfrm>
              <a:off x="3946062" y="5510784"/>
              <a:ext cx="91830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F864B555-7C3F-F278-BF01-5D95871CB8A2}"/>
              </a:ext>
            </a:extLst>
          </p:cNvPr>
          <p:cNvGrpSpPr/>
          <p:nvPr/>
        </p:nvGrpSpPr>
        <p:grpSpPr>
          <a:xfrm>
            <a:off x="7123538" y="172039"/>
            <a:ext cx="4750940" cy="6513921"/>
            <a:chOff x="7343650" y="245097"/>
            <a:chExt cx="4750940" cy="6513921"/>
          </a:xfrm>
        </p:grpSpPr>
        <p:sp>
          <p:nvSpPr>
            <p:cNvPr id="14" name="TextBox 13">
              <a:extLst>
                <a:ext uri="{FF2B5EF4-FFF2-40B4-BE49-F238E27FC236}">
                  <a16:creationId xmlns:a16="http://schemas.microsoft.com/office/drawing/2014/main" id="{7D46FADE-DC3D-3B99-6E6E-50DF76FCA136}"/>
                </a:ext>
              </a:extLst>
            </p:cNvPr>
            <p:cNvSpPr txBox="1"/>
            <p:nvPr/>
          </p:nvSpPr>
          <p:spPr>
            <a:xfrm>
              <a:off x="7667668" y="3429000"/>
              <a:ext cx="4288536" cy="954107"/>
            </a:xfrm>
            <a:prstGeom prst="rect">
              <a:avLst/>
            </a:prstGeom>
            <a:noFill/>
          </p:spPr>
          <p:txBody>
            <a:bodyPr wrap="square" rtlCol="0">
              <a:spAutoFit/>
            </a:bodyPr>
            <a:lstStyle/>
            <a:p>
              <a:r>
                <a:rPr lang="en-US" sz="1400" dirty="0"/>
                <a:t>Eccentric shaft was bowed. Out of perpendicularity along axis. Caused fitment, alignment and uneven loading issues. Occurs during horizontal print orientation</a:t>
              </a:r>
            </a:p>
          </p:txBody>
        </p:sp>
        <p:pic>
          <p:nvPicPr>
            <p:cNvPr id="15" name="Picture 14">
              <a:extLst>
                <a:ext uri="{FF2B5EF4-FFF2-40B4-BE49-F238E27FC236}">
                  <a16:creationId xmlns:a16="http://schemas.microsoft.com/office/drawing/2014/main" id="{B060133D-3C80-156F-4C8A-1BE8878D1B8A}"/>
                </a:ext>
              </a:extLst>
            </p:cNvPr>
            <p:cNvPicPr>
              <a:picLocks noChangeAspect="1"/>
            </p:cNvPicPr>
            <p:nvPr/>
          </p:nvPicPr>
          <p:blipFill>
            <a:blip r:embed="rId5"/>
            <a:stretch>
              <a:fillRect/>
            </a:stretch>
          </p:blipFill>
          <p:spPr>
            <a:xfrm>
              <a:off x="7846811" y="322853"/>
              <a:ext cx="3668577" cy="3106147"/>
            </a:xfrm>
            <a:prstGeom prst="rect">
              <a:avLst/>
            </a:prstGeom>
          </p:spPr>
        </p:pic>
        <p:sp>
          <p:nvSpPr>
            <p:cNvPr id="16" name="Rectangle 15">
              <a:extLst>
                <a:ext uri="{FF2B5EF4-FFF2-40B4-BE49-F238E27FC236}">
                  <a16:creationId xmlns:a16="http://schemas.microsoft.com/office/drawing/2014/main" id="{EDE607E4-C033-4418-6F59-5899307A4213}"/>
                </a:ext>
              </a:extLst>
            </p:cNvPr>
            <p:cNvSpPr/>
            <p:nvPr/>
          </p:nvSpPr>
          <p:spPr>
            <a:xfrm>
              <a:off x="7343650" y="245097"/>
              <a:ext cx="4750940" cy="65139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421519D6-B1B3-FEA8-35FB-2A5BA0AC9272}"/>
                </a:ext>
              </a:extLst>
            </p:cNvPr>
            <p:cNvPicPr>
              <a:picLocks noChangeAspect="1"/>
            </p:cNvPicPr>
            <p:nvPr/>
          </p:nvPicPr>
          <p:blipFill>
            <a:blip r:embed="rId6"/>
            <a:stretch>
              <a:fillRect/>
            </a:stretch>
          </p:blipFill>
          <p:spPr>
            <a:xfrm>
              <a:off x="8547738" y="4383107"/>
              <a:ext cx="2528395" cy="2331966"/>
            </a:xfrm>
            <a:prstGeom prst="rect">
              <a:avLst/>
            </a:prstGeom>
          </p:spPr>
        </p:pic>
      </p:grpSp>
      <p:sp>
        <p:nvSpPr>
          <p:cNvPr id="18" name="TextBox 17">
            <a:extLst>
              <a:ext uri="{FF2B5EF4-FFF2-40B4-BE49-F238E27FC236}">
                <a16:creationId xmlns:a16="http://schemas.microsoft.com/office/drawing/2014/main" id="{C101A6AC-B80D-41FA-D586-C7DA52E00D58}"/>
              </a:ext>
            </a:extLst>
          </p:cNvPr>
          <p:cNvSpPr txBox="1"/>
          <p:nvPr/>
        </p:nvSpPr>
        <p:spPr>
          <a:xfrm>
            <a:off x="210312" y="91440"/>
            <a:ext cx="2697480" cy="646331"/>
          </a:xfrm>
          <a:prstGeom prst="rect">
            <a:avLst/>
          </a:prstGeom>
          <a:noFill/>
        </p:spPr>
        <p:txBody>
          <a:bodyPr wrap="square" rtlCol="0">
            <a:spAutoFit/>
          </a:bodyPr>
          <a:lstStyle/>
          <a:p>
            <a:r>
              <a:rPr lang="en-US" b="1" dirty="0"/>
              <a:t>Debugging Assembly Issues</a:t>
            </a:r>
          </a:p>
        </p:txBody>
      </p:sp>
    </p:spTree>
    <p:extLst>
      <p:ext uri="{BB962C8B-B14F-4D97-AF65-F5344CB8AC3E}">
        <p14:creationId xmlns:p14="http://schemas.microsoft.com/office/powerpoint/2010/main" val="67681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54F52B-98DF-50F9-7040-4CEFD2A94332}"/>
              </a:ext>
            </a:extLst>
          </p:cNvPr>
          <p:cNvSpPr txBox="1"/>
          <p:nvPr/>
        </p:nvSpPr>
        <p:spPr>
          <a:xfrm>
            <a:off x="210312" y="91440"/>
            <a:ext cx="2697480" cy="369332"/>
          </a:xfrm>
          <a:prstGeom prst="rect">
            <a:avLst/>
          </a:prstGeom>
          <a:noFill/>
        </p:spPr>
        <p:txBody>
          <a:bodyPr wrap="square" rtlCol="0">
            <a:spAutoFit/>
          </a:bodyPr>
          <a:lstStyle/>
          <a:p>
            <a:r>
              <a:rPr lang="en-US" b="1" dirty="0"/>
              <a:t>4</a:t>
            </a:r>
            <a:r>
              <a:rPr lang="en-US" b="1" baseline="30000" dirty="0"/>
              <a:t>th</a:t>
            </a:r>
            <a:r>
              <a:rPr lang="en-US" b="1" dirty="0"/>
              <a:t> Iteration</a:t>
            </a:r>
          </a:p>
        </p:txBody>
      </p:sp>
      <p:sp>
        <p:nvSpPr>
          <p:cNvPr id="3" name="TextBox 2">
            <a:extLst>
              <a:ext uri="{FF2B5EF4-FFF2-40B4-BE49-F238E27FC236}">
                <a16:creationId xmlns:a16="http://schemas.microsoft.com/office/drawing/2014/main" id="{43865D14-042E-B55A-3AD3-1CB4DAD25DBA}"/>
              </a:ext>
            </a:extLst>
          </p:cNvPr>
          <p:cNvSpPr txBox="1"/>
          <p:nvPr/>
        </p:nvSpPr>
        <p:spPr>
          <a:xfrm>
            <a:off x="227199" y="694259"/>
            <a:ext cx="2697480" cy="3108543"/>
          </a:xfrm>
          <a:prstGeom prst="rect">
            <a:avLst/>
          </a:prstGeom>
          <a:noFill/>
        </p:spPr>
        <p:txBody>
          <a:bodyPr wrap="square" rtlCol="0">
            <a:spAutoFit/>
          </a:bodyPr>
          <a:lstStyle/>
          <a:p>
            <a:r>
              <a:rPr lang="en-US" sz="1400" b="1" dirty="0"/>
              <a:t>New Features</a:t>
            </a:r>
          </a:p>
          <a:p>
            <a:pPr marL="285750" indent="-285750">
              <a:buFontTx/>
              <a:buChar char="-"/>
            </a:pPr>
            <a:r>
              <a:rPr lang="en-US" sz="1400" dirty="0"/>
              <a:t>5mm dowel pins</a:t>
            </a:r>
          </a:p>
          <a:p>
            <a:pPr marL="285750" indent="-285750">
              <a:buFontTx/>
              <a:buChar char="-"/>
            </a:pPr>
            <a:r>
              <a:rPr lang="en-US" sz="1400" dirty="0"/>
              <a:t>22mm bearing + eccentric shaft aligns concentrically with output plate such that output plate is radially aligned but on a different axis than input</a:t>
            </a:r>
          </a:p>
          <a:p>
            <a:pPr marL="285750" indent="-285750">
              <a:buFontTx/>
              <a:buChar char="-"/>
            </a:pPr>
            <a:r>
              <a:rPr lang="en-US" sz="1400" dirty="0"/>
              <a:t>Thrust Bearing + Output plate touch off ring. Axial loading only through thrust bearing</a:t>
            </a:r>
          </a:p>
          <a:p>
            <a:pPr marL="285750" indent="-285750">
              <a:buFontTx/>
              <a:buChar char="-"/>
            </a:pPr>
            <a:r>
              <a:rPr lang="en-US" sz="1400" dirty="0"/>
              <a:t>Tuned Eccentric shaft (lobe/shaft diameters)</a:t>
            </a:r>
          </a:p>
        </p:txBody>
      </p:sp>
      <p:sp>
        <p:nvSpPr>
          <p:cNvPr id="4" name="TextBox 3">
            <a:extLst>
              <a:ext uri="{FF2B5EF4-FFF2-40B4-BE49-F238E27FC236}">
                <a16:creationId xmlns:a16="http://schemas.microsoft.com/office/drawing/2014/main" id="{C27B5F7D-B1B1-7E25-397F-70BB3A53FA26}"/>
              </a:ext>
            </a:extLst>
          </p:cNvPr>
          <p:cNvSpPr txBox="1"/>
          <p:nvPr/>
        </p:nvSpPr>
        <p:spPr>
          <a:xfrm>
            <a:off x="227199" y="3864444"/>
            <a:ext cx="2697480" cy="1600438"/>
          </a:xfrm>
          <a:prstGeom prst="rect">
            <a:avLst/>
          </a:prstGeom>
          <a:noFill/>
        </p:spPr>
        <p:txBody>
          <a:bodyPr wrap="square" rtlCol="0">
            <a:spAutoFit/>
          </a:bodyPr>
          <a:lstStyle/>
          <a:p>
            <a:r>
              <a:rPr lang="en-US" sz="1400" b="1" dirty="0"/>
              <a:t>Observations</a:t>
            </a:r>
          </a:p>
          <a:p>
            <a:pPr marL="285750" indent="-285750">
              <a:buFontTx/>
              <a:buChar char="-"/>
            </a:pPr>
            <a:r>
              <a:rPr lang="en-US" sz="1400" dirty="0"/>
              <a:t>Eccentric shaft need tight tolerance. </a:t>
            </a:r>
          </a:p>
          <a:p>
            <a:pPr marL="285750" indent="-285750">
              <a:buFontTx/>
              <a:buChar char="-"/>
            </a:pPr>
            <a:r>
              <a:rPr lang="en-US" sz="1400" dirty="0"/>
              <a:t>Still gets jammed up</a:t>
            </a:r>
          </a:p>
          <a:p>
            <a:pPr marL="285750" indent="-285750">
              <a:buFontTx/>
              <a:buChar char="-"/>
            </a:pPr>
            <a:r>
              <a:rPr lang="en-US" sz="1400" dirty="0"/>
              <a:t>Friction marks on bottom surface of gear due to rubbing with gearbox face</a:t>
            </a:r>
          </a:p>
        </p:txBody>
      </p:sp>
      <p:pic>
        <p:nvPicPr>
          <p:cNvPr id="16" name="MicrosoftTeams-video (6)">
            <a:hlinkClick r:id="" action="ppaction://media"/>
            <a:extLst>
              <a:ext uri="{FF2B5EF4-FFF2-40B4-BE49-F238E27FC236}">
                <a16:creationId xmlns:a16="http://schemas.microsoft.com/office/drawing/2014/main" id="{EA21A2E1-D465-0514-1DFE-34F02EE487A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336445" y="232841"/>
            <a:ext cx="3487909" cy="6292307"/>
          </a:xfrm>
          <a:prstGeom prst="rect">
            <a:avLst/>
          </a:prstGeom>
        </p:spPr>
      </p:pic>
      <p:pic>
        <p:nvPicPr>
          <p:cNvPr id="19" name="MicrosoftTeams-video (8)">
            <a:hlinkClick r:id="" action="ppaction://media"/>
            <a:extLst>
              <a:ext uri="{FF2B5EF4-FFF2-40B4-BE49-F238E27FC236}">
                <a16:creationId xmlns:a16="http://schemas.microsoft.com/office/drawing/2014/main" id="{576E0BFA-DBDB-6FB6-027D-C43B878DDEBE}"/>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352045" y="232841"/>
            <a:ext cx="3487909" cy="6185455"/>
          </a:xfrm>
          <a:prstGeom prst="rect">
            <a:avLst/>
          </a:prstGeom>
        </p:spPr>
      </p:pic>
    </p:spTree>
    <p:extLst>
      <p:ext uri="{BB962C8B-B14F-4D97-AF65-F5344CB8AC3E}">
        <p14:creationId xmlns:p14="http://schemas.microsoft.com/office/powerpoint/2010/main" val="176111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03" fill="hold"/>
                                        <p:tgtEl>
                                          <p:spTgt spid="1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6903"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6"/>
                </p:tgtEl>
              </p:cMediaNode>
            </p:video>
            <p:seq concurrent="1" nextAc="seek">
              <p:cTn id="12" restart="whenNotActive" fill="hold" evtFilter="cancelBubble" nodeType="interactiveSeq">
                <p:stCondLst>
                  <p:cond evt="onClick" delay="0">
                    <p:tgtEl>
                      <p:spTgt spid="1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16"/>
                                        </p:tgtEl>
                                      </p:cBhvr>
                                    </p:cmd>
                                  </p:childTnLst>
                                </p:cTn>
                              </p:par>
                            </p:childTnLst>
                          </p:cTn>
                        </p:par>
                      </p:childTnLst>
                    </p:cTn>
                  </p:par>
                </p:childTnLst>
              </p:cTn>
              <p:nextCondLst>
                <p:cond evt="onClick" delay="0">
                  <p:tgtEl>
                    <p:spTgt spid="16"/>
                  </p:tgtEl>
                </p:cond>
              </p:nextCondLst>
            </p:seq>
            <p:video>
              <p:cMediaNode vol="80000">
                <p:cTn id="17" fill="hold" display="0">
                  <p:stCondLst>
                    <p:cond delay="indefinite"/>
                  </p:stCondLst>
                </p:cTn>
                <p:tgtEl>
                  <p:spTgt spid="19"/>
                </p:tgtEl>
              </p:cMediaNode>
            </p:video>
            <p:seq concurrent="1" nextAc="seek">
              <p:cTn id="18" restart="whenNotActive" fill="hold" evtFilter="cancelBubble" nodeType="interactiveSeq">
                <p:stCondLst>
                  <p:cond evt="onClick" delay="0">
                    <p:tgtEl>
                      <p:spTgt spid="1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E5B31D-B302-86E0-B001-911479C5049A}"/>
              </a:ext>
            </a:extLst>
          </p:cNvPr>
          <p:cNvSpPr txBox="1"/>
          <p:nvPr/>
        </p:nvSpPr>
        <p:spPr>
          <a:xfrm>
            <a:off x="175590" y="56811"/>
            <a:ext cx="4800600" cy="732434"/>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1900" b="1" kern="1200" dirty="0">
              <a:ea typeface="+mj-ea"/>
              <a:cs typeface="+mj-cs"/>
            </a:endParaRPr>
          </a:p>
        </p:txBody>
      </p:sp>
      <p:sp>
        <p:nvSpPr>
          <p:cNvPr id="5" name="TextBox 4">
            <a:extLst>
              <a:ext uri="{FF2B5EF4-FFF2-40B4-BE49-F238E27FC236}">
                <a16:creationId xmlns:a16="http://schemas.microsoft.com/office/drawing/2014/main" id="{3457F170-270D-8F13-FB37-EF87A2E676E6}"/>
              </a:ext>
            </a:extLst>
          </p:cNvPr>
          <p:cNvSpPr txBox="1"/>
          <p:nvPr/>
        </p:nvSpPr>
        <p:spPr>
          <a:xfrm>
            <a:off x="429830" y="650449"/>
            <a:ext cx="5135787" cy="540075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p>
            <a:pPr>
              <a:lnSpc>
                <a:spcPct val="90000"/>
              </a:lnSpc>
              <a:spcAft>
                <a:spcPts val="600"/>
              </a:spcAft>
            </a:pPr>
            <a:r>
              <a:rPr lang="en-US" sz="1700" b="1" dirty="0"/>
              <a:t>Observations</a:t>
            </a:r>
          </a:p>
          <a:p>
            <a:pPr indent="-228600">
              <a:lnSpc>
                <a:spcPct val="90000"/>
              </a:lnSpc>
              <a:spcAft>
                <a:spcPts val="600"/>
              </a:spcAft>
              <a:buFont typeface="Arial" panose="020B0604020202020204" pitchFamily="34" charset="0"/>
              <a:buChar char="•"/>
            </a:pPr>
            <a:r>
              <a:rPr lang="en-US" sz="1700" dirty="0"/>
              <a:t>Rattly gearbox and vibration</a:t>
            </a:r>
          </a:p>
          <a:p>
            <a:pPr indent="-228600">
              <a:lnSpc>
                <a:spcPct val="90000"/>
              </a:lnSpc>
              <a:spcAft>
                <a:spcPts val="600"/>
              </a:spcAft>
              <a:buFont typeface="Arial" panose="020B0604020202020204" pitchFamily="34" charset="0"/>
              <a:buChar char="•"/>
            </a:pPr>
            <a:r>
              <a:rPr lang="en-US" sz="1700" dirty="0"/>
              <a:t>Feels like motor is skipping steps (motor only trial)</a:t>
            </a:r>
          </a:p>
          <a:p>
            <a:pPr indent="-228600">
              <a:lnSpc>
                <a:spcPct val="90000"/>
              </a:lnSpc>
              <a:spcAft>
                <a:spcPts val="600"/>
              </a:spcAft>
              <a:buFont typeface="Arial" panose="020B0604020202020204" pitchFamily="34" charset="0"/>
              <a:buChar char="•"/>
            </a:pPr>
            <a:r>
              <a:rPr lang="en-US" sz="1700" dirty="0"/>
              <a:t>Loud gritty sounds from motor</a:t>
            </a:r>
          </a:p>
          <a:p>
            <a:pPr indent="-228600">
              <a:lnSpc>
                <a:spcPct val="90000"/>
              </a:lnSpc>
              <a:spcAft>
                <a:spcPts val="600"/>
              </a:spcAft>
              <a:buFont typeface="Arial" panose="020B0604020202020204" pitchFamily="34" charset="0"/>
              <a:buChar char="•"/>
            </a:pPr>
            <a:endParaRPr lang="en-US" sz="1700" dirty="0"/>
          </a:p>
          <a:p>
            <a:pPr>
              <a:lnSpc>
                <a:spcPct val="90000"/>
              </a:lnSpc>
              <a:spcAft>
                <a:spcPts val="600"/>
              </a:spcAft>
            </a:pPr>
            <a:r>
              <a:rPr lang="en-US" sz="1700" b="1" dirty="0"/>
              <a:t>Electronics</a:t>
            </a:r>
          </a:p>
          <a:p>
            <a:pPr indent="-228600">
              <a:lnSpc>
                <a:spcPct val="90000"/>
              </a:lnSpc>
              <a:spcAft>
                <a:spcPts val="600"/>
              </a:spcAft>
              <a:buFont typeface="Arial" panose="020B0604020202020204" pitchFamily="34" charset="0"/>
              <a:buChar char="•"/>
            </a:pPr>
            <a:r>
              <a:rPr lang="en-US" sz="1700" dirty="0"/>
              <a:t>learned that speed is quite limited</a:t>
            </a:r>
          </a:p>
          <a:p>
            <a:pPr indent="-228600">
              <a:lnSpc>
                <a:spcPct val="90000"/>
              </a:lnSpc>
              <a:spcAft>
                <a:spcPts val="600"/>
              </a:spcAft>
              <a:buFont typeface="Arial" panose="020B0604020202020204" pitchFamily="34" charset="0"/>
              <a:buChar char="•"/>
            </a:pPr>
            <a:r>
              <a:rPr lang="en-US" sz="1700" dirty="0"/>
              <a:t>Very jerky and loud at 200 </a:t>
            </a:r>
            <a:r>
              <a:rPr lang="en-US" sz="1700" dirty="0" err="1"/>
              <a:t>microsteps</a:t>
            </a:r>
            <a:endParaRPr lang="en-US" sz="1700" dirty="0"/>
          </a:p>
          <a:p>
            <a:pPr indent="-228600">
              <a:lnSpc>
                <a:spcPct val="90000"/>
              </a:lnSpc>
              <a:spcAft>
                <a:spcPts val="600"/>
              </a:spcAft>
              <a:buFont typeface="Arial" panose="020B0604020202020204" pitchFamily="34" charset="0"/>
              <a:buChar char="•"/>
            </a:pPr>
            <a:r>
              <a:rPr lang="en-US" sz="1700" dirty="0"/>
              <a:t>Frequency of missed steps Is proportional to increase speed and increase </a:t>
            </a:r>
            <a:r>
              <a:rPr lang="en-US" sz="1700" dirty="0" err="1"/>
              <a:t>microsteps</a:t>
            </a:r>
            <a:endParaRPr lang="en-US" sz="1700" dirty="0"/>
          </a:p>
          <a:p>
            <a:pPr indent="-228600">
              <a:lnSpc>
                <a:spcPct val="90000"/>
              </a:lnSpc>
              <a:spcAft>
                <a:spcPts val="600"/>
              </a:spcAft>
              <a:buFont typeface="Arial" panose="020B0604020202020204" pitchFamily="34" charset="0"/>
              <a:buChar char="•"/>
            </a:pPr>
            <a:endParaRPr lang="en-US" sz="1700" dirty="0"/>
          </a:p>
          <a:p>
            <a:pPr>
              <a:lnSpc>
                <a:spcPct val="90000"/>
              </a:lnSpc>
              <a:spcAft>
                <a:spcPts val="600"/>
              </a:spcAft>
            </a:pPr>
            <a:r>
              <a:rPr lang="en-US" sz="1700" b="1" dirty="0"/>
              <a:t>Next steps</a:t>
            </a:r>
            <a:endParaRPr lang="en-US" sz="1700" dirty="0"/>
          </a:p>
          <a:p>
            <a:pPr marL="285750" indent="-285750">
              <a:lnSpc>
                <a:spcPct val="90000"/>
              </a:lnSpc>
              <a:spcAft>
                <a:spcPts val="600"/>
              </a:spcAft>
              <a:buFont typeface="Arial" panose="020B0604020202020204" pitchFamily="34" charset="0"/>
              <a:buChar char="•"/>
            </a:pPr>
            <a:r>
              <a:rPr lang="en-US" sz="1700" dirty="0"/>
              <a:t>Create a test code which takes position and speed as input</a:t>
            </a:r>
          </a:p>
          <a:p>
            <a:pPr marL="285750" indent="-285750">
              <a:lnSpc>
                <a:spcPct val="90000"/>
              </a:lnSpc>
              <a:spcAft>
                <a:spcPts val="600"/>
              </a:spcAft>
              <a:buFont typeface="Arial" panose="020B0604020202020204" pitchFamily="34" charset="0"/>
              <a:buChar char="•"/>
            </a:pPr>
            <a:r>
              <a:rPr lang="en-US" sz="1700" dirty="0"/>
              <a:t>Need to redesign gearbox for smoother operation and reduce points of friction</a:t>
            </a:r>
          </a:p>
          <a:p>
            <a:pPr marL="285750" indent="-285750">
              <a:lnSpc>
                <a:spcPct val="90000"/>
              </a:lnSpc>
              <a:spcAft>
                <a:spcPts val="600"/>
              </a:spcAft>
              <a:buFont typeface="Arial" panose="020B0604020202020204" pitchFamily="34" charset="0"/>
              <a:buChar char="•"/>
            </a:pPr>
            <a:r>
              <a:rPr lang="en-US" sz="1700" dirty="0">
                <a:solidFill>
                  <a:schemeClr val="accent6"/>
                </a:solidFill>
              </a:rPr>
              <a:t>Implement Acceleration function </a:t>
            </a:r>
          </a:p>
          <a:p>
            <a:pPr marL="285750" indent="-285750">
              <a:lnSpc>
                <a:spcPct val="90000"/>
              </a:lnSpc>
              <a:spcAft>
                <a:spcPts val="600"/>
              </a:spcAft>
              <a:buFont typeface="Arial" panose="020B0604020202020204" pitchFamily="34" charset="0"/>
              <a:buChar char="•"/>
            </a:pPr>
            <a:r>
              <a:rPr lang="en-US" sz="1700" dirty="0"/>
              <a:t>Measure stepper motor accuracy</a:t>
            </a:r>
          </a:p>
          <a:p>
            <a:pPr marL="285750" indent="-285750">
              <a:lnSpc>
                <a:spcPct val="90000"/>
              </a:lnSpc>
              <a:spcAft>
                <a:spcPts val="600"/>
              </a:spcAft>
              <a:buFont typeface="Arial" panose="020B0604020202020204" pitchFamily="34" charset="0"/>
              <a:buChar char="•"/>
            </a:pPr>
            <a:r>
              <a:rPr lang="en-US" sz="1700" dirty="0"/>
              <a:t>Measure gearbox accuracy</a:t>
            </a:r>
          </a:p>
        </p:txBody>
      </p:sp>
      <p:sp>
        <p:nvSpPr>
          <p:cNvPr id="6" name="TextBox 5">
            <a:extLst>
              <a:ext uri="{FF2B5EF4-FFF2-40B4-BE49-F238E27FC236}">
                <a16:creationId xmlns:a16="http://schemas.microsoft.com/office/drawing/2014/main" id="{5D45CEB6-770B-23EE-B360-4715C57CDCBD}"/>
              </a:ext>
            </a:extLst>
          </p:cNvPr>
          <p:cNvSpPr txBox="1"/>
          <p:nvPr/>
        </p:nvSpPr>
        <p:spPr>
          <a:xfrm>
            <a:off x="1439694" y="6070057"/>
            <a:ext cx="4221801" cy="646331"/>
          </a:xfrm>
          <a:prstGeom prst="rect">
            <a:avLst/>
          </a:prstGeom>
          <a:noFill/>
        </p:spPr>
        <p:txBody>
          <a:bodyPr wrap="square" rtlCol="0">
            <a:spAutoFit/>
          </a:bodyPr>
          <a:lstStyle/>
          <a:p>
            <a:r>
              <a:rPr lang="en-US" dirty="0">
                <a:solidFill>
                  <a:schemeClr val="bg1"/>
                </a:solidFill>
              </a:rPr>
              <a:t>Kinda getting close @200steps/rev and 400microsecond delay</a:t>
            </a:r>
          </a:p>
        </p:txBody>
      </p:sp>
      <p:sp>
        <p:nvSpPr>
          <p:cNvPr id="2" name="TextBox 1">
            <a:extLst>
              <a:ext uri="{FF2B5EF4-FFF2-40B4-BE49-F238E27FC236}">
                <a16:creationId xmlns:a16="http://schemas.microsoft.com/office/drawing/2014/main" id="{30E24D11-BE2F-0301-9017-3FA2483E46C0}"/>
              </a:ext>
            </a:extLst>
          </p:cNvPr>
          <p:cNvSpPr txBox="1"/>
          <p:nvPr/>
        </p:nvSpPr>
        <p:spPr>
          <a:xfrm>
            <a:off x="175590" y="141402"/>
            <a:ext cx="2822134" cy="369332"/>
          </a:xfrm>
          <a:prstGeom prst="rect">
            <a:avLst/>
          </a:prstGeom>
          <a:noFill/>
        </p:spPr>
        <p:txBody>
          <a:bodyPr wrap="square" rtlCol="0">
            <a:spAutoFit/>
          </a:bodyPr>
          <a:lstStyle/>
          <a:p>
            <a:r>
              <a:rPr lang="en-US" b="1" dirty="0"/>
              <a:t>1</a:t>
            </a:r>
            <a:r>
              <a:rPr lang="en-US" b="1" baseline="30000" dirty="0"/>
              <a:t>st</a:t>
            </a:r>
            <a:r>
              <a:rPr lang="en-US" b="1" dirty="0"/>
              <a:t> Hardware Trial</a:t>
            </a:r>
          </a:p>
        </p:txBody>
      </p:sp>
      <p:pic>
        <p:nvPicPr>
          <p:cNvPr id="7" name="MicrosoftTeams-video (22)">
            <a:hlinkClick r:id="" action="ppaction://media"/>
            <a:extLst>
              <a:ext uri="{FF2B5EF4-FFF2-40B4-BE49-F238E27FC236}">
                <a16:creationId xmlns:a16="http://schemas.microsoft.com/office/drawing/2014/main" id="{0F1D5C75-9CCB-DE14-4A0F-5343652F675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56323" y="210732"/>
            <a:ext cx="3620551" cy="6436535"/>
          </a:xfrm>
          <a:prstGeom prst="rect">
            <a:avLst/>
          </a:prstGeom>
        </p:spPr>
      </p:pic>
    </p:spTree>
    <p:extLst>
      <p:ext uri="{BB962C8B-B14F-4D97-AF65-F5344CB8AC3E}">
        <p14:creationId xmlns:p14="http://schemas.microsoft.com/office/powerpoint/2010/main" val="200397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06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B80A7B-0432-DC08-FAE1-E448AA3F5B34}"/>
              </a:ext>
            </a:extLst>
          </p:cNvPr>
          <p:cNvSpPr txBox="1"/>
          <p:nvPr/>
        </p:nvSpPr>
        <p:spPr>
          <a:xfrm>
            <a:off x="204056" y="111165"/>
            <a:ext cx="3282856" cy="646331"/>
          </a:xfrm>
          <a:prstGeom prst="rect">
            <a:avLst/>
          </a:prstGeom>
          <a:noFill/>
        </p:spPr>
        <p:txBody>
          <a:bodyPr wrap="square" rtlCol="0">
            <a:spAutoFit/>
          </a:bodyPr>
          <a:lstStyle/>
          <a:p>
            <a:r>
              <a:rPr lang="en-US" b="1" dirty="0"/>
              <a:t>Positional Accuracy Testing</a:t>
            </a:r>
          </a:p>
          <a:p>
            <a:endParaRPr lang="en-US" b="1" dirty="0"/>
          </a:p>
        </p:txBody>
      </p:sp>
      <p:sp>
        <p:nvSpPr>
          <p:cNvPr id="5" name="TextBox 4">
            <a:extLst>
              <a:ext uri="{FF2B5EF4-FFF2-40B4-BE49-F238E27FC236}">
                <a16:creationId xmlns:a16="http://schemas.microsoft.com/office/drawing/2014/main" id="{D1005219-7E54-457F-6578-F51A3DCF4860}"/>
              </a:ext>
            </a:extLst>
          </p:cNvPr>
          <p:cNvSpPr txBox="1"/>
          <p:nvPr/>
        </p:nvSpPr>
        <p:spPr>
          <a:xfrm>
            <a:off x="204056" y="757496"/>
            <a:ext cx="3194304"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Test #1 – Incremental Accuracy at 1 deg steps</a:t>
            </a:r>
          </a:p>
          <a:p>
            <a:pPr marL="342900" indent="-342900">
              <a:buAutoNum type="arabicPeriod"/>
            </a:pPr>
            <a:endParaRPr lang="en-US" sz="1400" dirty="0"/>
          </a:p>
          <a:p>
            <a:pPr marL="342900" indent="-342900">
              <a:buAutoNum type="arabicPeriod"/>
            </a:pPr>
            <a:r>
              <a:rPr lang="en-US" sz="1400" dirty="0"/>
              <a:t>Measure distance between system and whiteboard.</a:t>
            </a:r>
          </a:p>
          <a:p>
            <a:pPr marL="342900" indent="-342900">
              <a:buAutoNum type="arabicPeriod"/>
            </a:pPr>
            <a:r>
              <a:rPr lang="en-US" sz="1400" dirty="0"/>
              <a:t>Determine correlation between change in angle and change in position (1 deg = 0.08m)</a:t>
            </a:r>
          </a:p>
          <a:p>
            <a:pPr marL="342900" indent="-342900">
              <a:buAutoNum type="arabicPeriod"/>
            </a:pPr>
            <a:r>
              <a:rPr lang="en-US" sz="1400" dirty="0"/>
              <a:t>Set system at position (0,0)</a:t>
            </a:r>
          </a:p>
          <a:p>
            <a:pPr marL="342900" indent="-342900">
              <a:buAutoNum type="arabicPeriod"/>
            </a:pPr>
            <a:r>
              <a:rPr lang="en-US" sz="1400" dirty="0"/>
              <a:t>Provide terminal command to rotate -1 deg in X</a:t>
            </a:r>
          </a:p>
          <a:p>
            <a:pPr marL="342900" indent="-342900">
              <a:buAutoNum type="arabicPeriod"/>
            </a:pPr>
            <a:r>
              <a:rPr lang="en-US" sz="1400" dirty="0"/>
              <a:t>Measure distance between laser and point</a:t>
            </a:r>
          </a:p>
          <a:p>
            <a:pPr marL="342900" indent="-342900">
              <a:buAutoNum type="arabicPeriod"/>
            </a:pPr>
            <a:r>
              <a:rPr lang="en-US" sz="1400" dirty="0"/>
              <a:t>Repeat steps 4-5 till -7 </a:t>
            </a:r>
          </a:p>
          <a:p>
            <a:pPr marL="342900" indent="-342900">
              <a:buAutoNum type="arabicPeriod"/>
            </a:pPr>
            <a:r>
              <a:rPr lang="en-US" sz="1400" dirty="0"/>
              <a:t>Manually reset to (0,0) </a:t>
            </a:r>
          </a:p>
          <a:p>
            <a:pPr marL="342900" indent="-342900">
              <a:buAutoNum type="arabicPeriod"/>
            </a:pPr>
            <a:r>
              <a:rPr lang="en-US" sz="1400" dirty="0"/>
              <a:t>Repeat steps 4 -5 till +7</a:t>
            </a:r>
          </a:p>
        </p:txBody>
      </p:sp>
      <p:sp>
        <p:nvSpPr>
          <p:cNvPr id="6" name="TextBox 5">
            <a:extLst>
              <a:ext uri="{FF2B5EF4-FFF2-40B4-BE49-F238E27FC236}">
                <a16:creationId xmlns:a16="http://schemas.microsoft.com/office/drawing/2014/main" id="{84B1ACCF-59FA-9D2A-3E81-0FF0AC96CF28}"/>
              </a:ext>
            </a:extLst>
          </p:cNvPr>
          <p:cNvSpPr txBox="1"/>
          <p:nvPr/>
        </p:nvSpPr>
        <p:spPr>
          <a:xfrm>
            <a:off x="204056" y="4395787"/>
            <a:ext cx="3194304"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Test #2 – Absolute Accuracy </a:t>
            </a:r>
          </a:p>
          <a:p>
            <a:endParaRPr lang="en-US" sz="1400" dirty="0"/>
          </a:p>
          <a:p>
            <a:pPr marL="342900" indent="-342900">
              <a:buAutoNum type="arabicPeriod"/>
            </a:pPr>
            <a:r>
              <a:rPr lang="en-US" sz="1400" dirty="0"/>
              <a:t>Start at (0,0)</a:t>
            </a:r>
          </a:p>
          <a:p>
            <a:pPr marL="342900" indent="-342900">
              <a:buAutoNum type="arabicPeriod"/>
            </a:pPr>
            <a:r>
              <a:rPr lang="en-US" sz="1400" dirty="0"/>
              <a:t>Command to -7</a:t>
            </a:r>
          </a:p>
          <a:p>
            <a:pPr marL="342900" indent="-342900">
              <a:buAutoNum type="arabicPeriod"/>
            </a:pPr>
            <a:r>
              <a:rPr lang="en-US" sz="1400" dirty="0"/>
              <a:t>Measure distance and then manually reset to (0,0)</a:t>
            </a:r>
          </a:p>
          <a:p>
            <a:pPr marL="342900" indent="-342900">
              <a:buAutoNum type="arabicPeriod"/>
            </a:pPr>
            <a:r>
              <a:rPr lang="en-US" sz="1400" dirty="0"/>
              <a:t>Command to -6</a:t>
            </a:r>
          </a:p>
          <a:p>
            <a:pPr marL="342900" indent="-342900">
              <a:buAutoNum type="arabicPeriod"/>
            </a:pPr>
            <a:r>
              <a:rPr lang="en-US" sz="1400" dirty="0"/>
              <a:t>Repeat for -7 to +7 (reset in between each position command)</a:t>
            </a:r>
          </a:p>
        </p:txBody>
      </p:sp>
      <p:graphicFrame>
        <p:nvGraphicFramePr>
          <p:cNvPr id="12" name="Chart 11">
            <a:extLst>
              <a:ext uri="{FF2B5EF4-FFF2-40B4-BE49-F238E27FC236}">
                <a16:creationId xmlns:a16="http://schemas.microsoft.com/office/drawing/2014/main" id="{8BC7BC16-81F6-069F-C3B2-DD054BCC4878}"/>
              </a:ext>
            </a:extLst>
          </p:cNvPr>
          <p:cNvGraphicFramePr>
            <a:graphicFrameLocks/>
          </p:cNvGraphicFramePr>
          <p:nvPr>
            <p:extLst>
              <p:ext uri="{D42A27DB-BD31-4B8C-83A1-F6EECF244321}">
                <p14:modId xmlns:p14="http://schemas.microsoft.com/office/powerpoint/2010/main" val="334645914"/>
              </p:ext>
            </p:extLst>
          </p:nvPr>
        </p:nvGraphicFramePr>
        <p:xfrm>
          <a:off x="3857665" y="328242"/>
          <a:ext cx="5242125" cy="2848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Table 12">
            <a:extLst>
              <a:ext uri="{FF2B5EF4-FFF2-40B4-BE49-F238E27FC236}">
                <a16:creationId xmlns:a16="http://schemas.microsoft.com/office/drawing/2014/main" id="{FC5EE94A-5ADB-877D-A106-9FEE0E0966C8}"/>
              </a:ext>
            </a:extLst>
          </p:cNvPr>
          <p:cNvGraphicFramePr>
            <a:graphicFrameLocks noGrp="1"/>
          </p:cNvGraphicFramePr>
          <p:nvPr>
            <p:extLst>
              <p:ext uri="{D42A27DB-BD31-4B8C-83A1-F6EECF244321}">
                <p14:modId xmlns:p14="http://schemas.microsoft.com/office/powerpoint/2010/main" val="2938464599"/>
              </p:ext>
            </p:extLst>
          </p:nvPr>
        </p:nvGraphicFramePr>
        <p:xfrm>
          <a:off x="9381992" y="111165"/>
          <a:ext cx="2725352" cy="1508760"/>
        </p:xfrm>
        <a:graphic>
          <a:graphicData uri="http://schemas.openxmlformats.org/drawingml/2006/table">
            <a:tbl>
              <a:tblPr firstRow="1" bandRow="1">
                <a:tableStyleId>{5C22544A-7EE6-4342-B048-85BDC9FD1C3A}</a:tableStyleId>
              </a:tblPr>
              <a:tblGrid>
                <a:gridCol w="1362676">
                  <a:extLst>
                    <a:ext uri="{9D8B030D-6E8A-4147-A177-3AD203B41FA5}">
                      <a16:colId xmlns:a16="http://schemas.microsoft.com/office/drawing/2014/main" val="2037758590"/>
                    </a:ext>
                  </a:extLst>
                </a:gridCol>
                <a:gridCol w="1362676">
                  <a:extLst>
                    <a:ext uri="{9D8B030D-6E8A-4147-A177-3AD203B41FA5}">
                      <a16:colId xmlns:a16="http://schemas.microsoft.com/office/drawing/2014/main" val="3936220324"/>
                    </a:ext>
                  </a:extLst>
                </a:gridCol>
              </a:tblGrid>
              <a:tr h="228097">
                <a:tc>
                  <a:txBody>
                    <a:bodyPr/>
                    <a:lstStyle/>
                    <a:p>
                      <a:r>
                        <a:rPr lang="en-US" sz="1050" dirty="0"/>
                        <a:t>Test Parameters</a:t>
                      </a:r>
                    </a:p>
                  </a:txBody>
                  <a:tcPr/>
                </a:tc>
                <a:tc>
                  <a:txBody>
                    <a:bodyPr/>
                    <a:lstStyle/>
                    <a:p>
                      <a:endParaRPr lang="en-US" sz="1050" dirty="0"/>
                    </a:p>
                  </a:txBody>
                  <a:tcPr/>
                </a:tc>
                <a:extLst>
                  <a:ext uri="{0D108BD9-81ED-4DB2-BD59-A6C34878D82A}">
                    <a16:rowId xmlns:a16="http://schemas.microsoft.com/office/drawing/2014/main" val="297473285"/>
                  </a:ext>
                </a:extLst>
              </a:tr>
              <a:tr h="228097">
                <a:tc>
                  <a:txBody>
                    <a:bodyPr/>
                    <a:lstStyle/>
                    <a:p>
                      <a:r>
                        <a:rPr lang="en-US" sz="1050" dirty="0"/>
                        <a:t>Materials</a:t>
                      </a:r>
                    </a:p>
                  </a:txBody>
                  <a:tcPr/>
                </a:tc>
                <a:tc>
                  <a:txBody>
                    <a:bodyPr/>
                    <a:lstStyle/>
                    <a:p>
                      <a:r>
                        <a:rPr lang="en-US" sz="1050" dirty="0"/>
                        <a:t>PLA to PLA Interface</a:t>
                      </a:r>
                    </a:p>
                  </a:txBody>
                  <a:tcPr/>
                </a:tc>
                <a:extLst>
                  <a:ext uri="{0D108BD9-81ED-4DB2-BD59-A6C34878D82A}">
                    <a16:rowId xmlns:a16="http://schemas.microsoft.com/office/drawing/2014/main" val="2383320547"/>
                  </a:ext>
                </a:extLst>
              </a:tr>
              <a:tr h="228097">
                <a:tc>
                  <a:txBody>
                    <a:bodyPr/>
                    <a:lstStyle/>
                    <a:p>
                      <a:r>
                        <a:rPr lang="en-US" sz="1050" dirty="0" err="1"/>
                        <a:t>Microsteps</a:t>
                      </a:r>
                      <a:endParaRPr lang="en-US" sz="1050" dirty="0"/>
                    </a:p>
                  </a:txBody>
                  <a:tcPr/>
                </a:tc>
                <a:tc>
                  <a:txBody>
                    <a:bodyPr/>
                    <a:lstStyle/>
                    <a:p>
                      <a:r>
                        <a:rPr lang="en-US" sz="1050" dirty="0"/>
                        <a:t>800</a:t>
                      </a:r>
                    </a:p>
                  </a:txBody>
                  <a:tcPr/>
                </a:tc>
                <a:extLst>
                  <a:ext uri="{0D108BD9-81ED-4DB2-BD59-A6C34878D82A}">
                    <a16:rowId xmlns:a16="http://schemas.microsoft.com/office/drawing/2014/main" val="801100673"/>
                  </a:ext>
                </a:extLst>
              </a:tr>
              <a:tr h="228097">
                <a:tc>
                  <a:txBody>
                    <a:bodyPr/>
                    <a:lstStyle/>
                    <a:p>
                      <a:r>
                        <a:rPr lang="en-US" sz="1050" dirty="0"/>
                        <a:t>Power </a:t>
                      </a:r>
                    </a:p>
                  </a:txBody>
                  <a:tcPr/>
                </a:tc>
                <a:tc>
                  <a:txBody>
                    <a:bodyPr/>
                    <a:lstStyle/>
                    <a:p>
                      <a:r>
                        <a:rPr lang="en-US" sz="1050" dirty="0"/>
                        <a:t>12V, 2.8A</a:t>
                      </a:r>
                    </a:p>
                  </a:txBody>
                  <a:tcPr/>
                </a:tc>
                <a:extLst>
                  <a:ext uri="{0D108BD9-81ED-4DB2-BD59-A6C34878D82A}">
                    <a16:rowId xmlns:a16="http://schemas.microsoft.com/office/drawing/2014/main" val="3689659796"/>
                  </a:ext>
                </a:extLst>
              </a:tr>
              <a:tr h="228097">
                <a:tc>
                  <a:txBody>
                    <a:bodyPr/>
                    <a:lstStyle/>
                    <a:p>
                      <a:r>
                        <a:rPr lang="en-US" sz="1050" dirty="0"/>
                        <a:t>Speed</a:t>
                      </a:r>
                    </a:p>
                  </a:txBody>
                  <a:tcPr/>
                </a:tc>
                <a:tc>
                  <a:txBody>
                    <a:bodyPr/>
                    <a:lstStyle/>
                    <a:p>
                      <a:r>
                        <a:rPr lang="en-US" sz="1050" dirty="0"/>
                        <a:t>400 microseconds</a:t>
                      </a:r>
                    </a:p>
                  </a:txBody>
                  <a:tcPr/>
                </a:tc>
                <a:extLst>
                  <a:ext uri="{0D108BD9-81ED-4DB2-BD59-A6C34878D82A}">
                    <a16:rowId xmlns:a16="http://schemas.microsoft.com/office/drawing/2014/main" val="479106873"/>
                  </a:ext>
                </a:extLst>
              </a:tr>
              <a:tr h="228097">
                <a:tc>
                  <a:txBody>
                    <a:bodyPr/>
                    <a:lstStyle/>
                    <a:p>
                      <a:r>
                        <a:rPr lang="en-US" sz="1050" dirty="0"/>
                        <a:t>Accel</a:t>
                      </a:r>
                    </a:p>
                  </a:txBody>
                  <a:tcPr/>
                </a:tc>
                <a:tc>
                  <a:txBody>
                    <a:bodyPr/>
                    <a:lstStyle/>
                    <a:p>
                      <a:r>
                        <a:rPr lang="en-US" sz="1050" dirty="0"/>
                        <a:t>0.3*Speed </a:t>
                      </a:r>
                    </a:p>
                  </a:txBody>
                  <a:tcPr/>
                </a:tc>
                <a:extLst>
                  <a:ext uri="{0D108BD9-81ED-4DB2-BD59-A6C34878D82A}">
                    <a16:rowId xmlns:a16="http://schemas.microsoft.com/office/drawing/2014/main" val="1635169384"/>
                  </a:ext>
                </a:extLst>
              </a:tr>
            </a:tbl>
          </a:graphicData>
        </a:graphic>
      </p:graphicFrame>
      <p:graphicFrame>
        <p:nvGraphicFramePr>
          <p:cNvPr id="14" name="Chart 13">
            <a:extLst>
              <a:ext uri="{FF2B5EF4-FFF2-40B4-BE49-F238E27FC236}">
                <a16:creationId xmlns:a16="http://schemas.microsoft.com/office/drawing/2014/main" id="{94ED1A7A-CD59-110E-567B-33CE08DBD3F9}"/>
              </a:ext>
            </a:extLst>
          </p:cNvPr>
          <p:cNvGraphicFramePr>
            <a:graphicFrameLocks/>
          </p:cNvGraphicFramePr>
          <p:nvPr>
            <p:extLst>
              <p:ext uri="{D42A27DB-BD31-4B8C-83A1-F6EECF244321}">
                <p14:modId xmlns:p14="http://schemas.microsoft.com/office/powerpoint/2010/main" val="305870173"/>
              </p:ext>
            </p:extLst>
          </p:nvPr>
        </p:nvGraphicFramePr>
        <p:xfrm>
          <a:off x="3857665" y="3306840"/>
          <a:ext cx="5242125" cy="3442751"/>
        </p:xfrm>
        <a:graphic>
          <a:graphicData uri="http://schemas.openxmlformats.org/drawingml/2006/chart">
            <c:chart xmlns:c="http://schemas.openxmlformats.org/drawingml/2006/chart" xmlns:r="http://schemas.openxmlformats.org/officeDocument/2006/relationships" r:id="rId6"/>
          </a:graphicData>
        </a:graphic>
      </p:graphicFrame>
      <p:pic>
        <p:nvPicPr>
          <p:cNvPr id="18" name="MicrosoftTeams-video (21)">
            <a:hlinkClick r:id="" action="ppaction://media"/>
            <a:extLst>
              <a:ext uri="{FF2B5EF4-FFF2-40B4-BE49-F238E27FC236}">
                <a16:creationId xmlns:a16="http://schemas.microsoft.com/office/drawing/2014/main" id="{ED60E7A4-3282-8957-003B-F268BDFB332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rot="16200000">
            <a:off x="9580872" y="1385931"/>
            <a:ext cx="2088793" cy="2725351"/>
          </a:xfrm>
          <a:prstGeom prst="rect">
            <a:avLst/>
          </a:prstGeom>
        </p:spPr>
      </p:pic>
      <p:pic>
        <p:nvPicPr>
          <p:cNvPr id="2050" name="Picture 2">
            <a:extLst>
              <a:ext uri="{FF2B5EF4-FFF2-40B4-BE49-F238E27FC236}">
                <a16:creationId xmlns:a16="http://schemas.microsoft.com/office/drawing/2014/main" id="{53C5CC29-B2B2-34BB-C03F-82DF21BCF2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47552" y="4215294"/>
            <a:ext cx="1794232" cy="239230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B9FCBC0F-B7D9-7EAC-2A1E-EF047DA9FCAE}"/>
              </a:ext>
            </a:extLst>
          </p:cNvPr>
          <p:cNvSpPr txBox="1"/>
          <p:nvPr/>
        </p:nvSpPr>
        <p:spPr>
          <a:xfrm>
            <a:off x="3857665" y="618996"/>
            <a:ext cx="2785506" cy="276999"/>
          </a:xfrm>
          <a:prstGeom prst="rect">
            <a:avLst/>
          </a:prstGeom>
          <a:noFill/>
        </p:spPr>
        <p:txBody>
          <a:bodyPr wrap="square" rtlCol="0">
            <a:spAutoFit/>
          </a:bodyPr>
          <a:lstStyle/>
          <a:p>
            <a:r>
              <a:rPr lang="en-US" sz="1200" b="1" dirty="0"/>
              <a:t>1 deg = 80mm @ 4.3M</a:t>
            </a:r>
          </a:p>
        </p:txBody>
      </p:sp>
    </p:spTree>
    <p:extLst>
      <p:ext uri="{BB962C8B-B14F-4D97-AF65-F5344CB8AC3E}">
        <p14:creationId xmlns:p14="http://schemas.microsoft.com/office/powerpoint/2010/main" val="173512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0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570037B-53CA-7752-1435-88603914C7BC}"/>
              </a:ext>
            </a:extLst>
          </p:cNvPr>
          <p:cNvPicPr>
            <a:picLocks noChangeAspect="1"/>
          </p:cNvPicPr>
          <p:nvPr/>
        </p:nvPicPr>
        <p:blipFill>
          <a:blip r:embed="rId3"/>
          <a:stretch>
            <a:fillRect/>
          </a:stretch>
        </p:blipFill>
        <p:spPr>
          <a:xfrm>
            <a:off x="7081603" y="3789005"/>
            <a:ext cx="4964093" cy="2893100"/>
          </a:xfrm>
          <a:prstGeom prst="rect">
            <a:avLst/>
          </a:prstGeom>
        </p:spPr>
      </p:pic>
      <p:sp>
        <p:nvSpPr>
          <p:cNvPr id="2" name="TextBox 1">
            <a:extLst>
              <a:ext uri="{FF2B5EF4-FFF2-40B4-BE49-F238E27FC236}">
                <a16:creationId xmlns:a16="http://schemas.microsoft.com/office/drawing/2014/main" id="{0DD495D6-978B-AAFD-E569-763B4085E67E}"/>
              </a:ext>
            </a:extLst>
          </p:cNvPr>
          <p:cNvSpPr txBox="1"/>
          <p:nvPr/>
        </p:nvSpPr>
        <p:spPr>
          <a:xfrm>
            <a:off x="146304" y="67893"/>
            <a:ext cx="4415968" cy="523220"/>
          </a:xfrm>
          <a:prstGeom prst="rect">
            <a:avLst/>
          </a:prstGeom>
          <a:noFill/>
        </p:spPr>
        <p:txBody>
          <a:bodyPr wrap="square" rtlCol="0">
            <a:spAutoFit/>
          </a:bodyPr>
          <a:lstStyle/>
          <a:p>
            <a:r>
              <a:rPr lang="en-US" sz="2800" b="1" dirty="0"/>
              <a:t>V2 Design Improvements</a:t>
            </a:r>
          </a:p>
        </p:txBody>
      </p:sp>
      <p:sp>
        <p:nvSpPr>
          <p:cNvPr id="3" name="TextBox 2">
            <a:extLst>
              <a:ext uri="{FF2B5EF4-FFF2-40B4-BE49-F238E27FC236}">
                <a16:creationId xmlns:a16="http://schemas.microsoft.com/office/drawing/2014/main" id="{8595AD63-0488-D951-DDD0-B7519B2A0DA2}"/>
              </a:ext>
            </a:extLst>
          </p:cNvPr>
          <p:cNvSpPr txBox="1"/>
          <p:nvPr/>
        </p:nvSpPr>
        <p:spPr>
          <a:xfrm>
            <a:off x="146304" y="742861"/>
            <a:ext cx="3419856" cy="369332"/>
          </a:xfrm>
          <a:prstGeom prst="rect">
            <a:avLst/>
          </a:prstGeom>
          <a:noFill/>
          <a:ln>
            <a:solidFill>
              <a:schemeClr val="bg2">
                <a:lumMod val="10000"/>
              </a:schemeClr>
            </a:solidFill>
          </a:ln>
        </p:spPr>
        <p:txBody>
          <a:bodyPr wrap="square" rtlCol="0">
            <a:spAutoFit/>
          </a:bodyPr>
          <a:lstStyle/>
          <a:p>
            <a:r>
              <a:rPr lang="en-US" b="1" dirty="0"/>
              <a:t>Corrected Torque Calc</a:t>
            </a:r>
          </a:p>
        </p:txBody>
      </p:sp>
      <p:pic>
        <p:nvPicPr>
          <p:cNvPr id="1026" name="Picture 2">
            <a:extLst>
              <a:ext uri="{FF2B5EF4-FFF2-40B4-BE49-F238E27FC236}">
                <a16:creationId xmlns:a16="http://schemas.microsoft.com/office/drawing/2014/main" id="{8921A097-E3DB-B413-7288-2EB1D7EAEC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304" y="1112193"/>
            <a:ext cx="3419856" cy="52247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8B4D39B-7368-10CF-7943-9BDCBF7D555C}"/>
              </a:ext>
            </a:extLst>
          </p:cNvPr>
          <p:cNvSpPr txBox="1"/>
          <p:nvPr/>
        </p:nvSpPr>
        <p:spPr>
          <a:xfrm>
            <a:off x="4034845" y="804792"/>
            <a:ext cx="2870421" cy="28931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b="1" dirty="0"/>
              <a:t>Mechanical Losses</a:t>
            </a:r>
          </a:p>
          <a:p>
            <a:pPr marL="342900" indent="-342900">
              <a:buAutoNum type="arabicPeriod"/>
            </a:pPr>
            <a:r>
              <a:rPr lang="en-US" sz="1400" dirty="0"/>
              <a:t>Sliding friction between eccentric shaft and gearbox (not shown)</a:t>
            </a:r>
          </a:p>
          <a:p>
            <a:pPr marL="342900" indent="-342900">
              <a:buAutoNum type="arabicPeriod"/>
            </a:pPr>
            <a:r>
              <a:rPr lang="en-US" sz="1400" dirty="0"/>
              <a:t>Bearing friction between cam and gear</a:t>
            </a:r>
          </a:p>
          <a:p>
            <a:pPr marL="342900" indent="-342900">
              <a:buAutoNum type="arabicPeriod"/>
            </a:pPr>
            <a:r>
              <a:rPr lang="en-US" sz="1400" dirty="0"/>
              <a:t>Rolling + sliding friction between disk gear and ring gear</a:t>
            </a:r>
          </a:p>
          <a:p>
            <a:pPr marL="342900" indent="-342900">
              <a:buAutoNum type="arabicPeriod"/>
            </a:pPr>
            <a:r>
              <a:rPr lang="en-US" sz="1400" dirty="0"/>
              <a:t>Sliding friction between output pins and output holes on disk gear</a:t>
            </a:r>
          </a:p>
          <a:p>
            <a:pPr marL="342900" indent="-342900">
              <a:buAutoNum type="arabicPeriod"/>
            </a:pPr>
            <a:endParaRPr lang="en-US" sz="1400" dirty="0"/>
          </a:p>
        </p:txBody>
      </p:sp>
      <p:sp>
        <p:nvSpPr>
          <p:cNvPr id="7" name="TextBox 6">
            <a:extLst>
              <a:ext uri="{FF2B5EF4-FFF2-40B4-BE49-F238E27FC236}">
                <a16:creationId xmlns:a16="http://schemas.microsoft.com/office/drawing/2014/main" id="{C159C84B-84D6-21ED-D65A-C86D8BCAA971}"/>
              </a:ext>
            </a:extLst>
          </p:cNvPr>
          <p:cNvSpPr txBox="1"/>
          <p:nvPr/>
        </p:nvSpPr>
        <p:spPr>
          <a:xfrm>
            <a:off x="4034846" y="4539325"/>
            <a:ext cx="2870420" cy="18250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b="1" dirty="0"/>
              <a:t>Hardware Improvements</a:t>
            </a:r>
          </a:p>
          <a:p>
            <a:pPr marL="342900" indent="-342900">
              <a:buAutoNum type="arabicPeriod"/>
            </a:pPr>
            <a:r>
              <a:rPr lang="en-US" sz="1400" dirty="0"/>
              <a:t>Reducing friction in gearbox will minimize missteps from motor </a:t>
            </a:r>
          </a:p>
          <a:p>
            <a:pPr marL="342900" indent="-342900">
              <a:buAutoNum type="arabicPeriod"/>
            </a:pPr>
            <a:r>
              <a:rPr lang="en-US" sz="1400" dirty="0"/>
              <a:t>Tune micro step &amp; amperage setting </a:t>
            </a:r>
            <a:r>
              <a:rPr lang="en-US" sz="1400" b="1" dirty="0"/>
              <a:t>(Driver)</a:t>
            </a:r>
          </a:p>
          <a:p>
            <a:pPr marL="342900" indent="-342900">
              <a:buAutoNum type="arabicPeriod"/>
            </a:pPr>
            <a:r>
              <a:rPr lang="en-US" sz="1400" dirty="0"/>
              <a:t>Tune speed and accel parameters </a:t>
            </a:r>
            <a:r>
              <a:rPr lang="en-US" sz="1400" b="1" dirty="0"/>
              <a:t>(Software)</a:t>
            </a:r>
          </a:p>
        </p:txBody>
      </p:sp>
      <p:grpSp>
        <p:nvGrpSpPr>
          <p:cNvPr id="12" name="Group 11">
            <a:extLst>
              <a:ext uri="{FF2B5EF4-FFF2-40B4-BE49-F238E27FC236}">
                <a16:creationId xmlns:a16="http://schemas.microsoft.com/office/drawing/2014/main" id="{96D97A95-5F3B-DE94-5494-2162E0A923D7}"/>
              </a:ext>
            </a:extLst>
          </p:cNvPr>
          <p:cNvGrpSpPr/>
          <p:nvPr/>
        </p:nvGrpSpPr>
        <p:grpSpPr>
          <a:xfrm>
            <a:off x="7710704" y="159804"/>
            <a:ext cx="4010437" cy="3269196"/>
            <a:chOff x="7029239" y="454595"/>
            <a:chExt cx="5162761" cy="4658130"/>
          </a:xfrm>
        </p:grpSpPr>
        <p:pic>
          <p:nvPicPr>
            <p:cNvPr id="8" name="Picture 7">
              <a:extLst>
                <a:ext uri="{FF2B5EF4-FFF2-40B4-BE49-F238E27FC236}">
                  <a16:creationId xmlns:a16="http://schemas.microsoft.com/office/drawing/2014/main" id="{7ACCEBF6-28A1-59E4-D0C2-42274246F7C0}"/>
                </a:ext>
              </a:extLst>
            </p:cNvPr>
            <p:cNvPicPr>
              <a:picLocks noChangeAspect="1"/>
            </p:cNvPicPr>
            <p:nvPr/>
          </p:nvPicPr>
          <p:blipFill>
            <a:blip r:embed="rId5"/>
            <a:stretch>
              <a:fillRect/>
            </a:stretch>
          </p:blipFill>
          <p:spPr>
            <a:xfrm>
              <a:off x="7029239" y="454595"/>
              <a:ext cx="5162761" cy="4658130"/>
            </a:xfrm>
            <a:prstGeom prst="rect">
              <a:avLst/>
            </a:prstGeom>
          </p:spPr>
        </p:pic>
        <p:sp>
          <p:nvSpPr>
            <p:cNvPr id="9" name="Oval 8">
              <a:extLst>
                <a:ext uri="{FF2B5EF4-FFF2-40B4-BE49-F238E27FC236}">
                  <a16:creationId xmlns:a16="http://schemas.microsoft.com/office/drawing/2014/main" id="{3C46C688-36E4-6A17-4EFC-14EF2CDFC592}"/>
                </a:ext>
              </a:extLst>
            </p:cNvPr>
            <p:cNvSpPr/>
            <p:nvPr/>
          </p:nvSpPr>
          <p:spPr>
            <a:xfrm>
              <a:off x="8895732" y="1956816"/>
              <a:ext cx="1419460" cy="1362456"/>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12B434D-778F-7AB6-19A4-0293FB48C558}"/>
                </a:ext>
              </a:extLst>
            </p:cNvPr>
            <p:cNvSpPr/>
            <p:nvPr/>
          </p:nvSpPr>
          <p:spPr>
            <a:xfrm>
              <a:off x="8125969" y="1778208"/>
              <a:ext cx="469391" cy="555713"/>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D8183FF-6E87-63AB-B80E-28605796D19F}"/>
                </a:ext>
              </a:extLst>
            </p:cNvPr>
            <p:cNvSpPr/>
            <p:nvPr/>
          </p:nvSpPr>
          <p:spPr>
            <a:xfrm>
              <a:off x="8895732" y="3217529"/>
              <a:ext cx="469391" cy="555713"/>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58206294-1DF3-4411-0370-8801E151D09D}"/>
              </a:ext>
            </a:extLst>
          </p:cNvPr>
          <p:cNvSpPr txBox="1"/>
          <p:nvPr/>
        </p:nvSpPr>
        <p:spPr>
          <a:xfrm>
            <a:off x="9695759" y="865491"/>
            <a:ext cx="241504" cy="256700"/>
          </a:xfrm>
          <a:prstGeom prst="rect">
            <a:avLst/>
          </a:prstGeom>
          <a:noFill/>
        </p:spPr>
        <p:txBody>
          <a:bodyPr wrap="square" rtlCol="0">
            <a:spAutoFit/>
          </a:bodyPr>
          <a:lstStyle/>
          <a:p>
            <a:r>
              <a:rPr lang="en-US" dirty="0"/>
              <a:t>2</a:t>
            </a:r>
          </a:p>
        </p:txBody>
      </p:sp>
      <p:sp>
        <p:nvSpPr>
          <p:cNvPr id="19" name="TextBox 18">
            <a:extLst>
              <a:ext uri="{FF2B5EF4-FFF2-40B4-BE49-F238E27FC236}">
                <a16:creationId xmlns:a16="http://schemas.microsoft.com/office/drawing/2014/main" id="{11A94AAB-5D09-075D-A944-B2CA54EFC291}"/>
              </a:ext>
            </a:extLst>
          </p:cNvPr>
          <p:cNvSpPr txBox="1"/>
          <p:nvPr/>
        </p:nvSpPr>
        <p:spPr>
          <a:xfrm>
            <a:off x="8461728" y="819497"/>
            <a:ext cx="241504" cy="256700"/>
          </a:xfrm>
          <a:prstGeom prst="rect">
            <a:avLst/>
          </a:prstGeom>
          <a:noFill/>
        </p:spPr>
        <p:txBody>
          <a:bodyPr wrap="square" rtlCol="0">
            <a:spAutoFit/>
          </a:bodyPr>
          <a:lstStyle/>
          <a:p>
            <a:r>
              <a:rPr lang="en-US" dirty="0"/>
              <a:t>3</a:t>
            </a:r>
          </a:p>
        </p:txBody>
      </p:sp>
      <p:sp>
        <p:nvSpPr>
          <p:cNvPr id="20" name="TextBox 19">
            <a:extLst>
              <a:ext uri="{FF2B5EF4-FFF2-40B4-BE49-F238E27FC236}">
                <a16:creationId xmlns:a16="http://schemas.microsoft.com/office/drawing/2014/main" id="{35E57BE6-D8BB-6758-9F5A-0C11ABA44B7B}"/>
              </a:ext>
            </a:extLst>
          </p:cNvPr>
          <p:cNvSpPr txBox="1"/>
          <p:nvPr/>
        </p:nvSpPr>
        <p:spPr>
          <a:xfrm>
            <a:off x="9525220" y="2201262"/>
            <a:ext cx="241504" cy="256700"/>
          </a:xfrm>
          <a:prstGeom prst="rect">
            <a:avLst/>
          </a:prstGeom>
          <a:noFill/>
        </p:spPr>
        <p:txBody>
          <a:bodyPr wrap="square" rtlCol="0">
            <a:spAutoFit/>
          </a:bodyPr>
          <a:lstStyle/>
          <a:p>
            <a:r>
              <a:rPr lang="en-US" dirty="0"/>
              <a:t>4</a:t>
            </a:r>
          </a:p>
        </p:txBody>
      </p:sp>
      <p:sp>
        <p:nvSpPr>
          <p:cNvPr id="24" name="TextBox 23">
            <a:extLst>
              <a:ext uri="{FF2B5EF4-FFF2-40B4-BE49-F238E27FC236}">
                <a16:creationId xmlns:a16="http://schemas.microsoft.com/office/drawing/2014/main" id="{CF5C5F8A-9460-DDB4-9AE0-A7D1B89FB7BA}"/>
              </a:ext>
            </a:extLst>
          </p:cNvPr>
          <p:cNvSpPr txBox="1"/>
          <p:nvPr/>
        </p:nvSpPr>
        <p:spPr>
          <a:xfrm>
            <a:off x="7232904" y="159804"/>
            <a:ext cx="1078992" cy="369332"/>
          </a:xfrm>
          <a:prstGeom prst="rect">
            <a:avLst/>
          </a:prstGeom>
          <a:noFill/>
        </p:spPr>
        <p:txBody>
          <a:bodyPr wrap="square" rtlCol="0">
            <a:spAutoFit/>
          </a:bodyPr>
          <a:lstStyle/>
          <a:p>
            <a:r>
              <a:rPr lang="en-US" dirty="0"/>
              <a:t>V1</a:t>
            </a:r>
          </a:p>
        </p:txBody>
      </p:sp>
      <p:sp>
        <p:nvSpPr>
          <p:cNvPr id="25" name="TextBox 24">
            <a:extLst>
              <a:ext uri="{FF2B5EF4-FFF2-40B4-BE49-F238E27FC236}">
                <a16:creationId xmlns:a16="http://schemas.microsoft.com/office/drawing/2014/main" id="{64551F05-A066-957C-A573-5AF3D734D1CC}"/>
              </a:ext>
            </a:extLst>
          </p:cNvPr>
          <p:cNvSpPr txBox="1"/>
          <p:nvPr/>
        </p:nvSpPr>
        <p:spPr>
          <a:xfrm>
            <a:off x="7373951" y="3513226"/>
            <a:ext cx="1078992" cy="369332"/>
          </a:xfrm>
          <a:prstGeom prst="rect">
            <a:avLst/>
          </a:prstGeom>
          <a:noFill/>
        </p:spPr>
        <p:txBody>
          <a:bodyPr wrap="square" rtlCol="0">
            <a:spAutoFit/>
          </a:bodyPr>
          <a:lstStyle/>
          <a:p>
            <a:r>
              <a:rPr lang="en-US" dirty="0"/>
              <a:t>V2</a:t>
            </a:r>
          </a:p>
        </p:txBody>
      </p:sp>
    </p:spTree>
    <p:extLst>
      <p:ext uri="{BB962C8B-B14F-4D97-AF65-F5344CB8AC3E}">
        <p14:creationId xmlns:p14="http://schemas.microsoft.com/office/powerpoint/2010/main" val="1639032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machine&#10;&#10;AI-generated content may be incorrect.">
            <a:extLst>
              <a:ext uri="{FF2B5EF4-FFF2-40B4-BE49-F238E27FC236}">
                <a16:creationId xmlns:a16="http://schemas.microsoft.com/office/drawing/2014/main" id="{EE033EF6-48FA-BD1B-DA75-06974FDB5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2384" y="97276"/>
            <a:ext cx="5782482" cy="6496957"/>
          </a:xfrm>
          <a:prstGeom prst="rect">
            <a:avLst/>
          </a:prstGeom>
        </p:spPr>
      </p:pic>
      <p:pic>
        <p:nvPicPr>
          <p:cNvPr id="11" name="Picture 10">
            <a:extLst>
              <a:ext uri="{FF2B5EF4-FFF2-40B4-BE49-F238E27FC236}">
                <a16:creationId xmlns:a16="http://schemas.microsoft.com/office/drawing/2014/main" id="{F3467064-295B-D4B9-171B-5A631684A822}"/>
              </a:ext>
            </a:extLst>
          </p:cNvPr>
          <p:cNvPicPr>
            <a:picLocks noChangeAspect="1"/>
          </p:cNvPicPr>
          <p:nvPr/>
        </p:nvPicPr>
        <p:blipFill>
          <a:blip r:embed="rId4"/>
          <a:stretch>
            <a:fillRect/>
          </a:stretch>
        </p:blipFill>
        <p:spPr>
          <a:xfrm>
            <a:off x="449144" y="576072"/>
            <a:ext cx="3227356" cy="2971529"/>
          </a:xfrm>
          <a:prstGeom prst="rect">
            <a:avLst/>
          </a:prstGeom>
        </p:spPr>
      </p:pic>
      <p:sp>
        <p:nvSpPr>
          <p:cNvPr id="7" name="TextBox 6">
            <a:extLst>
              <a:ext uri="{FF2B5EF4-FFF2-40B4-BE49-F238E27FC236}">
                <a16:creationId xmlns:a16="http://schemas.microsoft.com/office/drawing/2014/main" id="{A797A12C-5C1B-13D9-91FF-DDC161DE69EC}"/>
              </a:ext>
            </a:extLst>
          </p:cNvPr>
          <p:cNvSpPr txBox="1"/>
          <p:nvPr/>
        </p:nvSpPr>
        <p:spPr>
          <a:xfrm>
            <a:off x="449144" y="3547601"/>
            <a:ext cx="1399032"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Bearing for output pins </a:t>
            </a:r>
          </a:p>
        </p:txBody>
      </p:sp>
      <p:cxnSp>
        <p:nvCxnSpPr>
          <p:cNvPr id="9" name="Straight Arrow Connector 8">
            <a:extLst>
              <a:ext uri="{FF2B5EF4-FFF2-40B4-BE49-F238E27FC236}">
                <a16:creationId xmlns:a16="http://schemas.microsoft.com/office/drawing/2014/main" id="{2503475E-EF49-2B8F-93E9-24A2D5D2FAA9}"/>
              </a:ext>
            </a:extLst>
          </p:cNvPr>
          <p:cNvCxnSpPr>
            <a:cxnSpLocks/>
            <a:stCxn id="7" idx="0"/>
          </p:cNvCxnSpPr>
          <p:nvPr/>
        </p:nvCxnSpPr>
        <p:spPr>
          <a:xfrm flipV="1">
            <a:off x="1148660" y="2788920"/>
            <a:ext cx="699516" cy="75868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DC3B7B00-D134-42DD-F716-1CC52852F19A}"/>
              </a:ext>
            </a:extLst>
          </p:cNvPr>
          <p:cNvPicPr>
            <a:picLocks noChangeAspect="1"/>
          </p:cNvPicPr>
          <p:nvPr/>
        </p:nvPicPr>
        <p:blipFill>
          <a:blip r:embed="rId5"/>
          <a:stretch>
            <a:fillRect/>
          </a:stretch>
        </p:blipFill>
        <p:spPr>
          <a:xfrm>
            <a:off x="8065810" y="2998423"/>
            <a:ext cx="3677046" cy="3290760"/>
          </a:xfrm>
          <a:prstGeom prst="rect">
            <a:avLst/>
          </a:prstGeom>
        </p:spPr>
      </p:pic>
      <p:sp>
        <p:nvSpPr>
          <p:cNvPr id="19" name="TextBox 18">
            <a:extLst>
              <a:ext uri="{FF2B5EF4-FFF2-40B4-BE49-F238E27FC236}">
                <a16:creationId xmlns:a16="http://schemas.microsoft.com/office/drawing/2014/main" id="{6A28E6EB-CC4B-0F1A-6527-D63F61AF3064}"/>
              </a:ext>
            </a:extLst>
          </p:cNvPr>
          <p:cNvSpPr txBox="1"/>
          <p:nvPr/>
        </p:nvSpPr>
        <p:spPr>
          <a:xfrm>
            <a:off x="8714866" y="1852913"/>
            <a:ext cx="2075054"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Steel dowel pins to plastic - rolling + sliding interface</a:t>
            </a:r>
          </a:p>
        </p:txBody>
      </p:sp>
      <p:cxnSp>
        <p:nvCxnSpPr>
          <p:cNvPr id="20" name="Straight Arrow Connector 19">
            <a:extLst>
              <a:ext uri="{FF2B5EF4-FFF2-40B4-BE49-F238E27FC236}">
                <a16:creationId xmlns:a16="http://schemas.microsoft.com/office/drawing/2014/main" id="{5EF1778E-B0D8-346E-E573-0F06E74149CC}"/>
              </a:ext>
            </a:extLst>
          </p:cNvPr>
          <p:cNvCxnSpPr>
            <a:cxnSpLocks/>
            <a:stCxn id="19" idx="2"/>
          </p:cNvCxnSpPr>
          <p:nvPr/>
        </p:nvCxnSpPr>
        <p:spPr>
          <a:xfrm flipH="1">
            <a:off x="9436608" y="2776243"/>
            <a:ext cx="315785" cy="56951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400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2C5271-A1E1-AB3E-5BCE-6BA8EE4463F0}"/>
              </a:ext>
            </a:extLst>
          </p:cNvPr>
          <p:cNvSpPr txBox="1"/>
          <p:nvPr/>
        </p:nvSpPr>
        <p:spPr>
          <a:xfrm>
            <a:off x="6431671" y="474345"/>
            <a:ext cx="5157411" cy="44627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Next Steps</a:t>
            </a:r>
          </a:p>
          <a:p>
            <a:pPr marL="342900" indent="-342900">
              <a:buFont typeface="+mj-lt"/>
              <a:buAutoNum type="arabicPeriod"/>
            </a:pPr>
            <a:endParaRPr lang="en-US" sz="1400" dirty="0"/>
          </a:p>
          <a:p>
            <a:pPr marL="342900" indent="-342900">
              <a:buFont typeface="+mj-lt"/>
              <a:buAutoNum type="arabicPeriod"/>
            </a:pPr>
            <a:r>
              <a:rPr lang="en-US" sz="1400" dirty="0"/>
              <a:t>Assemble V2 design and repeat position accuracy test</a:t>
            </a:r>
          </a:p>
          <a:p>
            <a:pPr marL="342900" indent="-342900">
              <a:buFont typeface="+mj-lt"/>
              <a:buAutoNum type="arabicPeriod"/>
            </a:pPr>
            <a:endParaRPr lang="en-US" sz="1400" dirty="0"/>
          </a:p>
          <a:p>
            <a:pPr marL="342900" indent="-342900">
              <a:buFont typeface="+mj-lt"/>
              <a:buAutoNum type="arabicPeriod"/>
            </a:pPr>
            <a:r>
              <a:rPr lang="en-US" sz="1400" dirty="0"/>
              <a:t>Add feature to hub design to stabilize the gearbox radially. (more mass or clamp to table)</a:t>
            </a:r>
          </a:p>
          <a:p>
            <a:pPr marL="342900" indent="-342900">
              <a:buFont typeface="+mj-lt"/>
              <a:buAutoNum type="arabicPeriod"/>
            </a:pPr>
            <a:endParaRPr lang="en-US" sz="1400" dirty="0"/>
          </a:p>
          <a:p>
            <a:pPr marL="342900" indent="-342900">
              <a:buFont typeface="+mj-lt"/>
              <a:buAutoNum type="arabicPeriod"/>
            </a:pPr>
            <a:r>
              <a:rPr lang="en-US" sz="1400" dirty="0"/>
              <a:t>Replace PLA </a:t>
            </a:r>
          </a:p>
          <a:p>
            <a:pPr marL="342900" indent="-342900">
              <a:buFont typeface="+mj-lt"/>
              <a:buAutoNum type="arabicPeriod"/>
            </a:pPr>
            <a:endParaRPr lang="en-US" sz="1400" dirty="0"/>
          </a:p>
          <a:p>
            <a:pPr marL="342900" indent="-342900">
              <a:buFont typeface="+mj-lt"/>
              <a:buAutoNum type="arabicPeriod"/>
            </a:pPr>
            <a:r>
              <a:rPr lang="en-US" sz="1400" dirty="0"/>
              <a:t>Design test rig to accurately determine torque</a:t>
            </a:r>
          </a:p>
          <a:p>
            <a:pPr marL="342900" indent="-342900">
              <a:buFont typeface="+mj-lt"/>
              <a:buAutoNum type="arabicPeriod"/>
            </a:pPr>
            <a:endParaRPr lang="en-US" sz="1400" dirty="0"/>
          </a:p>
          <a:p>
            <a:pPr marL="342900" indent="-342900">
              <a:buFont typeface="+mj-lt"/>
              <a:buAutoNum type="arabicPeriod"/>
            </a:pPr>
            <a:r>
              <a:rPr lang="en-US" sz="1400" dirty="0"/>
              <a:t>Torque test – use torque wrench to measure torque at gearbox output and motor input</a:t>
            </a:r>
          </a:p>
          <a:p>
            <a:pPr marL="342900" indent="-342900">
              <a:buFont typeface="+mj-lt"/>
              <a:buAutoNum type="arabicPeriod"/>
            </a:pPr>
            <a:endParaRPr lang="en-US" sz="1400" dirty="0"/>
          </a:p>
          <a:p>
            <a:pPr marL="342900" indent="-342900">
              <a:buFont typeface="+mj-lt"/>
              <a:buAutoNum type="arabicPeriod"/>
            </a:pPr>
            <a:r>
              <a:rPr lang="en-US" sz="1400" dirty="0"/>
              <a:t>Continue optimizing software and driver to minimize missteps</a:t>
            </a:r>
          </a:p>
          <a:p>
            <a:pPr marL="342900" indent="-342900">
              <a:buFont typeface="+mj-lt"/>
              <a:buAutoNum type="arabicPeriod"/>
            </a:pPr>
            <a:endParaRPr lang="en-US" sz="1400" dirty="0"/>
          </a:p>
          <a:p>
            <a:pPr marL="342900" indent="-342900">
              <a:buFont typeface="+mj-lt"/>
              <a:buAutoNum type="arabicPeriod"/>
            </a:pPr>
            <a:r>
              <a:rPr lang="en-US" sz="1400" dirty="0"/>
              <a:t>Add lubrication (Vaseline) </a:t>
            </a:r>
          </a:p>
          <a:p>
            <a:pPr marL="342900" indent="-342900">
              <a:buFont typeface="+mj-lt"/>
              <a:buAutoNum type="arabicPeriod"/>
            </a:pPr>
            <a:endParaRPr lang="en-US" sz="1400" dirty="0"/>
          </a:p>
          <a:p>
            <a:pPr marL="342900" indent="-342900">
              <a:buFont typeface="+mj-lt"/>
              <a:buAutoNum type="arabicPeriod"/>
            </a:pPr>
            <a:r>
              <a:rPr lang="en-US" sz="1400" dirty="0"/>
              <a:t>Investigate operating temp of gearbox </a:t>
            </a:r>
          </a:p>
        </p:txBody>
      </p:sp>
      <p:sp>
        <p:nvSpPr>
          <p:cNvPr id="4" name="TextBox 3">
            <a:extLst>
              <a:ext uri="{FF2B5EF4-FFF2-40B4-BE49-F238E27FC236}">
                <a16:creationId xmlns:a16="http://schemas.microsoft.com/office/drawing/2014/main" id="{0345EAC1-D00D-2EA1-9617-B0F07F6AF3B2}"/>
              </a:ext>
            </a:extLst>
          </p:cNvPr>
          <p:cNvSpPr txBox="1"/>
          <p:nvPr/>
        </p:nvSpPr>
        <p:spPr>
          <a:xfrm>
            <a:off x="484632" y="474345"/>
            <a:ext cx="4818888" cy="538609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Learnings</a:t>
            </a:r>
          </a:p>
          <a:p>
            <a:endParaRPr lang="en-US" b="1" dirty="0"/>
          </a:p>
          <a:p>
            <a:pPr marL="285750" indent="-285750">
              <a:buFont typeface="Arial" panose="020B0604020202020204" pitchFamily="34" charset="0"/>
              <a:buChar char="•"/>
            </a:pPr>
            <a:r>
              <a:rPr lang="en-US" sz="1400" dirty="0"/>
              <a:t>Motor needs to be loaded for optimal performance. (Reduce resonance)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Motor struggles for accuracy and speed at small increments of rotation. (Increase gear ratio to allow for speed ramp up to optimal speed thus more accurate positioning)</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Need to offset gear surface since the “theoretical profile” does not account for real world conditions (tolerances, friction, contact stress, and etc.)</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Print orientation matters for managing failure under load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Helped to prototype and iterate quickly. Was able to have constant improvement.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Underestimated impact of tolerances on this design, from assembly to actual gear motion</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Motors have many parameters that need to be optimized per application. Not plug and play</a:t>
            </a:r>
          </a:p>
        </p:txBody>
      </p:sp>
    </p:spTree>
    <p:extLst>
      <p:ext uri="{BB962C8B-B14F-4D97-AF65-F5344CB8AC3E}">
        <p14:creationId xmlns:p14="http://schemas.microsoft.com/office/powerpoint/2010/main" val="124539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diagram of a diagram of a line&#10;&#10;AI-generated content may be incorrect.">
            <a:extLst>
              <a:ext uri="{FF2B5EF4-FFF2-40B4-BE49-F238E27FC236}">
                <a16:creationId xmlns:a16="http://schemas.microsoft.com/office/drawing/2014/main" id="{CCE990EF-FD2B-C3DE-20BF-C363DDB83942}"/>
              </a:ext>
            </a:extLst>
          </p:cNvPr>
          <p:cNvPicPr>
            <a:picLocks noChangeAspect="1"/>
          </p:cNvPicPr>
          <p:nvPr/>
        </p:nvPicPr>
        <p:blipFill>
          <a:blip r:embed="rId2"/>
          <a:stretch>
            <a:fillRect/>
          </a:stretch>
        </p:blipFill>
        <p:spPr>
          <a:xfrm>
            <a:off x="643467" y="1801813"/>
            <a:ext cx="5291666" cy="3254374"/>
          </a:xfrm>
          <a:prstGeom prst="rect">
            <a:avLst/>
          </a:prstGeom>
        </p:spPr>
      </p:pic>
      <p:pic>
        <p:nvPicPr>
          <p:cNvPr id="7170" name="Picture 2" descr="Schematic diagram of the cycloidal gear force analysis. | Download  Scientific Diagram">
            <a:extLst>
              <a:ext uri="{FF2B5EF4-FFF2-40B4-BE49-F238E27FC236}">
                <a16:creationId xmlns:a16="http://schemas.microsoft.com/office/drawing/2014/main" id="{35E5E789-BE02-0D29-4BCA-DB436E3BF96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56865" y="1894041"/>
            <a:ext cx="5291667" cy="3069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607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5F8A7B-DA4E-5C76-6075-F1A41E963DF7}"/>
              </a:ext>
            </a:extLst>
          </p:cNvPr>
          <p:cNvPicPr>
            <a:picLocks noChangeAspect="1"/>
          </p:cNvPicPr>
          <p:nvPr/>
        </p:nvPicPr>
        <p:blipFill>
          <a:blip r:embed="rId3"/>
          <a:stretch>
            <a:fillRect/>
          </a:stretch>
        </p:blipFill>
        <p:spPr>
          <a:xfrm>
            <a:off x="4307606" y="97076"/>
            <a:ext cx="7326675" cy="6574206"/>
          </a:xfrm>
          <a:prstGeom prst="rect">
            <a:avLst/>
          </a:prstGeom>
        </p:spPr>
      </p:pic>
      <p:sp>
        <p:nvSpPr>
          <p:cNvPr id="4" name="TextBox 3">
            <a:extLst>
              <a:ext uri="{FF2B5EF4-FFF2-40B4-BE49-F238E27FC236}">
                <a16:creationId xmlns:a16="http://schemas.microsoft.com/office/drawing/2014/main" id="{D603DF66-66F6-211A-6B16-BE0DA38DA087}"/>
              </a:ext>
            </a:extLst>
          </p:cNvPr>
          <p:cNvSpPr txBox="1"/>
          <p:nvPr/>
        </p:nvSpPr>
        <p:spPr>
          <a:xfrm>
            <a:off x="146304" y="97076"/>
            <a:ext cx="2655262" cy="523220"/>
          </a:xfrm>
          <a:prstGeom prst="rect">
            <a:avLst/>
          </a:prstGeom>
          <a:noFill/>
        </p:spPr>
        <p:txBody>
          <a:bodyPr wrap="square" rtlCol="0">
            <a:spAutoFit/>
          </a:bodyPr>
          <a:lstStyle/>
          <a:p>
            <a:r>
              <a:rPr lang="en-US" sz="2800" b="1" dirty="0"/>
              <a:t>Pressure Angle</a:t>
            </a:r>
          </a:p>
        </p:txBody>
      </p:sp>
      <p:sp>
        <p:nvSpPr>
          <p:cNvPr id="5" name="TextBox 4">
            <a:extLst>
              <a:ext uri="{FF2B5EF4-FFF2-40B4-BE49-F238E27FC236}">
                <a16:creationId xmlns:a16="http://schemas.microsoft.com/office/drawing/2014/main" id="{20930C3D-1ED9-F5B7-AA23-2A6EA659C3CA}"/>
              </a:ext>
            </a:extLst>
          </p:cNvPr>
          <p:cNvSpPr txBox="1"/>
          <p:nvPr/>
        </p:nvSpPr>
        <p:spPr>
          <a:xfrm>
            <a:off x="282102" y="943583"/>
            <a:ext cx="3433864"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Average pressure angle = 35 deg</a:t>
            </a:r>
          </a:p>
          <a:p>
            <a:r>
              <a:rPr lang="en-US" sz="1200" dirty="0"/>
              <a:t>*Not an accurate characterization</a:t>
            </a:r>
          </a:p>
          <a:p>
            <a:endParaRPr lang="en-US" dirty="0"/>
          </a:p>
          <a:p>
            <a:r>
              <a:rPr lang="en-US" dirty="0"/>
              <a:t>Pressure angle is proportional to power transmission.</a:t>
            </a:r>
          </a:p>
        </p:txBody>
      </p:sp>
      <p:sp>
        <p:nvSpPr>
          <p:cNvPr id="6" name="TextBox 5">
            <a:extLst>
              <a:ext uri="{FF2B5EF4-FFF2-40B4-BE49-F238E27FC236}">
                <a16:creationId xmlns:a16="http://schemas.microsoft.com/office/drawing/2014/main" id="{37A13E9F-9A40-6FF7-1148-ADAED251A183}"/>
              </a:ext>
            </a:extLst>
          </p:cNvPr>
          <p:cNvSpPr txBox="1"/>
          <p:nvPr/>
        </p:nvSpPr>
        <p:spPr>
          <a:xfrm>
            <a:off x="274320" y="2724912"/>
            <a:ext cx="3438144"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Levers for Pressure Angle</a:t>
            </a:r>
          </a:p>
          <a:p>
            <a:pPr marL="285750" indent="-285750">
              <a:buFontTx/>
              <a:buChar char="-"/>
            </a:pPr>
            <a:r>
              <a:rPr lang="en-US" dirty="0"/>
              <a:t># of external pins </a:t>
            </a:r>
            <a:r>
              <a:rPr lang="en-US" dirty="0" err="1"/>
              <a:t>a.k.a</a:t>
            </a:r>
            <a:r>
              <a:rPr lang="en-US" dirty="0"/>
              <a:t> GR (+)</a:t>
            </a:r>
          </a:p>
          <a:p>
            <a:pPr marL="285750" indent="-285750">
              <a:buFontTx/>
              <a:buChar char="-"/>
            </a:pPr>
            <a:r>
              <a:rPr lang="en-US" dirty="0"/>
              <a:t>Eccentricity (-)</a:t>
            </a:r>
          </a:p>
          <a:p>
            <a:pPr marL="285750" indent="-285750">
              <a:buFontTx/>
              <a:buChar char="-"/>
            </a:pPr>
            <a:r>
              <a:rPr lang="en-US" dirty="0"/>
              <a:t>Pitch circle diameter (+)</a:t>
            </a:r>
          </a:p>
          <a:p>
            <a:pPr marL="285750" indent="-285750">
              <a:buFontTx/>
              <a:buChar char="-"/>
            </a:pPr>
            <a:r>
              <a:rPr lang="en-US" dirty="0"/>
              <a:t>Ring pin diameter (-)</a:t>
            </a:r>
          </a:p>
          <a:p>
            <a:endParaRPr lang="en-US" dirty="0"/>
          </a:p>
        </p:txBody>
      </p:sp>
    </p:spTree>
    <p:extLst>
      <p:ext uri="{BB962C8B-B14F-4D97-AF65-F5344CB8AC3E}">
        <p14:creationId xmlns:p14="http://schemas.microsoft.com/office/powerpoint/2010/main" val="466807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07C1A9-6505-05CF-F674-5D809954B84E}"/>
              </a:ext>
            </a:extLst>
          </p:cNvPr>
          <p:cNvSpPr txBox="1"/>
          <p:nvPr/>
        </p:nvSpPr>
        <p:spPr>
          <a:xfrm>
            <a:off x="129396" y="215660"/>
            <a:ext cx="2120823" cy="369332"/>
          </a:xfrm>
          <a:prstGeom prst="rect">
            <a:avLst/>
          </a:prstGeom>
          <a:noFill/>
        </p:spPr>
        <p:txBody>
          <a:bodyPr wrap="square" rtlCol="0">
            <a:spAutoFit/>
          </a:bodyPr>
          <a:lstStyle/>
          <a:p>
            <a:r>
              <a:rPr lang="en-US" b="1" dirty="0"/>
              <a:t>PLA vs Nylon</a:t>
            </a:r>
          </a:p>
        </p:txBody>
      </p:sp>
      <p:graphicFrame>
        <p:nvGraphicFramePr>
          <p:cNvPr id="5" name="Table 4">
            <a:extLst>
              <a:ext uri="{FF2B5EF4-FFF2-40B4-BE49-F238E27FC236}">
                <a16:creationId xmlns:a16="http://schemas.microsoft.com/office/drawing/2014/main" id="{4C53E45F-5913-8825-E9CE-7BD0E573880D}"/>
              </a:ext>
            </a:extLst>
          </p:cNvPr>
          <p:cNvGraphicFramePr>
            <a:graphicFrameLocks noGrp="1"/>
          </p:cNvGraphicFramePr>
          <p:nvPr>
            <p:extLst>
              <p:ext uri="{D42A27DB-BD31-4B8C-83A1-F6EECF244321}">
                <p14:modId xmlns:p14="http://schemas.microsoft.com/office/powerpoint/2010/main" val="803183998"/>
              </p:ext>
            </p:extLst>
          </p:nvPr>
        </p:nvGraphicFramePr>
        <p:xfrm>
          <a:off x="1343771" y="990010"/>
          <a:ext cx="9088341" cy="2349534"/>
        </p:xfrm>
        <a:graphic>
          <a:graphicData uri="http://schemas.openxmlformats.org/drawingml/2006/table">
            <a:tbl>
              <a:tblPr firstRow="1" bandRow="1">
                <a:tableStyleId>{5C22544A-7EE6-4342-B048-85BDC9FD1C3A}</a:tableStyleId>
              </a:tblPr>
              <a:tblGrid>
                <a:gridCol w="3029447">
                  <a:extLst>
                    <a:ext uri="{9D8B030D-6E8A-4147-A177-3AD203B41FA5}">
                      <a16:colId xmlns:a16="http://schemas.microsoft.com/office/drawing/2014/main" val="904765450"/>
                    </a:ext>
                  </a:extLst>
                </a:gridCol>
                <a:gridCol w="3029447">
                  <a:extLst>
                    <a:ext uri="{9D8B030D-6E8A-4147-A177-3AD203B41FA5}">
                      <a16:colId xmlns:a16="http://schemas.microsoft.com/office/drawing/2014/main" val="277200320"/>
                    </a:ext>
                  </a:extLst>
                </a:gridCol>
                <a:gridCol w="3029447">
                  <a:extLst>
                    <a:ext uri="{9D8B030D-6E8A-4147-A177-3AD203B41FA5}">
                      <a16:colId xmlns:a16="http://schemas.microsoft.com/office/drawing/2014/main" val="1761422558"/>
                    </a:ext>
                  </a:extLst>
                </a:gridCol>
              </a:tblGrid>
              <a:tr h="391589">
                <a:tc>
                  <a:txBody>
                    <a:bodyPr/>
                    <a:lstStyle/>
                    <a:p>
                      <a:r>
                        <a:rPr lang="en-US" dirty="0"/>
                        <a:t>Material Properties</a:t>
                      </a:r>
                    </a:p>
                  </a:txBody>
                  <a:tcPr/>
                </a:tc>
                <a:tc>
                  <a:txBody>
                    <a:bodyPr/>
                    <a:lstStyle/>
                    <a:p>
                      <a:r>
                        <a:rPr lang="en-US" dirty="0"/>
                        <a:t>PLA</a:t>
                      </a:r>
                    </a:p>
                  </a:txBody>
                  <a:tcPr/>
                </a:tc>
                <a:tc>
                  <a:txBody>
                    <a:bodyPr/>
                    <a:lstStyle/>
                    <a:p>
                      <a:r>
                        <a:rPr lang="en-US" dirty="0"/>
                        <a:t>Nylon</a:t>
                      </a:r>
                    </a:p>
                  </a:txBody>
                  <a:tcPr/>
                </a:tc>
                <a:extLst>
                  <a:ext uri="{0D108BD9-81ED-4DB2-BD59-A6C34878D82A}">
                    <a16:rowId xmlns:a16="http://schemas.microsoft.com/office/drawing/2014/main" val="4235239229"/>
                  </a:ext>
                </a:extLst>
              </a:tr>
              <a:tr h="391589">
                <a:tc>
                  <a:txBody>
                    <a:bodyPr/>
                    <a:lstStyle/>
                    <a:p>
                      <a:r>
                        <a:rPr lang="en-US" dirty="0"/>
                        <a:t>Yield Stress (MPa)</a:t>
                      </a:r>
                    </a:p>
                  </a:txBody>
                  <a:tcPr/>
                </a:tc>
                <a:tc>
                  <a:txBody>
                    <a:bodyPr/>
                    <a:lstStyle/>
                    <a:p>
                      <a:r>
                        <a:rPr lang="en-US" dirty="0"/>
                        <a:t>38</a:t>
                      </a:r>
                    </a:p>
                  </a:txBody>
                  <a:tcPr/>
                </a:tc>
                <a:tc>
                  <a:txBody>
                    <a:bodyPr/>
                    <a:lstStyle/>
                    <a:p>
                      <a:r>
                        <a:rPr lang="en-US" dirty="0"/>
                        <a:t>77</a:t>
                      </a:r>
                    </a:p>
                  </a:txBody>
                  <a:tcPr/>
                </a:tc>
                <a:extLst>
                  <a:ext uri="{0D108BD9-81ED-4DB2-BD59-A6C34878D82A}">
                    <a16:rowId xmlns:a16="http://schemas.microsoft.com/office/drawing/2014/main" val="853537368"/>
                  </a:ext>
                </a:extLst>
              </a:tr>
              <a:tr h="391589">
                <a:tc>
                  <a:txBody>
                    <a:bodyPr/>
                    <a:lstStyle/>
                    <a:p>
                      <a:r>
                        <a:rPr lang="en-US" dirty="0"/>
                        <a:t>Youngs Modulus (</a:t>
                      </a:r>
                      <a:r>
                        <a:rPr lang="en-US" dirty="0" err="1"/>
                        <a:t>GPa</a:t>
                      </a:r>
                      <a:r>
                        <a:rPr lang="en-US" dirty="0"/>
                        <a:t>)</a:t>
                      </a:r>
                    </a:p>
                  </a:txBody>
                  <a:tcPr/>
                </a:tc>
                <a:tc>
                  <a:txBody>
                    <a:bodyPr/>
                    <a:lstStyle/>
                    <a:p>
                      <a:r>
                        <a:rPr lang="en-US" dirty="0"/>
                        <a:t>3.5</a:t>
                      </a:r>
                    </a:p>
                  </a:txBody>
                  <a:tcPr/>
                </a:tc>
                <a:tc>
                  <a:txBody>
                    <a:bodyPr/>
                    <a:lstStyle/>
                    <a:p>
                      <a:r>
                        <a:rPr lang="en-US" dirty="0"/>
                        <a:t>2.6</a:t>
                      </a:r>
                    </a:p>
                  </a:txBody>
                  <a:tcPr/>
                </a:tc>
                <a:extLst>
                  <a:ext uri="{0D108BD9-81ED-4DB2-BD59-A6C34878D82A}">
                    <a16:rowId xmlns:a16="http://schemas.microsoft.com/office/drawing/2014/main" val="1566078763"/>
                  </a:ext>
                </a:extLst>
              </a:tr>
              <a:tr h="391589">
                <a:tc>
                  <a:txBody>
                    <a:bodyPr/>
                    <a:lstStyle/>
                    <a:p>
                      <a:r>
                        <a:rPr lang="en-US" dirty="0"/>
                        <a:t>Elongation @ yield (%)</a:t>
                      </a:r>
                    </a:p>
                  </a:txBody>
                  <a:tcPr/>
                </a:tc>
                <a:tc>
                  <a:txBody>
                    <a:bodyPr/>
                    <a:lstStyle/>
                    <a:p>
                      <a:r>
                        <a:rPr lang="en-US" dirty="0"/>
                        <a:t>6</a:t>
                      </a:r>
                    </a:p>
                  </a:txBody>
                  <a:tcPr/>
                </a:tc>
                <a:tc>
                  <a:txBody>
                    <a:bodyPr/>
                    <a:lstStyle/>
                    <a:p>
                      <a:r>
                        <a:rPr lang="en-US" dirty="0"/>
                        <a:t>46</a:t>
                      </a:r>
                    </a:p>
                  </a:txBody>
                  <a:tcPr/>
                </a:tc>
                <a:extLst>
                  <a:ext uri="{0D108BD9-81ED-4DB2-BD59-A6C34878D82A}">
                    <a16:rowId xmlns:a16="http://schemas.microsoft.com/office/drawing/2014/main" val="3364340435"/>
                  </a:ext>
                </a:extLst>
              </a:tr>
              <a:tr h="391589">
                <a:tc>
                  <a:txBody>
                    <a:bodyPr/>
                    <a:lstStyle/>
                    <a:p>
                      <a:r>
                        <a:rPr lang="en-US" dirty="0"/>
                        <a:t>Coefficient of Friction </a:t>
                      </a:r>
                    </a:p>
                  </a:txBody>
                  <a:tcPr/>
                </a:tc>
                <a:tc>
                  <a:txBody>
                    <a:bodyPr/>
                    <a:lstStyle/>
                    <a:p>
                      <a:r>
                        <a:rPr lang="en-US" dirty="0"/>
                        <a:t>0.42</a:t>
                      </a:r>
                    </a:p>
                  </a:txBody>
                  <a:tcPr/>
                </a:tc>
                <a:tc>
                  <a:txBody>
                    <a:bodyPr/>
                    <a:lstStyle/>
                    <a:p>
                      <a:r>
                        <a:rPr lang="en-US" dirty="0"/>
                        <a:t>0.26</a:t>
                      </a:r>
                    </a:p>
                  </a:txBody>
                  <a:tcPr>
                    <a:solidFill>
                      <a:schemeClr val="accent6">
                        <a:lumMod val="20000"/>
                        <a:lumOff val="80000"/>
                      </a:schemeClr>
                    </a:solidFill>
                  </a:tcPr>
                </a:tc>
                <a:extLst>
                  <a:ext uri="{0D108BD9-81ED-4DB2-BD59-A6C34878D82A}">
                    <a16:rowId xmlns:a16="http://schemas.microsoft.com/office/drawing/2014/main" val="2954093807"/>
                  </a:ext>
                </a:extLst>
              </a:tr>
              <a:tr h="391589">
                <a:tc>
                  <a:txBody>
                    <a:bodyPr/>
                    <a:lstStyle/>
                    <a:p>
                      <a:r>
                        <a:rPr lang="en-US" dirty="0"/>
                        <a:t>Hardness (Shore D)</a:t>
                      </a:r>
                    </a:p>
                  </a:txBody>
                  <a:tcPr/>
                </a:tc>
                <a:tc>
                  <a:txBody>
                    <a:bodyPr/>
                    <a:lstStyle/>
                    <a:p>
                      <a:r>
                        <a:rPr lang="en-US" dirty="0"/>
                        <a:t>66</a:t>
                      </a:r>
                    </a:p>
                  </a:txBody>
                  <a:tcPr/>
                </a:tc>
                <a:tc>
                  <a:txBody>
                    <a:bodyPr/>
                    <a:lstStyle/>
                    <a:p>
                      <a:r>
                        <a:rPr lang="en-US" dirty="0"/>
                        <a:t>81</a:t>
                      </a:r>
                    </a:p>
                  </a:txBody>
                  <a:tcPr>
                    <a:solidFill>
                      <a:schemeClr val="accent6">
                        <a:lumMod val="20000"/>
                        <a:lumOff val="80000"/>
                      </a:schemeClr>
                    </a:solidFill>
                  </a:tcPr>
                </a:tc>
                <a:extLst>
                  <a:ext uri="{0D108BD9-81ED-4DB2-BD59-A6C34878D82A}">
                    <a16:rowId xmlns:a16="http://schemas.microsoft.com/office/drawing/2014/main" val="1253796477"/>
                  </a:ext>
                </a:extLst>
              </a:tr>
            </a:tbl>
          </a:graphicData>
        </a:graphic>
      </p:graphicFrame>
      <p:graphicFrame>
        <p:nvGraphicFramePr>
          <p:cNvPr id="6" name="Table 5">
            <a:extLst>
              <a:ext uri="{FF2B5EF4-FFF2-40B4-BE49-F238E27FC236}">
                <a16:creationId xmlns:a16="http://schemas.microsoft.com/office/drawing/2014/main" id="{979E88C6-FD6B-F998-CF1D-47EC742A847B}"/>
              </a:ext>
            </a:extLst>
          </p:cNvPr>
          <p:cNvGraphicFramePr>
            <a:graphicFrameLocks noGrp="1"/>
          </p:cNvGraphicFramePr>
          <p:nvPr>
            <p:extLst>
              <p:ext uri="{D42A27DB-BD31-4B8C-83A1-F6EECF244321}">
                <p14:modId xmlns:p14="http://schemas.microsoft.com/office/powerpoint/2010/main" val="2042974064"/>
              </p:ext>
            </p:extLst>
          </p:nvPr>
        </p:nvGraphicFramePr>
        <p:xfrm>
          <a:off x="1343771" y="3518457"/>
          <a:ext cx="9088341" cy="1850000"/>
        </p:xfrm>
        <a:graphic>
          <a:graphicData uri="http://schemas.openxmlformats.org/drawingml/2006/table">
            <a:tbl>
              <a:tblPr firstRow="1" bandRow="1">
                <a:tableStyleId>{5C22544A-7EE6-4342-B048-85BDC9FD1C3A}</a:tableStyleId>
              </a:tblPr>
              <a:tblGrid>
                <a:gridCol w="3029447">
                  <a:extLst>
                    <a:ext uri="{9D8B030D-6E8A-4147-A177-3AD203B41FA5}">
                      <a16:colId xmlns:a16="http://schemas.microsoft.com/office/drawing/2014/main" val="3154390211"/>
                    </a:ext>
                  </a:extLst>
                </a:gridCol>
                <a:gridCol w="3029447">
                  <a:extLst>
                    <a:ext uri="{9D8B030D-6E8A-4147-A177-3AD203B41FA5}">
                      <a16:colId xmlns:a16="http://schemas.microsoft.com/office/drawing/2014/main" val="1597351010"/>
                    </a:ext>
                  </a:extLst>
                </a:gridCol>
                <a:gridCol w="3029447">
                  <a:extLst>
                    <a:ext uri="{9D8B030D-6E8A-4147-A177-3AD203B41FA5}">
                      <a16:colId xmlns:a16="http://schemas.microsoft.com/office/drawing/2014/main" val="2709839861"/>
                    </a:ext>
                  </a:extLst>
                </a:gridCol>
              </a:tblGrid>
              <a:tr h="467800">
                <a:tc>
                  <a:txBody>
                    <a:bodyPr/>
                    <a:lstStyle/>
                    <a:p>
                      <a:endParaRPr lang="en-US" dirty="0"/>
                    </a:p>
                  </a:txBody>
                  <a:tcPr/>
                </a:tc>
                <a:tc>
                  <a:txBody>
                    <a:bodyPr/>
                    <a:lstStyle/>
                    <a:p>
                      <a:r>
                        <a:rPr lang="en-US" dirty="0"/>
                        <a:t>PLA</a:t>
                      </a:r>
                    </a:p>
                  </a:txBody>
                  <a:tcPr/>
                </a:tc>
                <a:tc>
                  <a:txBody>
                    <a:bodyPr/>
                    <a:lstStyle/>
                    <a:p>
                      <a:r>
                        <a:rPr lang="en-US" dirty="0"/>
                        <a:t>Nylon</a:t>
                      </a:r>
                    </a:p>
                  </a:txBody>
                  <a:tcPr/>
                </a:tc>
                <a:extLst>
                  <a:ext uri="{0D108BD9-81ED-4DB2-BD59-A6C34878D82A}">
                    <a16:rowId xmlns:a16="http://schemas.microsoft.com/office/drawing/2014/main" val="393181520"/>
                  </a:ext>
                </a:extLst>
              </a:tr>
              <a:tr h="467800">
                <a:tc>
                  <a:txBody>
                    <a:bodyPr/>
                    <a:lstStyle/>
                    <a:p>
                      <a:r>
                        <a:rPr lang="en-US" dirty="0"/>
                        <a:t>Cost </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093749489"/>
                  </a:ext>
                </a:extLst>
              </a:tr>
              <a:tr h="467800">
                <a:tc>
                  <a:txBody>
                    <a:bodyPr/>
                    <a:lstStyle/>
                    <a:p>
                      <a:r>
                        <a:rPr lang="en-US" dirty="0"/>
                        <a:t>Difficulty to print</a:t>
                      </a:r>
                    </a:p>
                  </a:txBody>
                  <a:tcPr/>
                </a:tc>
                <a:tc>
                  <a:txBody>
                    <a:bodyPr/>
                    <a:lstStyle/>
                    <a:p>
                      <a:r>
                        <a:rPr lang="en-US" dirty="0"/>
                        <a:t>Easy</a:t>
                      </a:r>
                    </a:p>
                  </a:txBody>
                  <a:tcPr/>
                </a:tc>
                <a:tc>
                  <a:txBody>
                    <a:bodyPr/>
                    <a:lstStyle/>
                    <a:p>
                      <a:r>
                        <a:rPr lang="en-US" dirty="0"/>
                        <a:t>Moderate (need heated enclosure for optimal results) </a:t>
                      </a:r>
                    </a:p>
                  </a:txBody>
                  <a:tcPr/>
                </a:tc>
                <a:extLst>
                  <a:ext uri="{0D108BD9-81ED-4DB2-BD59-A6C34878D82A}">
                    <a16:rowId xmlns:a16="http://schemas.microsoft.com/office/drawing/2014/main" val="4204783212"/>
                  </a:ext>
                </a:extLst>
              </a:tr>
            </a:tbl>
          </a:graphicData>
        </a:graphic>
      </p:graphicFrame>
    </p:spTree>
    <p:extLst>
      <p:ext uri="{BB962C8B-B14F-4D97-AF65-F5344CB8AC3E}">
        <p14:creationId xmlns:p14="http://schemas.microsoft.com/office/powerpoint/2010/main" val="356547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5E9116-87F6-DF09-7CDE-AD9CA4E0D487}"/>
              </a:ext>
            </a:extLst>
          </p:cNvPr>
          <p:cNvSpPr txBox="1"/>
          <p:nvPr/>
        </p:nvSpPr>
        <p:spPr>
          <a:xfrm>
            <a:off x="131975" y="103695"/>
            <a:ext cx="2488677" cy="369332"/>
          </a:xfrm>
          <a:prstGeom prst="rect">
            <a:avLst/>
          </a:prstGeom>
          <a:noFill/>
        </p:spPr>
        <p:txBody>
          <a:bodyPr wrap="square" rtlCol="0">
            <a:spAutoFit/>
          </a:bodyPr>
          <a:lstStyle/>
          <a:p>
            <a:r>
              <a:rPr lang="en-US" b="1" dirty="0"/>
              <a:t>“Zero Backlash”</a:t>
            </a:r>
          </a:p>
        </p:txBody>
      </p:sp>
      <p:sp>
        <p:nvSpPr>
          <p:cNvPr id="3" name="TextBox 2">
            <a:extLst>
              <a:ext uri="{FF2B5EF4-FFF2-40B4-BE49-F238E27FC236}">
                <a16:creationId xmlns:a16="http://schemas.microsoft.com/office/drawing/2014/main" id="{CE3FCEE9-2A6E-466B-49CA-295D92FB63F7}"/>
              </a:ext>
            </a:extLst>
          </p:cNvPr>
          <p:cNvSpPr txBox="1"/>
          <p:nvPr/>
        </p:nvSpPr>
        <p:spPr>
          <a:xfrm>
            <a:off x="1602557" y="989814"/>
            <a:ext cx="4637987" cy="2031325"/>
          </a:xfrm>
          <a:prstGeom prst="rect">
            <a:avLst/>
          </a:prstGeom>
          <a:noFill/>
        </p:spPr>
        <p:txBody>
          <a:bodyPr wrap="square" rtlCol="0">
            <a:spAutoFit/>
          </a:bodyPr>
          <a:lstStyle/>
          <a:p>
            <a:r>
              <a:rPr lang="en-US" b="1" dirty="0"/>
              <a:t>Traditional Involute Gear Profile</a:t>
            </a:r>
          </a:p>
          <a:p>
            <a:pPr marL="285750" indent="-285750">
              <a:buFont typeface="Arial" panose="020B0604020202020204" pitchFamily="34" charset="0"/>
              <a:buChar char="•"/>
            </a:pPr>
            <a:r>
              <a:rPr lang="en-US" dirty="0"/>
              <a:t>Gap between teeth are part of the design to prevent jamming due to manufacturing tolerances</a:t>
            </a:r>
          </a:p>
          <a:p>
            <a:pPr marL="285750" indent="-285750">
              <a:buFont typeface="Arial" panose="020B0604020202020204" pitchFamily="34" charset="0"/>
              <a:buChar char="•"/>
            </a:pPr>
            <a:r>
              <a:rPr lang="en-US" dirty="0"/>
              <a:t>Load concentrated on a few teeth and has sliding and rolling contact</a:t>
            </a:r>
          </a:p>
          <a:p>
            <a:endParaRPr lang="en-US" dirty="0"/>
          </a:p>
        </p:txBody>
      </p:sp>
      <p:sp>
        <p:nvSpPr>
          <p:cNvPr id="4" name="TextBox 3">
            <a:extLst>
              <a:ext uri="{FF2B5EF4-FFF2-40B4-BE49-F238E27FC236}">
                <a16:creationId xmlns:a16="http://schemas.microsoft.com/office/drawing/2014/main" id="{A453B72E-EC94-DA0E-BB44-F38B0DBC9CC8}"/>
              </a:ext>
            </a:extLst>
          </p:cNvPr>
          <p:cNvSpPr txBox="1"/>
          <p:nvPr/>
        </p:nvSpPr>
        <p:spPr>
          <a:xfrm>
            <a:off x="6458933" y="1019665"/>
            <a:ext cx="4637987" cy="1754326"/>
          </a:xfrm>
          <a:prstGeom prst="rect">
            <a:avLst/>
          </a:prstGeom>
          <a:noFill/>
        </p:spPr>
        <p:txBody>
          <a:bodyPr wrap="square" rtlCol="0">
            <a:spAutoFit/>
          </a:bodyPr>
          <a:lstStyle/>
          <a:p>
            <a:r>
              <a:rPr lang="en-US" b="1" dirty="0"/>
              <a:t>Cycloidal Gear Profile</a:t>
            </a:r>
          </a:p>
          <a:p>
            <a:pPr marL="285750" indent="-285750">
              <a:buFont typeface="Arial" panose="020B0604020202020204" pitchFamily="34" charset="0"/>
              <a:buChar char="•"/>
            </a:pPr>
            <a:r>
              <a:rPr lang="en-US" dirty="0"/>
              <a:t>Supposed to have constant contact (no design gap). Will be in preload</a:t>
            </a:r>
          </a:p>
          <a:p>
            <a:pPr marL="285750" indent="-285750">
              <a:buFont typeface="Arial" panose="020B0604020202020204" pitchFamily="34" charset="0"/>
              <a:buChar char="•"/>
            </a:pPr>
            <a:r>
              <a:rPr lang="en-US" dirty="0"/>
              <a:t>Multi-tooth contact – up to 50% of pins</a:t>
            </a:r>
          </a:p>
          <a:p>
            <a:pPr marL="285750" indent="-285750">
              <a:buFont typeface="Arial" panose="020B0604020202020204" pitchFamily="34" charset="0"/>
              <a:buChar char="•"/>
            </a:pPr>
            <a:r>
              <a:rPr lang="en-US" dirty="0"/>
              <a:t>When reversed the load transfers onto the pins already in contact</a:t>
            </a:r>
          </a:p>
        </p:txBody>
      </p:sp>
    </p:spTree>
    <p:extLst>
      <p:ext uri="{BB962C8B-B14F-4D97-AF65-F5344CB8AC3E}">
        <p14:creationId xmlns:p14="http://schemas.microsoft.com/office/powerpoint/2010/main" val="3493213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oard with writing on it&#10;&#10;AI-generated content may be incorrect.">
            <a:extLst>
              <a:ext uri="{FF2B5EF4-FFF2-40B4-BE49-F238E27FC236}">
                <a16:creationId xmlns:a16="http://schemas.microsoft.com/office/drawing/2014/main" id="{F04B310F-D341-B465-9881-789008C01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4072794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376503-B0BC-72D8-997F-E788B81E32D7}"/>
              </a:ext>
            </a:extLst>
          </p:cNvPr>
          <p:cNvPicPr>
            <a:picLocks noChangeAspect="1"/>
          </p:cNvPicPr>
          <p:nvPr/>
        </p:nvPicPr>
        <p:blipFill>
          <a:blip r:embed="rId2"/>
          <a:stretch>
            <a:fillRect/>
          </a:stretch>
        </p:blipFill>
        <p:spPr>
          <a:xfrm>
            <a:off x="1640501" y="963037"/>
            <a:ext cx="9151361" cy="5330730"/>
          </a:xfrm>
          <a:prstGeom prst="rect">
            <a:avLst/>
          </a:prstGeom>
        </p:spPr>
      </p:pic>
      <p:cxnSp>
        <p:nvCxnSpPr>
          <p:cNvPr id="6" name="Straight Arrow Connector 5">
            <a:extLst>
              <a:ext uri="{FF2B5EF4-FFF2-40B4-BE49-F238E27FC236}">
                <a16:creationId xmlns:a16="http://schemas.microsoft.com/office/drawing/2014/main" id="{81220958-8A86-CF26-CAA0-0F0E8EAE294A}"/>
              </a:ext>
            </a:extLst>
          </p:cNvPr>
          <p:cNvCxnSpPr/>
          <p:nvPr/>
        </p:nvCxnSpPr>
        <p:spPr>
          <a:xfrm>
            <a:off x="5787957" y="194553"/>
            <a:ext cx="0" cy="101167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C205749-2D4D-ED30-26E0-BC8E88F73EFF}"/>
              </a:ext>
            </a:extLst>
          </p:cNvPr>
          <p:cNvSpPr txBox="1"/>
          <p:nvPr/>
        </p:nvSpPr>
        <p:spPr>
          <a:xfrm>
            <a:off x="5907024" y="365760"/>
            <a:ext cx="1078992" cy="369332"/>
          </a:xfrm>
          <a:prstGeom prst="rect">
            <a:avLst/>
          </a:prstGeom>
          <a:noFill/>
        </p:spPr>
        <p:txBody>
          <a:bodyPr wrap="square" rtlCol="0">
            <a:spAutoFit/>
          </a:bodyPr>
          <a:lstStyle/>
          <a:p>
            <a:r>
              <a:rPr lang="en-US" dirty="0" err="1">
                <a:solidFill>
                  <a:srgbClr val="FF0000"/>
                </a:solidFill>
              </a:rPr>
              <a:t>Faxial</a:t>
            </a:r>
            <a:endParaRPr lang="en-US" dirty="0">
              <a:solidFill>
                <a:srgbClr val="FF0000"/>
              </a:solidFill>
            </a:endParaRPr>
          </a:p>
        </p:txBody>
      </p:sp>
      <p:sp>
        <p:nvSpPr>
          <p:cNvPr id="8" name="Freeform: Shape 7">
            <a:extLst>
              <a:ext uri="{FF2B5EF4-FFF2-40B4-BE49-F238E27FC236}">
                <a16:creationId xmlns:a16="http://schemas.microsoft.com/office/drawing/2014/main" id="{A1CD84C0-6AA4-76C5-7C0C-1CA3AD1AD075}"/>
              </a:ext>
            </a:extLst>
          </p:cNvPr>
          <p:cNvSpPr/>
          <p:nvPr/>
        </p:nvSpPr>
        <p:spPr>
          <a:xfrm>
            <a:off x="2622612" y="1490472"/>
            <a:ext cx="3247836" cy="3739896"/>
          </a:xfrm>
          <a:custGeom>
            <a:avLst/>
            <a:gdLst>
              <a:gd name="connsiteX0" fmla="*/ 3247836 w 3247836"/>
              <a:gd name="connsiteY0" fmla="*/ 0 h 3739896"/>
              <a:gd name="connsiteX1" fmla="*/ 1748220 w 3247836"/>
              <a:gd name="connsiteY1" fmla="*/ 64008 h 3739896"/>
              <a:gd name="connsiteX2" fmla="*/ 413196 w 3247836"/>
              <a:gd name="connsiteY2" fmla="*/ 347472 h 3739896"/>
              <a:gd name="connsiteX3" fmla="*/ 440628 w 3247836"/>
              <a:gd name="connsiteY3" fmla="*/ 1179576 h 3739896"/>
              <a:gd name="connsiteX4" fmla="*/ 440628 w 3247836"/>
              <a:gd name="connsiteY4" fmla="*/ 1764792 h 3739896"/>
              <a:gd name="connsiteX5" fmla="*/ 84012 w 3247836"/>
              <a:gd name="connsiteY5" fmla="*/ 3410712 h 3739896"/>
              <a:gd name="connsiteX6" fmla="*/ 10860 w 3247836"/>
              <a:gd name="connsiteY6" fmla="*/ 3739896 h 373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7836" h="3739896">
                <a:moveTo>
                  <a:pt x="3247836" y="0"/>
                </a:moveTo>
                <a:cubicBezTo>
                  <a:pt x="2734248" y="3048"/>
                  <a:pt x="2220660" y="6096"/>
                  <a:pt x="1748220" y="64008"/>
                </a:cubicBezTo>
                <a:cubicBezTo>
                  <a:pt x="1275780" y="121920"/>
                  <a:pt x="631128" y="161544"/>
                  <a:pt x="413196" y="347472"/>
                </a:cubicBezTo>
                <a:cubicBezTo>
                  <a:pt x="195264" y="533400"/>
                  <a:pt x="436056" y="943356"/>
                  <a:pt x="440628" y="1179576"/>
                </a:cubicBezTo>
                <a:cubicBezTo>
                  <a:pt x="445200" y="1415796"/>
                  <a:pt x="500064" y="1392936"/>
                  <a:pt x="440628" y="1764792"/>
                </a:cubicBezTo>
                <a:cubicBezTo>
                  <a:pt x="381192" y="2136648"/>
                  <a:pt x="155640" y="3081528"/>
                  <a:pt x="84012" y="3410712"/>
                </a:cubicBezTo>
                <a:cubicBezTo>
                  <a:pt x="12384" y="3739896"/>
                  <a:pt x="-18096" y="3598164"/>
                  <a:pt x="10860" y="3739896"/>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4A6FB560-D80B-4042-F0CE-7F1F408F48FF}"/>
              </a:ext>
            </a:extLst>
          </p:cNvPr>
          <p:cNvSpPr/>
          <p:nvPr/>
        </p:nvSpPr>
        <p:spPr>
          <a:xfrm>
            <a:off x="5843016" y="1472184"/>
            <a:ext cx="3419856" cy="3776472"/>
          </a:xfrm>
          <a:custGeom>
            <a:avLst/>
            <a:gdLst>
              <a:gd name="connsiteX0" fmla="*/ 0 w 3419856"/>
              <a:gd name="connsiteY0" fmla="*/ 0 h 3776472"/>
              <a:gd name="connsiteX1" fmla="*/ 2084832 w 3419856"/>
              <a:gd name="connsiteY1" fmla="*/ 100584 h 3776472"/>
              <a:gd name="connsiteX2" fmla="*/ 2944368 w 3419856"/>
              <a:gd name="connsiteY2" fmla="*/ 1033272 h 3776472"/>
              <a:gd name="connsiteX3" fmla="*/ 3419856 w 3419856"/>
              <a:gd name="connsiteY3" fmla="*/ 3776472 h 3776472"/>
            </a:gdLst>
            <a:ahLst/>
            <a:cxnLst>
              <a:cxn ang="0">
                <a:pos x="connsiteX0" y="connsiteY0"/>
              </a:cxn>
              <a:cxn ang="0">
                <a:pos x="connsiteX1" y="connsiteY1"/>
              </a:cxn>
              <a:cxn ang="0">
                <a:pos x="connsiteX2" y="connsiteY2"/>
              </a:cxn>
              <a:cxn ang="0">
                <a:pos x="connsiteX3" y="connsiteY3"/>
              </a:cxn>
            </a:cxnLst>
            <a:rect l="l" t="t" r="r" b="b"/>
            <a:pathLst>
              <a:path w="3419856" h="3776472">
                <a:moveTo>
                  <a:pt x="0" y="0"/>
                </a:moveTo>
                <a:lnTo>
                  <a:pt x="2084832" y="100584"/>
                </a:lnTo>
                <a:cubicBezTo>
                  <a:pt x="2575560" y="272796"/>
                  <a:pt x="2721864" y="420624"/>
                  <a:pt x="2944368" y="1033272"/>
                </a:cubicBezTo>
                <a:cubicBezTo>
                  <a:pt x="3166872" y="1645920"/>
                  <a:pt x="3348228" y="3299460"/>
                  <a:pt x="3419856" y="3776472"/>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ED9A7D99-DF0D-0362-F582-DD72C8700C65}"/>
              </a:ext>
            </a:extLst>
          </p:cNvPr>
          <p:cNvSpPr/>
          <p:nvPr/>
        </p:nvSpPr>
        <p:spPr>
          <a:xfrm>
            <a:off x="2622612" y="4818233"/>
            <a:ext cx="192024" cy="91440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7D901A1E-15C0-F8D0-F514-1BBEA8AA423B}"/>
              </a:ext>
            </a:extLst>
          </p:cNvPr>
          <p:cNvSpPr/>
          <p:nvPr/>
        </p:nvSpPr>
        <p:spPr>
          <a:xfrm>
            <a:off x="9166860" y="4773168"/>
            <a:ext cx="192024" cy="91440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0249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22333</TotalTime>
  <Words>5246</Words>
  <Application>Microsoft Office PowerPoint</Application>
  <PresentationFormat>Widescreen</PresentationFormat>
  <Paragraphs>516</Paragraphs>
  <Slides>25</Slides>
  <Notes>20</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Aptos Narrow</vt:lpstr>
      <vt:lpstr>Arial</vt:lpstr>
      <vt:lpstr>Google Sans</vt:lpstr>
      <vt:lpstr>Office Theme</vt:lpstr>
      <vt:lpstr>Technical Presentation – Paintball Turret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Tesla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Harrison Lanfrank [I]</dc:creator>
  <cp:lastModifiedBy>Harrison Lanfrank</cp:lastModifiedBy>
  <cp:revision>16</cp:revision>
  <dcterms:created xsi:type="dcterms:W3CDTF">2025-07-30T07:57:10Z</dcterms:created>
  <dcterms:modified xsi:type="dcterms:W3CDTF">2026-04-10T01:02:29Z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2d06e56-1756-4005-87f1-1edc72dd4bdf_Enabled">
    <vt:lpwstr>true</vt:lpwstr>
  </property>
  <property fmtid="{D5CDD505-2E9C-101B-9397-08002B2CF9AE}" pid="3" name="MSIP_Label_52d06e56-1756-4005-87f1-1edc72dd4bdf_SetDate">
    <vt:lpwstr>2025-08-03T07:17:22Z</vt:lpwstr>
  </property>
  <property fmtid="{D5CDD505-2E9C-101B-9397-08002B2CF9AE}" pid="4" name="MSIP_Label_52d06e56-1756-4005-87f1-1edc72dd4bdf_Method">
    <vt:lpwstr>Standard</vt:lpwstr>
  </property>
  <property fmtid="{D5CDD505-2E9C-101B-9397-08002B2CF9AE}" pid="5" name="MSIP_Label_52d06e56-1756-4005-87f1-1edc72dd4bdf_Name">
    <vt:lpwstr>General</vt:lpwstr>
  </property>
  <property fmtid="{D5CDD505-2E9C-101B-9397-08002B2CF9AE}" pid="6" name="MSIP_Label_52d06e56-1756-4005-87f1-1edc72dd4bdf_SiteId">
    <vt:lpwstr>9026c5f4-86d0-4b9f-bd39-b7d4d0fb4674</vt:lpwstr>
  </property>
  <property fmtid="{D5CDD505-2E9C-101B-9397-08002B2CF9AE}" pid="7" name="MSIP_Label_52d06e56-1756-4005-87f1-1edc72dd4bdf_ActionId">
    <vt:lpwstr>f6c9b0e4-f6cd-484c-8e11-19e6f96df38e</vt:lpwstr>
  </property>
  <property fmtid="{D5CDD505-2E9C-101B-9397-08002B2CF9AE}" pid="8" name="MSIP_Label_52d06e56-1756-4005-87f1-1edc72dd4bdf_ContentBits">
    <vt:lpwstr>0</vt:lpwstr>
  </property>
  <property fmtid="{D5CDD505-2E9C-101B-9397-08002B2CF9AE}" pid="9" name="MSIP_Label_52d06e56-1756-4005-87f1-1edc72dd4bdf_Tag">
    <vt:lpwstr>10, 3, 0, 1</vt:lpwstr>
  </property>
</Properties>
</file>